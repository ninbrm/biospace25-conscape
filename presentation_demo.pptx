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320" r:id="rId3"/>
    <p:sldId id="305" r:id="rId4"/>
    <p:sldId id="302" r:id="rId5"/>
    <p:sldId id="308" r:id="rId6"/>
    <p:sldId id="309" r:id="rId7"/>
    <p:sldId id="310" r:id="rId8"/>
    <p:sldId id="362" r:id="rId9"/>
    <p:sldId id="366" r:id="rId10"/>
    <p:sldId id="363" r:id="rId11"/>
    <p:sldId id="319" r:id="rId12"/>
    <p:sldId id="258" r:id="rId13"/>
    <p:sldId id="260" r:id="rId14"/>
    <p:sldId id="311" r:id="rId15"/>
    <p:sldId id="312" r:id="rId16"/>
    <p:sldId id="313" r:id="rId17"/>
    <p:sldId id="314" r:id="rId18"/>
    <p:sldId id="325" r:id="rId19"/>
    <p:sldId id="328" r:id="rId20"/>
    <p:sldId id="327" r:id="rId21"/>
    <p:sldId id="321" r:id="rId22"/>
    <p:sldId id="266" r:id="rId23"/>
    <p:sldId id="329" r:id="rId24"/>
    <p:sldId id="268" r:id="rId25"/>
    <p:sldId id="269" r:id="rId26"/>
    <p:sldId id="322" r:id="rId27"/>
    <p:sldId id="323" r:id="rId28"/>
    <p:sldId id="270" r:id="rId29"/>
    <p:sldId id="271" r:id="rId30"/>
    <p:sldId id="324" r:id="rId31"/>
    <p:sldId id="272" r:id="rId32"/>
    <p:sldId id="330" r:id="rId33"/>
    <p:sldId id="273" r:id="rId34"/>
    <p:sldId id="335" r:id="rId35"/>
    <p:sldId id="337" r:id="rId36"/>
    <p:sldId id="338" r:id="rId37"/>
    <p:sldId id="339" r:id="rId38"/>
    <p:sldId id="340" r:id="rId39"/>
    <p:sldId id="331" r:id="rId40"/>
    <p:sldId id="341" r:id="rId41"/>
    <p:sldId id="342" r:id="rId42"/>
    <p:sldId id="343" r:id="rId43"/>
    <p:sldId id="279" r:id="rId44"/>
    <p:sldId id="344" r:id="rId45"/>
    <p:sldId id="280" r:id="rId46"/>
    <p:sldId id="345" r:id="rId47"/>
    <p:sldId id="346" r:id="rId48"/>
    <p:sldId id="347" r:id="rId49"/>
    <p:sldId id="348" r:id="rId50"/>
    <p:sldId id="332" r:id="rId51"/>
    <p:sldId id="349" r:id="rId52"/>
    <p:sldId id="352" r:id="rId53"/>
    <p:sldId id="350" r:id="rId54"/>
    <p:sldId id="333" r:id="rId55"/>
    <p:sldId id="353" r:id="rId56"/>
    <p:sldId id="334" r:id="rId57"/>
    <p:sldId id="365" r:id="rId58"/>
    <p:sldId id="357" r:id="rId59"/>
    <p:sldId id="358" r:id="rId60"/>
    <p:sldId id="359" r:id="rId61"/>
    <p:sldId id="360" r:id="rId62"/>
    <p:sldId id="361" r:id="rId63"/>
    <p:sldId id="295" r:id="rId64"/>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43" autoAdjust="0"/>
    <p:restoredTop sz="94694" autoAdjust="0"/>
  </p:normalViewPr>
  <p:slideViewPr>
    <p:cSldViewPr snapToGrid="0" snapToObjects="1">
      <p:cViewPr varScale="1">
        <p:scale>
          <a:sx n="94" d="100"/>
          <a:sy n="94" d="100"/>
        </p:scale>
        <p:origin x="480" y="60"/>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2/11/2025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2/11/2025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2/11/2025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241EB5C9-1307-BA42-ABA2-0BC069CD8E7F}" type="datetimeFigureOut">
              <a:rPr lang="en-US" smtClean="0"/>
              <a:t>2/11/2025</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342900" indent="-342900" algn="l" defTabSz="342900" rtl="0" eaLnBrk="1" latinLnBrk="0" hangingPunct="1">
        <a:spcBef>
          <a:spcPct val="20000"/>
        </a:spcBef>
        <a:buFont typeface="Arial"/>
        <a:buChar char="•"/>
        <a:defRPr sz="2400" kern="1200">
          <a:solidFill>
            <a:schemeClr val="tx1"/>
          </a:solidFill>
          <a:latin typeface="+mn-lt"/>
          <a:ea typeface="+mn-ea"/>
          <a:cs typeface="+mn-cs"/>
        </a:defRPr>
      </a:lvl1pPr>
      <a:lvl2pPr marL="685800" indent="-342900" algn="l" defTabSz="342900" rtl="0" eaLnBrk="1" latinLnBrk="0" hangingPunct="1">
        <a:spcBef>
          <a:spcPct val="20000"/>
        </a:spcBef>
        <a:buFont typeface="Arial"/>
        <a:buChar char="–"/>
        <a:defRPr sz="2100" kern="1200">
          <a:solidFill>
            <a:schemeClr val="tx1"/>
          </a:solidFill>
          <a:latin typeface="+mn-lt"/>
          <a:ea typeface="+mn-ea"/>
          <a:cs typeface="+mn-cs"/>
        </a:defRPr>
      </a:lvl2pPr>
      <a:lvl3pPr marL="1028700" indent="-34290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371600" indent="-34290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714500" indent="-342900" algn="l" defTabSz="342900" rtl="0" eaLnBrk="1" latinLnBrk="0" hangingPunct="1">
        <a:spcBef>
          <a:spcPct val="20000"/>
        </a:spcBef>
        <a:buFont typeface="Arial"/>
        <a:buChar char="»"/>
        <a:defRPr sz="1500" kern="1200">
          <a:solidFill>
            <a:schemeClr val="tx1"/>
          </a:solidFill>
          <a:latin typeface="+mn-lt"/>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9.jpeg"/><Relationship Id="rId13" Type="http://schemas.openxmlformats.org/officeDocument/2006/relationships/image" Target="../media/image13.jpeg"/><Relationship Id="rId3" Type="http://schemas.openxmlformats.org/officeDocument/2006/relationships/image" Target="../media/image4.jpeg"/><Relationship Id="rId7" Type="http://schemas.openxmlformats.org/officeDocument/2006/relationships/image" Target="../media/image8.jpeg"/><Relationship Id="rId12" Type="http://schemas.openxmlformats.org/officeDocument/2006/relationships/image" Target="../media/image12.jpe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11.jpeg"/><Relationship Id="rId5" Type="http://schemas.openxmlformats.org/officeDocument/2006/relationships/image" Target="../media/image6.jpeg"/><Relationship Id="rId15" Type="http://schemas.openxmlformats.org/officeDocument/2006/relationships/image" Target="../media/image15.png"/><Relationship Id="rId10" Type="http://schemas.microsoft.com/office/2007/relationships/hdphoto" Target="../media/hdphoto1.wdp"/><Relationship Id="rId4" Type="http://schemas.openxmlformats.org/officeDocument/2006/relationships/image" Target="../media/image5.jpeg"/><Relationship Id="rId9" Type="http://schemas.openxmlformats.org/officeDocument/2006/relationships/image" Target="../media/image10.png"/><Relationship Id="rId14" Type="http://schemas.openxmlformats.org/officeDocument/2006/relationships/image" Target="../media/image14.png"/></Relationships>
</file>

<file path=ppt/slides/_rels/slide4.xml.rels><?xml version="1.0" encoding="UTF-8" standalone="yes"?>
<Relationships xmlns="http://schemas.openxmlformats.org/package/2006/relationships"><Relationship Id="rId8" Type="http://schemas.openxmlformats.org/officeDocument/2006/relationships/image" Target="../media/image9.jpeg"/><Relationship Id="rId13" Type="http://schemas.openxmlformats.org/officeDocument/2006/relationships/image" Target="../media/image13.jpeg"/><Relationship Id="rId3" Type="http://schemas.openxmlformats.org/officeDocument/2006/relationships/image" Target="../media/image4.jpeg"/><Relationship Id="rId7" Type="http://schemas.openxmlformats.org/officeDocument/2006/relationships/image" Target="../media/image8.jpeg"/><Relationship Id="rId12" Type="http://schemas.openxmlformats.org/officeDocument/2006/relationships/image" Target="../media/image12.jpe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11.jpeg"/><Relationship Id="rId5" Type="http://schemas.openxmlformats.org/officeDocument/2006/relationships/image" Target="../media/image6.jpeg"/><Relationship Id="rId10" Type="http://schemas.microsoft.com/office/2007/relationships/hdphoto" Target="../media/hdphoto1.wdp"/><Relationship Id="rId4" Type="http://schemas.openxmlformats.org/officeDocument/2006/relationships/image" Target="../media/image5.jpeg"/><Relationship Id="rId9"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jpeg"/><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7.png"/><Relationship Id="rId7" Type="http://schemas.openxmlformats.org/officeDocument/2006/relationships/image" Target="../media/image22.png"/><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19.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8.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microsoft.com/office/2007/relationships/hdphoto" Target="../media/hdphoto2.wdp"/></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8" Type="http://schemas.openxmlformats.org/officeDocument/2006/relationships/image" Target="../media/image36.gif"/><Relationship Id="rId3" Type="http://schemas.openxmlformats.org/officeDocument/2006/relationships/image" Target="../media/image32.gif"/><Relationship Id="rId7" Type="http://schemas.microsoft.com/office/2007/relationships/hdphoto" Target="../media/hdphoto3.wdp"/><Relationship Id="rId2"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png"/><Relationship Id="rId10" Type="http://schemas.openxmlformats.org/officeDocument/2006/relationships/image" Target="../media/image38.gif"/><Relationship Id="rId4" Type="http://schemas.openxmlformats.org/officeDocument/2006/relationships/image" Target="../media/image33.png"/><Relationship Id="rId9" Type="http://schemas.openxmlformats.org/officeDocument/2006/relationships/image" Target="../media/image37.png"/></Relationships>
</file>

<file path=ppt/slides/_rels/slide15.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40.png"/><Relationship Id="rId7" Type="http://schemas.openxmlformats.org/officeDocument/2006/relationships/image" Target="../media/image42.png"/><Relationship Id="rId2" Type="http://schemas.openxmlformats.org/officeDocument/2006/relationships/image" Target="../media/image39.png"/><Relationship Id="rId1" Type="http://schemas.openxmlformats.org/officeDocument/2006/relationships/slideLayout" Target="../slideLayouts/slideLayout7.xml"/><Relationship Id="rId6" Type="http://schemas.openxmlformats.org/officeDocument/2006/relationships/image" Target="../media/image41.png"/><Relationship Id="rId5" Type="http://schemas.openxmlformats.org/officeDocument/2006/relationships/image" Target="../media/image38.gif"/><Relationship Id="rId4" Type="http://schemas.openxmlformats.org/officeDocument/2006/relationships/image" Target="../media/image36.gif"/><Relationship Id="rId9" Type="http://schemas.openxmlformats.org/officeDocument/2006/relationships/image" Target="../media/image44.gif"/></Relationships>
</file>

<file path=ppt/slides/_rels/slide1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2.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24339"/>
            <a:ext cx="7772400" cy="1102519"/>
          </a:xfrm>
        </p:spPr>
        <p:txBody>
          <a:bodyPr/>
          <a:lstStyle/>
          <a:p>
            <a:pPr marL="0" lvl="0" indent="0">
              <a:buNone/>
            </a:pPr>
            <a:r>
              <a:rPr dirty="0"/>
              <a:t>Landscape Connectivity Modelling </a:t>
            </a:r>
            <a:br>
              <a:rPr lang="nb-NO" dirty="0"/>
            </a:br>
            <a:r>
              <a:rPr dirty="0"/>
              <a:t>with </a:t>
            </a:r>
            <a:r>
              <a:rPr dirty="0" err="1"/>
              <a:t>ConScape</a:t>
            </a:r>
            <a:endParaRPr dirty="0"/>
          </a:p>
        </p:txBody>
      </p:sp>
      <p:sp>
        <p:nvSpPr>
          <p:cNvPr id="3" name="Subtitle 2"/>
          <p:cNvSpPr>
            <a:spLocks noGrp="1"/>
          </p:cNvSpPr>
          <p:nvPr>
            <p:ph type="subTitle" idx="1"/>
          </p:nvPr>
        </p:nvSpPr>
        <p:spPr>
          <a:xfrm>
            <a:off x="1371600" y="3469821"/>
            <a:ext cx="6400800" cy="906236"/>
          </a:xfrm>
        </p:spPr>
        <p:txBody>
          <a:bodyPr>
            <a:normAutofit/>
          </a:bodyPr>
          <a:lstStyle/>
          <a:p>
            <a:pPr marL="0" lvl="0" indent="0">
              <a:buNone/>
            </a:pPr>
            <a:r>
              <a:rPr dirty="0"/>
              <a:t>Bram Van Moorter</a:t>
            </a:r>
            <a:br>
              <a:rPr dirty="0"/>
            </a:br>
            <a:r>
              <a:rPr dirty="0"/>
              <a:t>Raf Schouten</a:t>
            </a:r>
          </a:p>
        </p:txBody>
      </p:sp>
      <p:pic>
        <p:nvPicPr>
          <p:cNvPr id="5" name="Picture 4" descr="A triangle with a circle and a circle in the middle&#10;&#10;Description automatically generated">
            <a:extLst>
              <a:ext uri="{FF2B5EF4-FFF2-40B4-BE49-F238E27FC236}">
                <a16:creationId xmlns:a16="http://schemas.microsoft.com/office/drawing/2014/main" id="{8B774245-BC4F-817F-8F53-085D6B54B97F}"/>
              </a:ext>
            </a:extLst>
          </p:cNvPr>
          <p:cNvPicPr>
            <a:picLocks noChangeAspect="1"/>
          </p:cNvPicPr>
          <p:nvPr/>
        </p:nvPicPr>
        <p:blipFill>
          <a:blip r:embed="rId2"/>
          <a:stretch>
            <a:fillRect/>
          </a:stretch>
        </p:blipFill>
        <p:spPr>
          <a:xfrm>
            <a:off x="6860834" y="3698280"/>
            <a:ext cx="2100838" cy="1296165"/>
          </a:xfrm>
          <a:prstGeom prst="rect">
            <a:avLst/>
          </a:prstGeom>
        </p:spPr>
      </p:pic>
      <p:pic>
        <p:nvPicPr>
          <p:cNvPr id="6" name="Picture 5" descr="figs/stickerConScape.png">
            <a:extLst>
              <a:ext uri="{FF2B5EF4-FFF2-40B4-BE49-F238E27FC236}">
                <a16:creationId xmlns:a16="http://schemas.microsoft.com/office/drawing/2014/main" id="{3C6B667F-7D77-0274-54DC-B4BEA1034F56}"/>
              </a:ext>
            </a:extLst>
          </p:cNvPr>
          <p:cNvPicPr>
            <a:picLocks noGrp="1" noChangeAspect="1"/>
          </p:cNvPicPr>
          <p:nvPr/>
        </p:nvPicPr>
        <p:blipFill>
          <a:blip r:embed="rId3"/>
          <a:stretch>
            <a:fillRect/>
          </a:stretch>
        </p:blipFill>
        <p:spPr bwMode="auto">
          <a:xfrm>
            <a:off x="59267" y="12709"/>
            <a:ext cx="1418469" cy="1639529"/>
          </a:xfrm>
          <a:prstGeom prst="rect">
            <a:avLst/>
          </a:prstGeom>
          <a:noFill/>
          <a:ln w="9525">
            <a:noFill/>
            <a:headEnd/>
            <a:tailEnd/>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CB22B-8E4A-7A35-883F-471D8B5D61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FA9330-222B-AA56-49B2-81E38A94E24B}"/>
              </a:ext>
            </a:extLst>
          </p:cNvPr>
          <p:cNvSpPr>
            <a:spLocks noGrp="1"/>
          </p:cNvSpPr>
          <p:nvPr>
            <p:ph type="title"/>
          </p:nvPr>
        </p:nvSpPr>
        <p:spPr>
          <a:xfrm>
            <a:off x="457200" y="1963351"/>
            <a:ext cx="8229600" cy="857250"/>
          </a:xfrm>
        </p:spPr>
        <p:txBody>
          <a:bodyPr/>
          <a:lstStyle/>
          <a:p>
            <a:r>
              <a:rPr lang="nb-NO" dirty="0" err="1"/>
              <a:t>Motivation</a:t>
            </a:r>
            <a:r>
              <a:rPr lang="nb-NO" dirty="0"/>
              <a:t> &amp; </a:t>
            </a:r>
            <a:r>
              <a:rPr lang="nb-NO" dirty="0" err="1"/>
              <a:t>Origin</a:t>
            </a:r>
            <a:endParaRPr lang="nb-NO" dirty="0"/>
          </a:p>
        </p:txBody>
      </p:sp>
    </p:spTree>
    <p:extLst>
      <p:ext uri="{BB962C8B-B14F-4D97-AF65-F5344CB8AC3E}">
        <p14:creationId xmlns:p14="http://schemas.microsoft.com/office/powerpoint/2010/main" val="18927867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40EE81-0D45-4904-CEAE-F8D3E8DA95D2}"/>
            </a:ext>
          </a:extLst>
        </p:cNvPr>
        <p:cNvGrpSpPr/>
        <p:nvPr/>
      </p:nvGrpSpPr>
      <p:grpSpPr>
        <a:xfrm>
          <a:off x="0" y="0"/>
          <a:ext cx="0" cy="0"/>
          <a:chOff x="0" y="0"/>
          <a:chExt cx="0" cy="0"/>
        </a:xfrm>
      </p:grpSpPr>
      <p:sp>
        <p:nvSpPr>
          <p:cNvPr id="25" name="Rectangle 24">
            <a:extLst>
              <a:ext uri="{FF2B5EF4-FFF2-40B4-BE49-F238E27FC236}">
                <a16:creationId xmlns:a16="http://schemas.microsoft.com/office/drawing/2014/main" id="{EAAFB195-6228-08B7-44BD-3C253E92FE85}"/>
              </a:ext>
            </a:extLst>
          </p:cNvPr>
          <p:cNvSpPr/>
          <p:nvPr/>
        </p:nvSpPr>
        <p:spPr>
          <a:xfrm>
            <a:off x="0" y="-4934"/>
            <a:ext cx="9132424" cy="513916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2" name="Rectangle 1">
            <a:extLst>
              <a:ext uri="{FF2B5EF4-FFF2-40B4-BE49-F238E27FC236}">
                <a16:creationId xmlns:a16="http://schemas.microsoft.com/office/drawing/2014/main" id="{28AB97BA-C8C3-7A14-06F5-59AD91DF7009}"/>
              </a:ext>
            </a:extLst>
          </p:cNvPr>
          <p:cNvSpPr/>
          <p:nvPr/>
        </p:nvSpPr>
        <p:spPr>
          <a:xfrm>
            <a:off x="2808406" y="1261257"/>
            <a:ext cx="3539495" cy="692497"/>
          </a:xfrm>
          <a:prstGeom prst="rect">
            <a:avLst/>
          </a:prstGeom>
        </p:spPr>
        <p:txBody>
          <a:bodyPr wrap="none">
            <a:spAutoFit/>
          </a:bodyPr>
          <a:lstStyle/>
          <a:p>
            <a:pPr algn="ctr" defTabSz="685800">
              <a:defRPr/>
            </a:pPr>
            <a:r>
              <a:rPr lang="en-GB" sz="2400" dirty="0">
                <a:latin typeface="Calibri" panose="020F0502020204030204"/>
              </a:rPr>
              <a:t>Each source of disturbance</a:t>
            </a:r>
          </a:p>
          <a:p>
            <a:pPr algn="ctr" defTabSz="685800">
              <a:defRPr/>
            </a:pPr>
            <a:r>
              <a:rPr lang="en-GB" sz="1500" i="1" dirty="0">
                <a:latin typeface="Calibri Light" panose="020F0302020204030204"/>
              </a:rPr>
              <a:t>Based on its type, amount and location</a:t>
            </a:r>
          </a:p>
        </p:txBody>
      </p:sp>
      <p:grpSp>
        <p:nvGrpSpPr>
          <p:cNvPr id="3" name="Group 2">
            <a:extLst>
              <a:ext uri="{FF2B5EF4-FFF2-40B4-BE49-F238E27FC236}">
                <a16:creationId xmlns:a16="http://schemas.microsoft.com/office/drawing/2014/main" id="{FDD17402-6A29-9169-8A30-87E12E026C30}"/>
              </a:ext>
            </a:extLst>
          </p:cNvPr>
          <p:cNvGrpSpPr/>
          <p:nvPr/>
        </p:nvGrpSpPr>
        <p:grpSpPr>
          <a:xfrm>
            <a:off x="617742" y="1599392"/>
            <a:ext cx="3212425" cy="1518092"/>
            <a:chOff x="862514" y="314746"/>
            <a:chExt cx="4283233" cy="2024122"/>
          </a:xfrm>
        </p:grpSpPr>
        <p:sp>
          <p:nvSpPr>
            <p:cNvPr id="4" name="Rectangle 3">
              <a:extLst>
                <a:ext uri="{FF2B5EF4-FFF2-40B4-BE49-F238E27FC236}">
                  <a16:creationId xmlns:a16="http://schemas.microsoft.com/office/drawing/2014/main" id="{1447B7E6-8C7F-91DD-22D0-C68FB6E76DB4}"/>
                </a:ext>
              </a:extLst>
            </p:cNvPr>
            <p:cNvSpPr/>
            <p:nvPr/>
          </p:nvSpPr>
          <p:spPr>
            <a:xfrm>
              <a:off x="862514" y="801145"/>
              <a:ext cx="4283233" cy="492443"/>
            </a:xfrm>
            <a:prstGeom prst="rect">
              <a:avLst/>
            </a:prstGeom>
            <a:effectLst>
              <a:outerShdw blurRad="50800" dist="38100" dir="2700000" algn="tl" rotWithShape="0">
                <a:schemeClr val="bg1">
                  <a:alpha val="40000"/>
                </a:schemeClr>
              </a:outerShdw>
            </a:effectLst>
          </p:spPr>
          <p:txBody>
            <a:bodyPr wrap="square">
              <a:spAutoFit/>
            </a:bodyPr>
            <a:lstStyle/>
            <a:p>
              <a:pPr algn="ctr" defTabSz="685800">
                <a:defRPr/>
              </a:pPr>
              <a:r>
                <a:rPr lang="en-US" sz="1350" dirty="0">
                  <a:effectLst>
                    <a:outerShdw blurRad="50800" dist="38100" dir="2700000" algn="tl" rotWithShape="0">
                      <a:prstClr val="white"/>
                    </a:outerShdw>
                  </a:effectLst>
                  <a:latin typeface="Calibri Light" panose="020F0302020204030204"/>
                </a:rPr>
                <a:t> </a:t>
              </a:r>
              <a:r>
                <a:rPr lang="en-US" b="1" dirty="0">
                  <a:latin typeface="Calibri Light" panose="020F0302020204030204"/>
                </a:rPr>
                <a:t>HABITAT LOSS/DEGRADATION</a:t>
              </a:r>
              <a:endParaRPr lang="en-US" sz="1350" b="1" dirty="0">
                <a:latin typeface="Calibri Light" panose="020F0302020204030204"/>
              </a:endParaRPr>
            </a:p>
          </p:txBody>
        </p:sp>
        <p:pic>
          <p:nvPicPr>
            <p:cNvPr id="5" name="Picture 4">
              <a:extLst>
                <a:ext uri="{FF2B5EF4-FFF2-40B4-BE49-F238E27FC236}">
                  <a16:creationId xmlns:a16="http://schemas.microsoft.com/office/drawing/2014/main" id="{D13F5E4C-3A24-6761-F89E-32D9F6A6F7BB}"/>
                </a:ext>
              </a:extLst>
            </p:cNvPr>
            <p:cNvPicPr>
              <a:picLocks noChangeAspect="1"/>
            </p:cNvPicPr>
            <p:nvPr/>
          </p:nvPicPr>
          <p:blipFill rotWithShape="1">
            <a:blip r:embed="rId2" cstate="hqprint">
              <a:extLst>
                <a:ext uri="{28A0092B-C50C-407E-A947-70E740481C1C}">
                  <a14:useLocalDpi xmlns:a14="http://schemas.microsoft.com/office/drawing/2010/main"/>
                </a:ext>
              </a:extLst>
            </a:blip>
            <a:srcRect r="7576" b="-4900"/>
            <a:stretch/>
          </p:blipFill>
          <p:spPr>
            <a:xfrm>
              <a:off x="2754066" y="314746"/>
              <a:ext cx="753814" cy="539005"/>
            </a:xfrm>
            <a:prstGeom prst="rect">
              <a:avLst/>
            </a:prstGeom>
          </p:spPr>
        </p:pic>
        <p:pic>
          <p:nvPicPr>
            <p:cNvPr id="6" name="Picture 4" descr="Related image">
              <a:extLst>
                <a:ext uri="{FF2B5EF4-FFF2-40B4-BE49-F238E27FC236}">
                  <a16:creationId xmlns:a16="http://schemas.microsoft.com/office/drawing/2014/main" id="{5EC7A2B3-3276-86C2-78EF-3AB96D5878AB}"/>
                </a:ext>
              </a:extLst>
            </p:cNvPr>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2936962" y="1329822"/>
              <a:ext cx="1782212" cy="100622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A lone hardwood “legacy tree” on private land in Halifax County stands amid the total destruction of mixed-species Acadian forest that used to surround it. - ECOLOGY ACTION CENTRE">
              <a:extLst>
                <a:ext uri="{FF2B5EF4-FFF2-40B4-BE49-F238E27FC236}">
                  <a16:creationId xmlns:a16="http://schemas.microsoft.com/office/drawing/2014/main" id="{A9A88CCE-9788-3292-6A27-AB50CC74A1DF}"/>
                </a:ext>
              </a:extLst>
            </p:cNvPr>
            <p:cNvPicPr>
              <a:picLocks noChangeAspect="1" noChangeArrowheads="1"/>
            </p:cNvPicPr>
            <p:nvPr/>
          </p:nvPicPr>
          <p:blipFill rotWithShape="1">
            <a:blip r:embed="rId4" cstate="hqprint">
              <a:extLst>
                <a:ext uri="{28A0092B-C50C-407E-A947-70E740481C1C}">
                  <a14:useLocalDpi xmlns:a14="http://schemas.microsoft.com/office/drawing/2010/main"/>
                </a:ext>
              </a:extLst>
            </a:blip>
            <a:srcRect/>
            <a:stretch/>
          </p:blipFill>
          <p:spPr bwMode="auto">
            <a:xfrm>
              <a:off x="1241528" y="1332648"/>
              <a:ext cx="1684848" cy="100622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 name="Group 9">
            <a:extLst>
              <a:ext uri="{FF2B5EF4-FFF2-40B4-BE49-F238E27FC236}">
                <a16:creationId xmlns:a16="http://schemas.microsoft.com/office/drawing/2014/main" id="{7B4D5F09-ACF2-545E-6ED1-ADF69AA49CF8}"/>
              </a:ext>
            </a:extLst>
          </p:cNvPr>
          <p:cNvGrpSpPr/>
          <p:nvPr/>
        </p:nvGrpSpPr>
        <p:grpSpPr>
          <a:xfrm>
            <a:off x="5563417" y="1597346"/>
            <a:ext cx="2676279" cy="1527143"/>
            <a:chOff x="7456748" y="312018"/>
            <a:chExt cx="3568372" cy="2036190"/>
          </a:xfrm>
        </p:grpSpPr>
        <p:pic>
          <p:nvPicPr>
            <p:cNvPr id="11" name="Picture 4" descr="Image result for road traffic winter&quot;">
              <a:extLst>
                <a:ext uri="{FF2B5EF4-FFF2-40B4-BE49-F238E27FC236}">
                  <a16:creationId xmlns:a16="http://schemas.microsoft.com/office/drawing/2014/main" id="{4F9B7FCA-1B68-7BDD-DE5F-83B6AC70EA8D}"/>
                </a:ext>
              </a:extLst>
            </p:cNvPr>
            <p:cNvPicPr>
              <a:picLocks noChangeAspect="1" noChangeArrowheads="1"/>
            </p:cNvPicPr>
            <p:nvPr/>
          </p:nvPicPr>
          <p:blipFill>
            <a:blip r:embed="rId5" cstate="print">
              <a:extLst>
                <a:ext uri="{28A0092B-C50C-407E-A947-70E740481C1C}">
                  <a14:useLocalDpi xmlns:a14="http://schemas.microsoft.com/office/drawing/2010/main"/>
                </a:ext>
              </a:extLst>
            </a:blip>
            <a:srcRect/>
            <a:stretch>
              <a:fillRect/>
            </a:stretch>
          </p:blipFill>
          <p:spPr bwMode="auto">
            <a:xfrm>
              <a:off x="7456748" y="1353379"/>
              <a:ext cx="1806783" cy="994829"/>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a:extLst>
                <a:ext uri="{FF2B5EF4-FFF2-40B4-BE49-F238E27FC236}">
                  <a16:creationId xmlns:a16="http://schemas.microsoft.com/office/drawing/2014/main" id="{A3338721-FF8B-232C-B786-8064B2BDA4A2}"/>
                </a:ext>
              </a:extLst>
            </p:cNvPr>
            <p:cNvSpPr/>
            <p:nvPr/>
          </p:nvSpPr>
          <p:spPr>
            <a:xfrm>
              <a:off x="7521436" y="819971"/>
              <a:ext cx="3452911" cy="492443"/>
            </a:xfrm>
            <a:prstGeom prst="rect">
              <a:avLst/>
            </a:prstGeom>
          </p:spPr>
          <p:txBody>
            <a:bodyPr wrap="none">
              <a:spAutoFit/>
            </a:bodyPr>
            <a:lstStyle/>
            <a:p>
              <a:pPr algn="ctr" defTabSz="685800">
                <a:defRPr/>
              </a:pPr>
              <a:r>
                <a:rPr lang="en-US" b="1" dirty="0">
                  <a:latin typeface="Calibri Light" panose="020F0302020204030204"/>
                </a:rPr>
                <a:t>HABITAT FRAGMENTATION</a:t>
              </a:r>
            </a:p>
          </p:txBody>
        </p:sp>
        <p:pic>
          <p:nvPicPr>
            <p:cNvPr id="13" name="Picture 12">
              <a:extLst>
                <a:ext uri="{FF2B5EF4-FFF2-40B4-BE49-F238E27FC236}">
                  <a16:creationId xmlns:a16="http://schemas.microsoft.com/office/drawing/2014/main" id="{3162B49D-1E08-7FCE-4309-3235857E6590}"/>
                </a:ext>
              </a:extLst>
            </p:cNvPr>
            <p:cNvPicPr>
              <a:picLocks noChangeAspect="1"/>
            </p:cNvPicPr>
            <p:nvPr/>
          </p:nvPicPr>
          <p:blipFill rotWithShape="1">
            <a:blip r:embed="rId6" cstate="hqprint">
              <a:extLst>
                <a:ext uri="{28A0092B-C50C-407E-A947-70E740481C1C}">
                  <a14:useLocalDpi xmlns:a14="http://schemas.microsoft.com/office/drawing/2010/main"/>
                </a:ext>
              </a:extLst>
            </a:blip>
            <a:srcRect l="9815" t="-2545" b="1728"/>
            <a:stretch/>
          </p:blipFill>
          <p:spPr>
            <a:xfrm>
              <a:off x="8726595" y="312018"/>
              <a:ext cx="740678" cy="529919"/>
            </a:xfrm>
            <a:prstGeom prst="rect">
              <a:avLst/>
            </a:prstGeom>
          </p:spPr>
        </p:pic>
        <p:pic>
          <p:nvPicPr>
            <p:cNvPr id="14" name="Picture 6" descr="Related image">
              <a:extLst>
                <a:ext uri="{FF2B5EF4-FFF2-40B4-BE49-F238E27FC236}">
                  <a16:creationId xmlns:a16="http://schemas.microsoft.com/office/drawing/2014/main" id="{0898452F-9131-6C60-55DC-0CD716ECC8A6}"/>
                </a:ext>
              </a:extLst>
            </p:cNvPr>
            <p:cNvPicPr>
              <a:picLocks noChangeAspect="1" noChangeArrowheads="1"/>
            </p:cNvPicPr>
            <p:nvPr/>
          </p:nvPicPr>
          <p:blipFill rotWithShape="1">
            <a:blip r:embed="rId7" cstate="hqprint">
              <a:extLst>
                <a:ext uri="{28A0092B-C50C-407E-A947-70E740481C1C}">
                  <a14:useLocalDpi xmlns:a14="http://schemas.microsoft.com/office/drawing/2010/main"/>
                </a:ext>
              </a:extLst>
            </a:blip>
            <a:srcRect/>
            <a:stretch/>
          </p:blipFill>
          <p:spPr bwMode="auto">
            <a:xfrm>
              <a:off x="9263666" y="1357638"/>
              <a:ext cx="1761454" cy="98998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5" name="Group 14">
            <a:extLst>
              <a:ext uri="{FF2B5EF4-FFF2-40B4-BE49-F238E27FC236}">
                <a16:creationId xmlns:a16="http://schemas.microsoft.com/office/drawing/2014/main" id="{A07FE2BF-58F8-C97A-DD04-90F1783E5779}"/>
              </a:ext>
            </a:extLst>
          </p:cNvPr>
          <p:cNvGrpSpPr/>
          <p:nvPr/>
        </p:nvGrpSpPr>
        <p:grpSpPr>
          <a:xfrm>
            <a:off x="0" y="-243"/>
            <a:ext cx="9132424" cy="1298691"/>
            <a:chOff x="0" y="3946034"/>
            <a:chExt cx="12176565" cy="1731588"/>
          </a:xfrm>
        </p:grpSpPr>
        <p:grpSp>
          <p:nvGrpSpPr>
            <p:cNvPr id="16" name="Group 15">
              <a:extLst>
                <a:ext uri="{FF2B5EF4-FFF2-40B4-BE49-F238E27FC236}">
                  <a16:creationId xmlns:a16="http://schemas.microsoft.com/office/drawing/2014/main" id="{2B0B8072-3CBB-FEDC-8EB1-41BF2146E9AF}"/>
                </a:ext>
              </a:extLst>
            </p:cNvPr>
            <p:cNvGrpSpPr/>
            <p:nvPr/>
          </p:nvGrpSpPr>
          <p:grpSpPr>
            <a:xfrm>
              <a:off x="2904776" y="3946034"/>
              <a:ext cx="9271789" cy="1727573"/>
              <a:chOff x="2869940" y="3994052"/>
              <a:chExt cx="9271789" cy="1727573"/>
            </a:xfrm>
          </p:grpSpPr>
          <p:grpSp>
            <p:nvGrpSpPr>
              <p:cNvPr id="18" name="Group 17">
                <a:extLst>
                  <a:ext uri="{FF2B5EF4-FFF2-40B4-BE49-F238E27FC236}">
                    <a16:creationId xmlns:a16="http://schemas.microsoft.com/office/drawing/2014/main" id="{BA056F69-A32A-1AE6-7718-064A4FC9D352}"/>
                  </a:ext>
                </a:extLst>
              </p:cNvPr>
              <p:cNvGrpSpPr/>
              <p:nvPr/>
            </p:nvGrpSpPr>
            <p:grpSpPr>
              <a:xfrm>
                <a:off x="2869940" y="3994052"/>
                <a:ext cx="9271789" cy="1726338"/>
                <a:chOff x="2869940" y="3877092"/>
                <a:chExt cx="9271789" cy="1726338"/>
              </a:xfrm>
            </p:grpSpPr>
            <p:pic>
              <p:nvPicPr>
                <p:cNvPr id="20" name="Picture 19">
                  <a:extLst>
                    <a:ext uri="{FF2B5EF4-FFF2-40B4-BE49-F238E27FC236}">
                      <a16:creationId xmlns:a16="http://schemas.microsoft.com/office/drawing/2014/main" id="{BF4F9D6A-9CE3-6137-B896-DD7FAC94D968}"/>
                    </a:ext>
                  </a:extLst>
                </p:cNvPr>
                <p:cNvPicPr>
                  <a:picLocks noChangeAspect="1"/>
                </p:cNvPicPr>
                <p:nvPr/>
              </p:nvPicPr>
              <p:blipFill rotWithShape="1">
                <a:blip r:embed="rId8" cstate="hqprint">
                  <a:extLst>
                    <a:ext uri="{28A0092B-C50C-407E-A947-70E740481C1C}">
                      <a14:useLocalDpi xmlns:a14="http://schemas.microsoft.com/office/drawing/2010/main"/>
                    </a:ext>
                  </a:extLst>
                </a:blip>
                <a:srcRect/>
                <a:stretch/>
              </p:blipFill>
              <p:spPr>
                <a:xfrm>
                  <a:off x="9830259" y="3877092"/>
                  <a:ext cx="2311470" cy="1726338"/>
                </a:xfrm>
                <a:prstGeom prst="rect">
                  <a:avLst/>
                </a:prstGeom>
              </p:spPr>
            </p:pic>
            <p:pic>
              <p:nvPicPr>
                <p:cNvPr id="21" name="Picture 2" descr="Related image">
                  <a:extLst>
                    <a:ext uri="{FF2B5EF4-FFF2-40B4-BE49-F238E27FC236}">
                      <a16:creationId xmlns:a16="http://schemas.microsoft.com/office/drawing/2014/main" id="{2AC8E991-30F1-68BF-A6C5-34FE2EE5B324}"/>
                    </a:ext>
                  </a:extLst>
                </p:cNvPr>
                <p:cNvPicPr>
                  <a:picLocks noChangeAspect="1" noChangeArrowheads="1"/>
                </p:cNvPicPr>
                <p:nvPr/>
              </p:nvPicPr>
              <p:blipFill rotWithShape="1">
                <a:blip r:embed="rId9" cstate="hqprint">
                  <a:extLst>
                    <a:ext uri="{BEBA8EAE-BF5A-486C-A8C5-ECC9F3942E4B}">
                      <a14:imgProps xmlns:a14="http://schemas.microsoft.com/office/drawing/2010/main">
                        <a14:imgLayer r:embed="rId10">
                          <a14:imgEffect>
                            <a14:brightnessContrast bright="16000" contrast="6000"/>
                          </a14:imgEffect>
                        </a14:imgLayer>
                      </a14:imgProps>
                    </a:ext>
                    <a:ext uri="{28A0092B-C50C-407E-A947-70E740481C1C}">
                      <a14:useLocalDpi xmlns:a14="http://schemas.microsoft.com/office/drawing/2010/main"/>
                    </a:ext>
                  </a:extLst>
                </a:blip>
                <a:srcRect/>
                <a:stretch/>
              </p:blipFill>
              <p:spPr bwMode="auto">
                <a:xfrm>
                  <a:off x="7367581" y="3877092"/>
                  <a:ext cx="2476988" cy="1726338"/>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6" descr="Related image">
                  <a:extLst>
                    <a:ext uri="{FF2B5EF4-FFF2-40B4-BE49-F238E27FC236}">
                      <a16:creationId xmlns:a16="http://schemas.microsoft.com/office/drawing/2014/main" id="{25BA14FC-079B-4139-3E68-6A568C4FAC96}"/>
                    </a:ext>
                  </a:extLst>
                </p:cNvPr>
                <p:cNvPicPr>
                  <a:picLocks noChangeAspect="1" noChangeArrowheads="1"/>
                </p:cNvPicPr>
                <p:nvPr/>
              </p:nvPicPr>
              <p:blipFill rotWithShape="1">
                <a:blip r:embed="rId11" cstate="hqprint">
                  <a:extLst>
                    <a:ext uri="{28A0092B-C50C-407E-A947-70E740481C1C}">
                      <a14:useLocalDpi xmlns:a14="http://schemas.microsoft.com/office/drawing/2010/main"/>
                    </a:ext>
                  </a:extLst>
                </a:blip>
                <a:srcRect/>
                <a:stretch/>
              </p:blipFill>
              <p:spPr bwMode="auto">
                <a:xfrm>
                  <a:off x="2869940" y="3877946"/>
                  <a:ext cx="2226785" cy="1725484"/>
                </a:xfrm>
                <a:prstGeom prst="rect">
                  <a:avLst/>
                </a:prstGeom>
                <a:noFill/>
                <a:extLst>
                  <a:ext uri="{909E8E84-426E-40DD-AFC4-6F175D3DCCD1}">
                    <a14:hiddenFill xmlns:a14="http://schemas.microsoft.com/office/drawing/2010/main">
                      <a:solidFill>
                        <a:srgbClr val="FFFFFF"/>
                      </a:solidFill>
                    </a14:hiddenFill>
                  </a:ext>
                </a:extLst>
              </p:spPr>
            </p:pic>
          </p:grpSp>
          <p:pic>
            <p:nvPicPr>
              <p:cNvPr id="19" name="Picture 18">
                <a:extLst>
                  <a:ext uri="{FF2B5EF4-FFF2-40B4-BE49-F238E27FC236}">
                    <a16:creationId xmlns:a16="http://schemas.microsoft.com/office/drawing/2014/main" id="{8BC7D166-C71F-DF12-7D7E-7DE1F6A09E26}"/>
                  </a:ext>
                </a:extLst>
              </p:cNvPr>
              <p:cNvPicPr>
                <a:picLocks noChangeAspect="1"/>
              </p:cNvPicPr>
              <p:nvPr/>
            </p:nvPicPr>
            <p:blipFill rotWithShape="1">
              <a:blip r:embed="rId12" cstate="hqprint">
                <a:extLst>
                  <a:ext uri="{28A0092B-C50C-407E-A947-70E740481C1C}">
                    <a14:useLocalDpi xmlns:a14="http://schemas.microsoft.com/office/drawing/2010/main"/>
                  </a:ext>
                </a:extLst>
              </a:blip>
              <a:srcRect/>
              <a:stretch/>
            </p:blipFill>
            <p:spPr>
              <a:xfrm>
                <a:off x="5089469" y="3995287"/>
                <a:ext cx="2278112" cy="1726338"/>
              </a:xfrm>
              <a:prstGeom prst="rect">
                <a:avLst/>
              </a:prstGeom>
            </p:spPr>
          </p:pic>
        </p:grpSp>
        <p:pic>
          <p:nvPicPr>
            <p:cNvPr id="17" name="Picture 16">
              <a:extLst>
                <a:ext uri="{FF2B5EF4-FFF2-40B4-BE49-F238E27FC236}">
                  <a16:creationId xmlns:a16="http://schemas.microsoft.com/office/drawing/2014/main" id="{3A57BD39-5976-A93D-1575-AD0F007FFC7C}"/>
                </a:ext>
              </a:extLst>
            </p:cNvPr>
            <p:cNvPicPr>
              <a:picLocks noChangeAspect="1"/>
            </p:cNvPicPr>
            <p:nvPr/>
          </p:nvPicPr>
          <p:blipFill>
            <a:blip r:embed="rId13" cstate="hqprint">
              <a:extLst>
                <a:ext uri="{28A0092B-C50C-407E-A947-70E740481C1C}">
                  <a14:useLocalDpi xmlns:a14="http://schemas.microsoft.com/office/drawing/2010/main"/>
                </a:ext>
              </a:extLst>
            </a:blip>
            <a:stretch>
              <a:fillRect/>
            </a:stretch>
          </p:blipFill>
          <p:spPr>
            <a:xfrm>
              <a:off x="0" y="3952138"/>
              <a:ext cx="2904776" cy="1725484"/>
            </a:xfrm>
            <a:prstGeom prst="rect">
              <a:avLst/>
            </a:prstGeom>
          </p:spPr>
        </p:pic>
      </p:grpSp>
      <p:pic>
        <p:nvPicPr>
          <p:cNvPr id="9" name="Picture 8">
            <a:extLst>
              <a:ext uri="{FF2B5EF4-FFF2-40B4-BE49-F238E27FC236}">
                <a16:creationId xmlns:a16="http://schemas.microsoft.com/office/drawing/2014/main" id="{75B3BCA1-2FC8-5ED5-AC9D-10F20F77E5A3}"/>
              </a:ext>
            </a:extLst>
          </p:cNvPr>
          <p:cNvPicPr>
            <a:picLocks noChangeAspect="1"/>
          </p:cNvPicPr>
          <p:nvPr/>
        </p:nvPicPr>
        <p:blipFill>
          <a:blip r:embed="rId14"/>
          <a:stretch>
            <a:fillRect/>
          </a:stretch>
        </p:blipFill>
        <p:spPr>
          <a:xfrm rot="20924261">
            <a:off x="981364" y="2884970"/>
            <a:ext cx="2735620" cy="992787"/>
          </a:xfrm>
          <a:prstGeom prst="rect">
            <a:avLst/>
          </a:prstGeom>
        </p:spPr>
      </p:pic>
      <p:pic>
        <p:nvPicPr>
          <p:cNvPr id="24" name="Picture 23">
            <a:extLst>
              <a:ext uri="{FF2B5EF4-FFF2-40B4-BE49-F238E27FC236}">
                <a16:creationId xmlns:a16="http://schemas.microsoft.com/office/drawing/2014/main" id="{91F2D9AE-E869-CE36-E2D8-23BCFF6BAC4B}"/>
              </a:ext>
            </a:extLst>
          </p:cNvPr>
          <p:cNvPicPr>
            <a:picLocks noChangeAspect="1"/>
          </p:cNvPicPr>
          <p:nvPr/>
        </p:nvPicPr>
        <p:blipFill>
          <a:blip r:embed="rId15"/>
          <a:stretch>
            <a:fillRect/>
          </a:stretch>
        </p:blipFill>
        <p:spPr>
          <a:xfrm rot="431536">
            <a:off x="5483051" y="2911206"/>
            <a:ext cx="2621011" cy="1092262"/>
          </a:xfrm>
          <a:prstGeom prst="rect">
            <a:avLst/>
          </a:prstGeom>
        </p:spPr>
      </p:pic>
    </p:spTree>
    <p:extLst>
      <p:ext uri="{BB962C8B-B14F-4D97-AF65-F5344CB8AC3E}">
        <p14:creationId xmlns:p14="http://schemas.microsoft.com/office/powerpoint/2010/main" val="484111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0"/>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9"/>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DF5D6-AC4D-9B77-7924-1C139A3D0C09}"/>
            </a:ext>
          </a:extLst>
        </p:cNvPr>
        <p:cNvGrpSpPr/>
        <p:nvPr/>
      </p:nvGrpSpPr>
      <p:grpSpPr>
        <a:xfrm>
          <a:off x="0" y="0"/>
          <a:ext cx="0" cy="0"/>
          <a:chOff x="0" y="0"/>
          <a:chExt cx="0" cy="0"/>
        </a:xfrm>
      </p:grpSpPr>
      <p:sp>
        <p:nvSpPr>
          <p:cNvPr id="24" name="Rectangle 23">
            <a:extLst>
              <a:ext uri="{FF2B5EF4-FFF2-40B4-BE49-F238E27FC236}">
                <a16:creationId xmlns:a16="http://schemas.microsoft.com/office/drawing/2014/main" id="{BD9A7C12-F279-E52E-1F6E-95F337CA529A}"/>
              </a:ext>
            </a:extLst>
          </p:cNvPr>
          <p:cNvSpPr/>
          <p:nvPr/>
        </p:nvSpPr>
        <p:spPr>
          <a:xfrm>
            <a:off x="0" y="0"/>
            <a:ext cx="9132424" cy="513916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2" name="Rectangle 1">
            <a:extLst>
              <a:ext uri="{FF2B5EF4-FFF2-40B4-BE49-F238E27FC236}">
                <a16:creationId xmlns:a16="http://schemas.microsoft.com/office/drawing/2014/main" id="{F152F92A-D12B-F902-9DF4-FEEDBF406B4A}"/>
              </a:ext>
            </a:extLst>
          </p:cNvPr>
          <p:cNvSpPr/>
          <p:nvPr/>
        </p:nvSpPr>
        <p:spPr>
          <a:xfrm>
            <a:off x="2808406" y="1261257"/>
            <a:ext cx="3539495" cy="692497"/>
          </a:xfrm>
          <a:prstGeom prst="rect">
            <a:avLst/>
          </a:prstGeom>
        </p:spPr>
        <p:txBody>
          <a:bodyPr wrap="none">
            <a:spAutoFit/>
          </a:bodyPr>
          <a:lstStyle/>
          <a:p>
            <a:pPr algn="ctr" defTabSz="685800">
              <a:defRPr/>
            </a:pPr>
            <a:r>
              <a:rPr lang="en-GB" sz="2400" dirty="0">
                <a:latin typeface="Calibri" panose="020F0502020204030204"/>
              </a:rPr>
              <a:t>Each source of disturbance</a:t>
            </a:r>
          </a:p>
          <a:p>
            <a:pPr algn="ctr" defTabSz="685800">
              <a:defRPr/>
            </a:pPr>
            <a:r>
              <a:rPr lang="en-GB" sz="1500" i="1" dirty="0">
                <a:latin typeface="Calibri Light" panose="020F0302020204030204"/>
              </a:rPr>
              <a:t>Based on its type, amount and location</a:t>
            </a:r>
          </a:p>
        </p:txBody>
      </p:sp>
      <p:grpSp>
        <p:nvGrpSpPr>
          <p:cNvPr id="3" name="Group 2">
            <a:extLst>
              <a:ext uri="{FF2B5EF4-FFF2-40B4-BE49-F238E27FC236}">
                <a16:creationId xmlns:a16="http://schemas.microsoft.com/office/drawing/2014/main" id="{A0B54A72-475D-28CF-FD62-DC1C63D0D35D}"/>
              </a:ext>
            </a:extLst>
          </p:cNvPr>
          <p:cNvGrpSpPr/>
          <p:nvPr/>
        </p:nvGrpSpPr>
        <p:grpSpPr>
          <a:xfrm>
            <a:off x="617742" y="1599392"/>
            <a:ext cx="3212425" cy="1518092"/>
            <a:chOff x="862514" y="314746"/>
            <a:chExt cx="4283233" cy="2024122"/>
          </a:xfrm>
        </p:grpSpPr>
        <p:sp>
          <p:nvSpPr>
            <p:cNvPr id="4" name="Rectangle 3">
              <a:extLst>
                <a:ext uri="{FF2B5EF4-FFF2-40B4-BE49-F238E27FC236}">
                  <a16:creationId xmlns:a16="http://schemas.microsoft.com/office/drawing/2014/main" id="{1C3CDD2D-C3A7-49E8-0198-768F8BFA6A67}"/>
                </a:ext>
              </a:extLst>
            </p:cNvPr>
            <p:cNvSpPr/>
            <p:nvPr/>
          </p:nvSpPr>
          <p:spPr>
            <a:xfrm>
              <a:off x="862514" y="801145"/>
              <a:ext cx="4283233" cy="492443"/>
            </a:xfrm>
            <a:prstGeom prst="rect">
              <a:avLst/>
            </a:prstGeom>
            <a:effectLst>
              <a:outerShdw blurRad="50800" dist="38100" dir="2700000" algn="tl" rotWithShape="0">
                <a:schemeClr val="bg1">
                  <a:alpha val="40000"/>
                </a:schemeClr>
              </a:outerShdw>
            </a:effectLst>
          </p:spPr>
          <p:txBody>
            <a:bodyPr wrap="square">
              <a:spAutoFit/>
            </a:bodyPr>
            <a:lstStyle/>
            <a:p>
              <a:pPr algn="ctr" defTabSz="685800">
                <a:defRPr/>
              </a:pPr>
              <a:r>
                <a:rPr lang="en-US" sz="1350" dirty="0">
                  <a:effectLst>
                    <a:outerShdw blurRad="50800" dist="38100" dir="2700000" algn="tl" rotWithShape="0">
                      <a:prstClr val="white"/>
                    </a:outerShdw>
                  </a:effectLst>
                  <a:latin typeface="Calibri Light" panose="020F0302020204030204"/>
                </a:rPr>
                <a:t> </a:t>
              </a:r>
              <a:r>
                <a:rPr lang="en-US" b="1" dirty="0">
                  <a:latin typeface="Calibri Light" panose="020F0302020204030204"/>
                </a:rPr>
                <a:t>HABITAT LOSS/DEGRADATION</a:t>
              </a:r>
              <a:endParaRPr lang="en-US" sz="1350" b="1" dirty="0">
                <a:latin typeface="Calibri Light" panose="020F0302020204030204"/>
              </a:endParaRPr>
            </a:p>
          </p:txBody>
        </p:sp>
        <p:pic>
          <p:nvPicPr>
            <p:cNvPr id="5" name="Picture 4">
              <a:extLst>
                <a:ext uri="{FF2B5EF4-FFF2-40B4-BE49-F238E27FC236}">
                  <a16:creationId xmlns:a16="http://schemas.microsoft.com/office/drawing/2014/main" id="{71BE7B46-24B3-A8B9-04CF-9D03B5E1F1E1}"/>
                </a:ext>
              </a:extLst>
            </p:cNvPr>
            <p:cNvPicPr>
              <a:picLocks noChangeAspect="1"/>
            </p:cNvPicPr>
            <p:nvPr/>
          </p:nvPicPr>
          <p:blipFill rotWithShape="1">
            <a:blip r:embed="rId2" cstate="hqprint">
              <a:extLst>
                <a:ext uri="{28A0092B-C50C-407E-A947-70E740481C1C}">
                  <a14:useLocalDpi xmlns:a14="http://schemas.microsoft.com/office/drawing/2010/main"/>
                </a:ext>
              </a:extLst>
            </a:blip>
            <a:srcRect r="7576" b="-4900"/>
            <a:stretch/>
          </p:blipFill>
          <p:spPr>
            <a:xfrm>
              <a:off x="2754066" y="314746"/>
              <a:ext cx="753814" cy="539005"/>
            </a:xfrm>
            <a:prstGeom prst="rect">
              <a:avLst/>
            </a:prstGeom>
          </p:spPr>
        </p:pic>
        <p:pic>
          <p:nvPicPr>
            <p:cNvPr id="6" name="Picture 4" descr="Related image">
              <a:extLst>
                <a:ext uri="{FF2B5EF4-FFF2-40B4-BE49-F238E27FC236}">
                  <a16:creationId xmlns:a16="http://schemas.microsoft.com/office/drawing/2014/main" id="{C01C038B-1BB1-E45C-7881-F77F21413670}"/>
                </a:ext>
              </a:extLst>
            </p:cNvPr>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2936962" y="1329822"/>
              <a:ext cx="1782212" cy="100622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A lone hardwood “legacy tree” on private land in Halifax County stands amid the total destruction of mixed-species Acadian forest that used to surround it. - ECOLOGY ACTION CENTRE">
              <a:extLst>
                <a:ext uri="{FF2B5EF4-FFF2-40B4-BE49-F238E27FC236}">
                  <a16:creationId xmlns:a16="http://schemas.microsoft.com/office/drawing/2014/main" id="{7AEAF828-5014-17D9-D400-5CD07247310E}"/>
                </a:ext>
              </a:extLst>
            </p:cNvPr>
            <p:cNvPicPr>
              <a:picLocks noChangeAspect="1" noChangeArrowheads="1"/>
            </p:cNvPicPr>
            <p:nvPr/>
          </p:nvPicPr>
          <p:blipFill rotWithShape="1">
            <a:blip r:embed="rId4" cstate="hqprint">
              <a:extLst>
                <a:ext uri="{28A0092B-C50C-407E-A947-70E740481C1C}">
                  <a14:useLocalDpi xmlns:a14="http://schemas.microsoft.com/office/drawing/2010/main"/>
                </a:ext>
              </a:extLst>
            </a:blip>
            <a:srcRect/>
            <a:stretch/>
          </p:blipFill>
          <p:spPr bwMode="auto">
            <a:xfrm>
              <a:off x="1241528" y="1332648"/>
              <a:ext cx="1684848" cy="1006220"/>
            </a:xfrm>
            <a:prstGeom prst="rect">
              <a:avLst/>
            </a:prstGeom>
            <a:noFill/>
            <a:extLst>
              <a:ext uri="{909E8E84-426E-40DD-AFC4-6F175D3DCCD1}">
                <a14:hiddenFill xmlns:a14="http://schemas.microsoft.com/office/drawing/2010/main">
                  <a:solidFill>
                    <a:srgbClr val="FFFFFF"/>
                  </a:solidFill>
                </a14:hiddenFill>
              </a:ext>
            </a:extLst>
          </p:spPr>
        </p:pic>
      </p:grpSp>
      <p:sp>
        <p:nvSpPr>
          <p:cNvPr id="8" name="Right Brace 7">
            <a:extLst>
              <a:ext uri="{FF2B5EF4-FFF2-40B4-BE49-F238E27FC236}">
                <a16:creationId xmlns:a16="http://schemas.microsoft.com/office/drawing/2014/main" id="{65294F61-1225-9CF4-80E3-06E40FED4513}"/>
              </a:ext>
            </a:extLst>
          </p:cNvPr>
          <p:cNvSpPr/>
          <p:nvPr/>
        </p:nvSpPr>
        <p:spPr>
          <a:xfrm rot="5400000">
            <a:off x="4479074" y="-936286"/>
            <a:ext cx="216468" cy="9001184"/>
          </a:xfrm>
          <a:prstGeom prst="rightBrace">
            <a:avLst>
              <a:gd name="adj1" fmla="val 109468"/>
              <a:gd name="adj2" fmla="val 50000"/>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defTabSz="685800">
              <a:defRPr/>
            </a:pPr>
            <a:endParaRPr lang="en-GB" sz="1350" dirty="0">
              <a:latin typeface="Calibri" panose="020F0502020204030204"/>
            </a:endParaRPr>
          </a:p>
        </p:txBody>
      </p:sp>
      <p:sp>
        <p:nvSpPr>
          <p:cNvPr id="9" name="Rectangle 8">
            <a:extLst>
              <a:ext uri="{FF2B5EF4-FFF2-40B4-BE49-F238E27FC236}">
                <a16:creationId xmlns:a16="http://schemas.microsoft.com/office/drawing/2014/main" id="{92FFDA18-388C-F5FF-8C4D-95FE296159F3}"/>
              </a:ext>
            </a:extLst>
          </p:cNvPr>
          <p:cNvSpPr/>
          <p:nvPr/>
        </p:nvSpPr>
        <p:spPr>
          <a:xfrm>
            <a:off x="0" y="3812555"/>
            <a:ext cx="9132424" cy="507831"/>
          </a:xfrm>
          <a:prstGeom prst="rect">
            <a:avLst/>
          </a:prstGeom>
        </p:spPr>
        <p:txBody>
          <a:bodyPr wrap="square">
            <a:spAutoFit/>
          </a:bodyPr>
          <a:lstStyle/>
          <a:p>
            <a:pPr algn="ctr" defTabSz="685800">
              <a:defRPr/>
            </a:pPr>
            <a:r>
              <a:rPr lang="en-GB" sz="2700" cap="all" spc="450" dirty="0">
                <a:ln w="3175">
                  <a:solidFill>
                    <a:prstClr val="black">
                      <a:alpha val="48000"/>
                    </a:prstClr>
                  </a:solidFill>
                </a:ln>
                <a:effectLst>
                  <a:outerShdw blurRad="50800" dist="38100" dir="2700000" algn="tl" rotWithShape="0">
                    <a:prstClr val="black">
                      <a:alpha val="61000"/>
                    </a:prstClr>
                  </a:outerShdw>
                </a:effectLst>
                <a:latin typeface="Calibri" panose="020F0502020204030204"/>
                <a:cs typeface="MV Boli" pitchFamily="2" charset="0"/>
              </a:rPr>
              <a:t>Cumulative impact</a:t>
            </a:r>
          </a:p>
        </p:txBody>
      </p:sp>
      <p:grpSp>
        <p:nvGrpSpPr>
          <p:cNvPr id="10" name="Group 9">
            <a:extLst>
              <a:ext uri="{FF2B5EF4-FFF2-40B4-BE49-F238E27FC236}">
                <a16:creationId xmlns:a16="http://schemas.microsoft.com/office/drawing/2014/main" id="{1C591555-1BE3-44F4-C58B-567C230AB650}"/>
              </a:ext>
            </a:extLst>
          </p:cNvPr>
          <p:cNvGrpSpPr/>
          <p:nvPr/>
        </p:nvGrpSpPr>
        <p:grpSpPr>
          <a:xfrm>
            <a:off x="5563417" y="1597346"/>
            <a:ext cx="2676279" cy="1527143"/>
            <a:chOff x="7456748" y="312018"/>
            <a:chExt cx="3568372" cy="2036190"/>
          </a:xfrm>
        </p:grpSpPr>
        <p:pic>
          <p:nvPicPr>
            <p:cNvPr id="11" name="Picture 4" descr="Image result for road traffic winter&quot;">
              <a:extLst>
                <a:ext uri="{FF2B5EF4-FFF2-40B4-BE49-F238E27FC236}">
                  <a16:creationId xmlns:a16="http://schemas.microsoft.com/office/drawing/2014/main" id="{1BC90621-4CCB-98F1-1358-2E56D3B40EA2}"/>
                </a:ext>
              </a:extLst>
            </p:cNvPr>
            <p:cNvPicPr>
              <a:picLocks noChangeAspect="1" noChangeArrowheads="1"/>
            </p:cNvPicPr>
            <p:nvPr/>
          </p:nvPicPr>
          <p:blipFill>
            <a:blip r:embed="rId5" cstate="print">
              <a:extLst>
                <a:ext uri="{28A0092B-C50C-407E-A947-70E740481C1C}">
                  <a14:useLocalDpi xmlns:a14="http://schemas.microsoft.com/office/drawing/2010/main"/>
                </a:ext>
              </a:extLst>
            </a:blip>
            <a:srcRect/>
            <a:stretch>
              <a:fillRect/>
            </a:stretch>
          </p:blipFill>
          <p:spPr bwMode="auto">
            <a:xfrm>
              <a:off x="7456748" y="1353379"/>
              <a:ext cx="1806783" cy="994829"/>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a:extLst>
                <a:ext uri="{FF2B5EF4-FFF2-40B4-BE49-F238E27FC236}">
                  <a16:creationId xmlns:a16="http://schemas.microsoft.com/office/drawing/2014/main" id="{27E3C897-B169-671B-DD20-AB30814253CD}"/>
                </a:ext>
              </a:extLst>
            </p:cNvPr>
            <p:cNvSpPr/>
            <p:nvPr/>
          </p:nvSpPr>
          <p:spPr>
            <a:xfrm>
              <a:off x="7521436" y="819971"/>
              <a:ext cx="3452911" cy="492443"/>
            </a:xfrm>
            <a:prstGeom prst="rect">
              <a:avLst/>
            </a:prstGeom>
          </p:spPr>
          <p:txBody>
            <a:bodyPr wrap="none">
              <a:spAutoFit/>
            </a:bodyPr>
            <a:lstStyle/>
            <a:p>
              <a:pPr algn="ctr" defTabSz="685800">
                <a:defRPr/>
              </a:pPr>
              <a:r>
                <a:rPr lang="en-US" b="1" dirty="0">
                  <a:latin typeface="Calibri Light" panose="020F0302020204030204"/>
                </a:rPr>
                <a:t>HABITAT FRAGMENTATION</a:t>
              </a:r>
            </a:p>
          </p:txBody>
        </p:sp>
        <p:pic>
          <p:nvPicPr>
            <p:cNvPr id="13" name="Picture 12">
              <a:extLst>
                <a:ext uri="{FF2B5EF4-FFF2-40B4-BE49-F238E27FC236}">
                  <a16:creationId xmlns:a16="http://schemas.microsoft.com/office/drawing/2014/main" id="{3622E093-DDB2-3A7B-DE3A-6E592A4BDB4F}"/>
                </a:ext>
              </a:extLst>
            </p:cNvPr>
            <p:cNvPicPr>
              <a:picLocks noChangeAspect="1"/>
            </p:cNvPicPr>
            <p:nvPr/>
          </p:nvPicPr>
          <p:blipFill rotWithShape="1">
            <a:blip r:embed="rId6" cstate="hqprint">
              <a:extLst>
                <a:ext uri="{28A0092B-C50C-407E-A947-70E740481C1C}">
                  <a14:useLocalDpi xmlns:a14="http://schemas.microsoft.com/office/drawing/2010/main"/>
                </a:ext>
              </a:extLst>
            </a:blip>
            <a:srcRect l="9815" t="-2545" b="1728"/>
            <a:stretch/>
          </p:blipFill>
          <p:spPr>
            <a:xfrm>
              <a:off x="8726595" y="312018"/>
              <a:ext cx="740678" cy="529919"/>
            </a:xfrm>
            <a:prstGeom prst="rect">
              <a:avLst/>
            </a:prstGeom>
          </p:spPr>
        </p:pic>
        <p:pic>
          <p:nvPicPr>
            <p:cNvPr id="14" name="Picture 6" descr="Related image">
              <a:extLst>
                <a:ext uri="{FF2B5EF4-FFF2-40B4-BE49-F238E27FC236}">
                  <a16:creationId xmlns:a16="http://schemas.microsoft.com/office/drawing/2014/main" id="{06B837B5-B3CE-5BB3-AC9E-39859F530C7A}"/>
                </a:ext>
              </a:extLst>
            </p:cNvPr>
            <p:cNvPicPr>
              <a:picLocks noChangeAspect="1" noChangeArrowheads="1"/>
            </p:cNvPicPr>
            <p:nvPr/>
          </p:nvPicPr>
          <p:blipFill rotWithShape="1">
            <a:blip r:embed="rId7" cstate="hqprint">
              <a:extLst>
                <a:ext uri="{28A0092B-C50C-407E-A947-70E740481C1C}">
                  <a14:useLocalDpi xmlns:a14="http://schemas.microsoft.com/office/drawing/2010/main"/>
                </a:ext>
              </a:extLst>
            </a:blip>
            <a:srcRect/>
            <a:stretch/>
          </p:blipFill>
          <p:spPr bwMode="auto">
            <a:xfrm>
              <a:off x="9263666" y="1357638"/>
              <a:ext cx="1761454" cy="98998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5" name="Group 14">
            <a:extLst>
              <a:ext uri="{FF2B5EF4-FFF2-40B4-BE49-F238E27FC236}">
                <a16:creationId xmlns:a16="http://schemas.microsoft.com/office/drawing/2014/main" id="{E3574116-FACA-2C99-F832-FF7DE1C09488}"/>
              </a:ext>
            </a:extLst>
          </p:cNvPr>
          <p:cNvGrpSpPr/>
          <p:nvPr/>
        </p:nvGrpSpPr>
        <p:grpSpPr>
          <a:xfrm>
            <a:off x="0" y="-243"/>
            <a:ext cx="9132424" cy="1298691"/>
            <a:chOff x="0" y="3946034"/>
            <a:chExt cx="12176565" cy="1731588"/>
          </a:xfrm>
        </p:grpSpPr>
        <p:grpSp>
          <p:nvGrpSpPr>
            <p:cNvPr id="16" name="Group 15">
              <a:extLst>
                <a:ext uri="{FF2B5EF4-FFF2-40B4-BE49-F238E27FC236}">
                  <a16:creationId xmlns:a16="http://schemas.microsoft.com/office/drawing/2014/main" id="{B32DF7B7-DF21-1049-D706-6D5C7632F362}"/>
                </a:ext>
              </a:extLst>
            </p:cNvPr>
            <p:cNvGrpSpPr/>
            <p:nvPr/>
          </p:nvGrpSpPr>
          <p:grpSpPr>
            <a:xfrm>
              <a:off x="2904776" y="3946034"/>
              <a:ext cx="9271789" cy="1727573"/>
              <a:chOff x="2869940" y="3994052"/>
              <a:chExt cx="9271789" cy="1727573"/>
            </a:xfrm>
          </p:grpSpPr>
          <p:grpSp>
            <p:nvGrpSpPr>
              <p:cNvPr id="18" name="Group 17">
                <a:extLst>
                  <a:ext uri="{FF2B5EF4-FFF2-40B4-BE49-F238E27FC236}">
                    <a16:creationId xmlns:a16="http://schemas.microsoft.com/office/drawing/2014/main" id="{ACFB97FB-8EE5-4BDF-4018-E167FBD23B41}"/>
                  </a:ext>
                </a:extLst>
              </p:cNvPr>
              <p:cNvGrpSpPr/>
              <p:nvPr/>
            </p:nvGrpSpPr>
            <p:grpSpPr>
              <a:xfrm>
                <a:off x="2869940" y="3994052"/>
                <a:ext cx="9271789" cy="1726338"/>
                <a:chOff x="2869940" y="3877092"/>
                <a:chExt cx="9271789" cy="1726338"/>
              </a:xfrm>
            </p:grpSpPr>
            <p:pic>
              <p:nvPicPr>
                <p:cNvPr id="20" name="Picture 19">
                  <a:extLst>
                    <a:ext uri="{FF2B5EF4-FFF2-40B4-BE49-F238E27FC236}">
                      <a16:creationId xmlns:a16="http://schemas.microsoft.com/office/drawing/2014/main" id="{5D225E1C-606E-5009-6607-FA4B544B4647}"/>
                    </a:ext>
                  </a:extLst>
                </p:cNvPr>
                <p:cNvPicPr>
                  <a:picLocks noChangeAspect="1"/>
                </p:cNvPicPr>
                <p:nvPr/>
              </p:nvPicPr>
              <p:blipFill rotWithShape="1">
                <a:blip r:embed="rId8" cstate="hqprint">
                  <a:extLst>
                    <a:ext uri="{28A0092B-C50C-407E-A947-70E740481C1C}">
                      <a14:useLocalDpi xmlns:a14="http://schemas.microsoft.com/office/drawing/2010/main"/>
                    </a:ext>
                  </a:extLst>
                </a:blip>
                <a:srcRect/>
                <a:stretch/>
              </p:blipFill>
              <p:spPr>
                <a:xfrm>
                  <a:off x="9830259" y="3877092"/>
                  <a:ext cx="2311470" cy="1726338"/>
                </a:xfrm>
                <a:prstGeom prst="rect">
                  <a:avLst/>
                </a:prstGeom>
              </p:spPr>
            </p:pic>
            <p:pic>
              <p:nvPicPr>
                <p:cNvPr id="21" name="Picture 2" descr="Related image">
                  <a:extLst>
                    <a:ext uri="{FF2B5EF4-FFF2-40B4-BE49-F238E27FC236}">
                      <a16:creationId xmlns:a16="http://schemas.microsoft.com/office/drawing/2014/main" id="{8AF53B88-B245-8062-E052-78974244E104}"/>
                    </a:ext>
                  </a:extLst>
                </p:cNvPr>
                <p:cNvPicPr>
                  <a:picLocks noChangeAspect="1" noChangeArrowheads="1"/>
                </p:cNvPicPr>
                <p:nvPr/>
              </p:nvPicPr>
              <p:blipFill rotWithShape="1">
                <a:blip r:embed="rId9" cstate="hqprint">
                  <a:extLst>
                    <a:ext uri="{BEBA8EAE-BF5A-486C-A8C5-ECC9F3942E4B}">
                      <a14:imgProps xmlns:a14="http://schemas.microsoft.com/office/drawing/2010/main">
                        <a14:imgLayer r:embed="rId10">
                          <a14:imgEffect>
                            <a14:brightnessContrast bright="16000" contrast="6000"/>
                          </a14:imgEffect>
                        </a14:imgLayer>
                      </a14:imgProps>
                    </a:ext>
                    <a:ext uri="{28A0092B-C50C-407E-A947-70E740481C1C}">
                      <a14:useLocalDpi xmlns:a14="http://schemas.microsoft.com/office/drawing/2010/main"/>
                    </a:ext>
                  </a:extLst>
                </a:blip>
                <a:srcRect/>
                <a:stretch/>
              </p:blipFill>
              <p:spPr bwMode="auto">
                <a:xfrm>
                  <a:off x="7367581" y="3877092"/>
                  <a:ext cx="2476988" cy="1726338"/>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6" descr="Related image">
                  <a:extLst>
                    <a:ext uri="{FF2B5EF4-FFF2-40B4-BE49-F238E27FC236}">
                      <a16:creationId xmlns:a16="http://schemas.microsoft.com/office/drawing/2014/main" id="{033C4AF9-7583-87C5-655B-ED8F3B032B7C}"/>
                    </a:ext>
                  </a:extLst>
                </p:cNvPr>
                <p:cNvPicPr>
                  <a:picLocks noChangeAspect="1" noChangeArrowheads="1"/>
                </p:cNvPicPr>
                <p:nvPr/>
              </p:nvPicPr>
              <p:blipFill rotWithShape="1">
                <a:blip r:embed="rId11" cstate="hqprint">
                  <a:extLst>
                    <a:ext uri="{28A0092B-C50C-407E-A947-70E740481C1C}">
                      <a14:useLocalDpi xmlns:a14="http://schemas.microsoft.com/office/drawing/2010/main"/>
                    </a:ext>
                  </a:extLst>
                </a:blip>
                <a:srcRect/>
                <a:stretch/>
              </p:blipFill>
              <p:spPr bwMode="auto">
                <a:xfrm>
                  <a:off x="2869940" y="3877946"/>
                  <a:ext cx="2226785" cy="1725484"/>
                </a:xfrm>
                <a:prstGeom prst="rect">
                  <a:avLst/>
                </a:prstGeom>
                <a:noFill/>
                <a:extLst>
                  <a:ext uri="{909E8E84-426E-40DD-AFC4-6F175D3DCCD1}">
                    <a14:hiddenFill xmlns:a14="http://schemas.microsoft.com/office/drawing/2010/main">
                      <a:solidFill>
                        <a:srgbClr val="FFFFFF"/>
                      </a:solidFill>
                    </a14:hiddenFill>
                  </a:ext>
                </a:extLst>
              </p:spPr>
            </p:pic>
          </p:grpSp>
          <p:pic>
            <p:nvPicPr>
              <p:cNvPr id="19" name="Picture 18">
                <a:extLst>
                  <a:ext uri="{FF2B5EF4-FFF2-40B4-BE49-F238E27FC236}">
                    <a16:creationId xmlns:a16="http://schemas.microsoft.com/office/drawing/2014/main" id="{F9CBC3E3-A672-587D-7EBE-D9D523E65989}"/>
                  </a:ext>
                </a:extLst>
              </p:cNvPr>
              <p:cNvPicPr>
                <a:picLocks noChangeAspect="1"/>
              </p:cNvPicPr>
              <p:nvPr/>
            </p:nvPicPr>
            <p:blipFill rotWithShape="1">
              <a:blip r:embed="rId12" cstate="hqprint">
                <a:extLst>
                  <a:ext uri="{28A0092B-C50C-407E-A947-70E740481C1C}">
                    <a14:useLocalDpi xmlns:a14="http://schemas.microsoft.com/office/drawing/2010/main"/>
                  </a:ext>
                </a:extLst>
              </a:blip>
              <a:srcRect/>
              <a:stretch/>
            </p:blipFill>
            <p:spPr>
              <a:xfrm>
                <a:off x="5089469" y="3995287"/>
                <a:ext cx="2278112" cy="1726338"/>
              </a:xfrm>
              <a:prstGeom prst="rect">
                <a:avLst/>
              </a:prstGeom>
            </p:spPr>
          </p:pic>
        </p:grpSp>
        <p:pic>
          <p:nvPicPr>
            <p:cNvPr id="17" name="Picture 16">
              <a:extLst>
                <a:ext uri="{FF2B5EF4-FFF2-40B4-BE49-F238E27FC236}">
                  <a16:creationId xmlns:a16="http://schemas.microsoft.com/office/drawing/2014/main" id="{4C00F3A7-E93F-6201-214D-8D02A91425D6}"/>
                </a:ext>
              </a:extLst>
            </p:cNvPr>
            <p:cNvPicPr>
              <a:picLocks noChangeAspect="1"/>
            </p:cNvPicPr>
            <p:nvPr/>
          </p:nvPicPr>
          <p:blipFill>
            <a:blip r:embed="rId13" cstate="hqprint">
              <a:extLst>
                <a:ext uri="{28A0092B-C50C-407E-A947-70E740481C1C}">
                  <a14:useLocalDpi xmlns:a14="http://schemas.microsoft.com/office/drawing/2010/main"/>
                </a:ext>
              </a:extLst>
            </a:blip>
            <a:stretch>
              <a:fillRect/>
            </a:stretch>
          </p:blipFill>
          <p:spPr>
            <a:xfrm>
              <a:off x="0" y="3952138"/>
              <a:ext cx="2904776" cy="1725484"/>
            </a:xfrm>
            <a:prstGeom prst="rect">
              <a:avLst/>
            </a:prstGeom>
          </p:spPr>
        </p:pic>
      </p:grpSp>
      <p:sp>
        <p:nvSpPr>
          <p:cNvPr id="23" name="Rectangle 22">
            <a:extLst>
              <a:ext uri="{FF2B5EF4-FFF2-40B4-BE49-F238E27FC236}">
                <a16:creationId xmlns:a16="http://schemas.microsoft.com/office/drawing/2014/main" id="{6E9E023A-B832-8975-A6A1-52E8ED79728D}"/>
              </a:ext>
            </a:extLst>
          </p:cNvPr>
          <p:cNvSpPr/>
          <p:nvPr/>
        </p:nvSpPr>
        <p:spPr>
          <a:xfrm>
            <a:off x="6296" y="4211257"/>
            <a:ext cx="9132424" cy="900246"/>
          </a:xfrm>
          <a:prstGeom prst="rect">
            <a:avLst/>
          </a:prstGeom>
          <a:solidFill>
            <a:schemeClr val="bg1"/>
          </a:solidFill>
        </p:spPr>
        <p:txBody>
          <a:bodyPr wrap="square">
            <a:spAutoFit/>
          </a:bodyPr>
          <a:lstStyle/>
          <a:p>
            <a:pPr lvl="0" algn="ctr">
              <a:defRPr/>
            </a:pPr>
            <a:r>
              <a:rPr lang="en-GB" sz="2100" cap="all" spc="225" dirty="0">
                <a:ln w="3175">
                  <a:solidFill>
                    <a:prstClr val="black">
                      <a:alpha val="48000"/>
                    </a:prstClr>
                  </a:solidFill>
                </a:ln>
                <a:effectLst>
                  <a:outerShdw blurRad="50800" dist="38100" dir="2700000" algn="tl" rotWithShape="0">
                    <a:prstClr val="black">
                      <a:alpha val="61000"/>
                    </a:prstClr>
                  </a:outerShdw>
                </a:effectLst>
                <a:latin typeface="Calibri" panose="020F0502020204030204"/>
                <a:cs typeface="MV Boli" pitchFamily="2" charset="0"/>
                <a:sym typeface="Symbol" panose="05050102010706020507" pitchFamily="18" charset="2"/>
              </a:rPr>
              <a:t>↓</a:t>
            </a:r>
          </a:p>
          <a:p>
            <a:pPr lvl="0" algn="ctr">
              <a:defRPr/>
            </a:pPr>
            <a:r>
              <a:rPr lang="en-GB" cap="all" spc="225" dirty="0">
                <a:ln w="3175">
                  <a:solidFill>
                    <a:prstClr val="black">
                      <a:alpha val="48000"/>
                    </a:prstClr>
                  </a:solidFill>
                </a:ln>
                <a:effectLst>
                  <a:outerShdw blurRad="50800" dist="38100" dir="2700000" algn="tl" rotWithShape="0">
                    <a:prstClr val="black">
                      <a:alpha val="61000"/>
                    </a:prstClr>
                  </a:outerShdw>
                </a:effectLst>
                <a:latin typeface="Calibri" panose="020F0502020204030204"/>
                <a:cs typeface="MV Boli" pitchFamily="2" charset="0"/>
                <a:sym typeface="Symbol" panose="05050102010706020507" pitchFamily="18" charset="2"/>
              </a:rPr>
              <a:t>guide</a:t>
            </a:r>
            <a:r>
              <a:rPr lang="en-GB" cap="all" spc="225" dirty="0">
                <a:ln w="3175">
                  <a:solidFill>
                    <a:prstClr val="black">
                      <a:alpha val="48000"/>
                    </a:prstClr>
                  </a:solidFill>
                </a:ln>
                <a:effectLst>
                  <a:outerShdw blurRad="50800" dist="38100" dir="2700000" algn="tl" rotWithShape="0">
                    <a:prstClr val="black">
                      <a:alpha val="61000"/>
                    </a:prstClr>
                  </a:outerShdw>
                </a:effectLst>
                <a:latin typeface="Calibri" panose="020F0502020204030204"/>
                <a:cs typeface="MV Boli" pitchFamily="2" charset="0"/>
              </a:rPr>
              <a:t> sustainable land planning</a:t>
            </a:r>
          </a:p>
          <a:p>
            <a:pPr lvl="0" algn="ctr">
              <a:defRPr/>
            </a:pPr>
            <a:r>
              <a:rPr lang="en-GB" sz="1350" i="1" dirty="0">
                <a:ln w="3175">
                  <a:solidFill>
                    <a:prstClr val="black">
                      <a:alpha val="48000"/>
                    </a:prstClr>
                  </a:solidFill>
                </a:ln>
                <a:effectLst>
                  <a:outerShdw blurRad="50800" dist="38100" dir="2700000" algn="tl" rotWithShape="0">
                    <a:prstClr val="black">
                      <a:alpha val="61000"/>
                    </a:prstClr>
                  </a:outerShdw>
                </a:effectLst>
                <a:cs typeface="MV Boli" pitchFamily="2" charset="0"/>
                <a:sym typeface="Symbol" panose="05050102010706020507" pitchFamily="18" charset="2"/>
              </a:rPr>
              <a:t>quantitatively &amp; spatially</a:t>
            </a:r>
            <a:endParaRPr lang="en-GB" sz="1350" i="1" dirty="0">
              <a:ln w="3175">
                <a:solidFill>
                  <a:prstClr val="black">
                    <a:alpha val="48000"/>
                  </a:prstClr>
                </a:solidFill>
              </a:ln>
              <a:effectLst>
                <a:outerShdw blurRad="50800" dist="38100" dir="2700000" algn="tl" rotWithShape="0">
                  <a:prstClr val="black">
                    <a:alpha val="61000"/>
                  </a:prstClr>
                </a:outerShdw>
              </a:effectLst>
              <a:latin typeface="Calibri" panose="020F0502020204030204"/>
              <a:cs typeface="MV Boli" pitchFamily="2" charset="0"/>
            </a:endParaRPr>
          </a:p>
        </p:txBody>
      </p:sp>
    </p:spTree>
    <p:extLst>
      <p:ext uri="{BB962C8B-B14F-4D97-AF65-F5344CB8AC3E}">
        <p14:creationId xmlns:p14="http://schemas.microsoft.com/office/powerpoint/2010/main" val="28406416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3A64D92-2A5C-F52B-2A3D-A3D117B761D4}"/>
              </a:ext>
            </a:extLst>
          </p:cNvPr>
          <p:cNvSpPr/>
          <p:nvPr/>
        </p:nvSpPr>
        <p:spPr>
          <a:xfrm>
            <a:off x="0" y="0"/>
            <a:ext cx="9132424" cy="513916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grpSp>
        <p:nvGrpSpPr>
          <p:cNvPr id="6" name="Group 5">
            <a:extLst>
              <a:ext uri="{FF2B5EF4-FFF2-40B4-BE49-F238E27FC236}">
                <a16:creationId xmlns:a16="http://schemas.microsoft.com/office/drawing/2014/main" id="{1EF11139-7C02-6DB1-2153-6D838BB19B85}"/>
              </a:ext>
            </a:extLst>
          </p:cNvPr>
          <p:cNvGrpSpPr/>
          <p:nvPr/>
        </p:nvGrpSpPr>
        <p:grpSpPr>
          <a:xfrm>
            <a:off x="413439" y="191249"/>
            <a:ext cx="3301724" cy="1822467"/>
            <a:chOff x="965691" y="965468"/>
            <a:chExt cx="4402299" cy="2429956"/>
          </a:xfrm>
        </p:grpSpPr>
        <p:pic>
          <p:nvPicPr>
            <p:cNvPr id="3" name="Picture 2">
              <a:extLst>
                <a:ext uri="{FF2B5EF4-FFF2-40B4-BE49-F238E27FC236}">
                  <a16:creationId xmlns:a16="http://schemas.microsoft.com/office/drawing/2014/main" id="{F77A572A-08D8-55B5-EB91-D8F779518296}"/>
                </a:ext>
              </a:extLst>
            </p:cNvPr>
            <p:cNvPicPr>
              <a:picLocks noChangeAspect="1"/>
            </p:cNvPicPr>
            <p:nvPr/>
          </p:nvPicPr>
          <p:blipFill>
            <a:blip r:embed="rId2"/>
            <a:stretch>
              <a:fillRect/>
            </a:stretch>
          </p:blipFill>
          <p:spPr>
            <a:xfrm>
              <a:off x="965692" y="1712341"/>
              <a:ext cx="4402298" cy="1683083"/>
            </a:xfrm>
            <a:prstGeom prst="rect">
              <a:avLst/>
            </a:prstGeom>
          </p:spPr>
        </p:pic>
        <p:pic>
          <p:nvPicPr>
            <p:cNvPr id="5" name="Picture 4">
              <a:extLst>
                <a:ext uri="{FF2B5EF4-FFF2-40B4-BE49-F238E27FC236}">
                  <a16:creationId xmlns:a16="http://schemas.microsoft.com/office/drawing/2014/main" id="{0F10CD0A-D5F0-4749-1E63-22B8F7974475}"/>
                </a:ext>
              </a:extLst>
            </p:cNvPr>
            <p:cNvPicPr>
              <a:picLocks noChangeAspect="1"/>
            </p:cNvPicPr>
            <p:nvPr/>
          </p:nvPicPr>
          <p:blipFill>
            <a:blip r:embed="rId3"/>
            <a:stretch>
              <a:fillRect/>
            </a:stretch>
          </p:blipFill>
          <p:spPr>
            <a:xfrm>
              <a:off x="965691" y="965468"/>
              <a:ext cx="4402298" cy="746873"/>
            </a:xfrm>
            <a:prstGeom prst="rect">
              <a:avLst/>
            </a:prstGeom>
          </p:spPr>
        </p:pic>
      </p:grpSp>
      <p:grpSp>
        <p:nvGrpSpPr>
          <p:cNvPr id="11" name="Group 10">
            <a:extLst>
              <a:ext uri="{FF2B5EF4-FFF2-40B4-BE49-F238E27FC236}">
                <a16:creationId xmlns:a16="http://schemas.microsoft.com/office/drawing/2014/main" id="{C421673C-57F7-601B-79F5-87CC04EE17C9}"/>
              </a:ext>
            </a:extLst>
          </p:cNvPr>
          <p:cNvGrpSpPr/>
          <p:nvPr/>
        </p:nvGrpSpPr>
        <p:grpSpPr>
          <a:xfrm>
            <a:off x="5243642" y="191249"/>
            <a:ext cx="3301724" cy="1395284"/>
            <a:chOff x="6188956" y="254998"/>
            <a:chExt cx="4402298" cy="1860379"/>
          </a:xfrm>
        </p:grpSpPr>
        <p:pic>
          <p:nvPicPr>
            <p:cNvPr id="7" name="Picture 6">
              <a:extLst>
                <a:ext uri="{FF2B5EF4-FFF2-40B4-BE49-F238E27FC236}">
                  <a16:creationId xmlns:a16="http://schemas.microsoft.com/office/drawing/2014/main" id="{33921FE7-3C75-7C9E-3898-30D1222C8DA1}"/>
                </a:ext>
              </a:extLst>
            </p:cNvPr>
            <p:cNvPicPr>
              <a:picLocks noChangeAspect="1"/>
            </p:cNvPicPr>
            <p:nvPr/>
          </p:nvPicPr>
          <p:blipFill>
            <a:blip r:embed="rId4"/>
            <a:stretch>
              <a:fillRect/>
            </a:stretch>
          </p:blipFill>
          <p:spPr>
            <a:xfrm>
              <a:off x="6188956" y="254998"/>
              <a:ext cx="3924300" cy="809625"/>
            </a:xfrm>
            <a:prstGeom prst="rect">
              <a:avLst/>
            </a:prstGeom>
          </p:spPr>
        </p:pic>
        <p:pic>
          <p:nvPicPr>
            <p:cNvPr id="9" name="Picture 8">
              <a:extLst>
                <a:ext uri="{FF2B5EF4-FFF2-40B4-BE49-F238E27FC236}">
                  <a16:creationId xmlns:a16="http://schemas.microsoft.com/office/drawing/2014/main" id="{3EEA68C1-0C3C-7219-24DE-57AAC7DDEFFB}"/>
                </a:ext>
              </a:extLst>
            </p:cNvPr>
            <p:cNvPicPr>
              <a:picLocks noChangeAspect="1"/>
            </p:cNvPicPr>
            <p:nvPr/>
          </p:nvPicPr>
          <p:blipFill>
            <a:blip r:embed="rId5"/>
            <a:stretch>
              <a:fillRect/>
            </a:stretch>
          </p:blipFill>
          <p:spPr>
            <a:xfrm>
              <a:off x="6188956" y="1064623"/>
              <a:ext cx="4402298" cy="1050754"/>
            </a:xfrm>
            <a:prstGeom prst="rect">
              <a:avLst/>
            </a:prstGeom>
          </p:spPr>
        </p:pic>
        <p:sp>
          <p:nvSpPr>
            <p:cNvPr id="10" name="Rectangle 9">
              <a:extLst>
                <a:ext uri="{FF2B5EF4-FFF2-40B4-BE49-F238E27FC236}">
                  <a16:creationId xmlns:a16="http://schemas.microsoft.com/office/drawing/2014/main" id="{52A7541B-8824-584F-1824-9AED3683F2F2}"/>
                </a:ext>
              </a:extLst>
            </p:cNvPr>
            <p:cNvSpPr/>
            <p:nvPr/>
          </p:nvSpPr>
          <p:spPr>
            <a:xfrm>
              <a:off x="10113256" y="254998"/>
              <a:ext cx="477996" cy="809625"/>
            </a:xfrm>
            <a:prstGeom prst="rect">
              <a:avLst/>
            </a:prstGeom>
            <a:solidFill>
              <a:srgbClr val="EEEE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grpSp>
    </p:spTree>
    <p:extLst>
      <p:ext uri="{BB962C8B-B14F-4D97-AF65-F5344CB8AC3E}">
        <p14:creationId xmlns:p14="http://schemas.microsoft.com/office/powerpoint/2010/main" val="15676389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41B44-4C10-E906-0F93-13C2DBF08CF4}"/>
            </a:ext>
          </a:extLst>
        </p:cNvPr>
        <p:cNvGrpSpPr/>
        <p:nvPr/>
      </p:nvGrpSpPr>
      <p:grpSpPr>
        <a:xfrm>
          <a:off x="0" y="0"/>
          <a:ext cx="0" cy="0"/>
          <a:chOff x="0" y="0"/>
          <a:chExt cx="0" cy="0"/>
        </a:xfrm>
      </p:grpSpPr>
      <p:sp>
        <p:nvSpPr>
          <p:cNvPr id="51" name="Rectangle 50">
            <a:extLst>
              <a:ext uri="{FF2B5EF4-FFF2-40B4-BE49-F238E27FC236}">
                <a16:creationId xmlns:a16="http://schemas.microsoft.com/office/drawing/2014/main" id="{E8265C25-78E5-40F9-FF7C-9D3F401E20E7}"/>
              </a:ext>
            </a:extLst>
          </p:cNvPr>
          <p:cNvSpPr/>
          <p:nvPr/>
        </p:nvSpPr>
        <p:spPr>
          <a:xfrm>
            <a:off x="0" y="0"/>
            <a:ext cx="9132424" cy="513916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grpSp>
        <p:nvGrpSpPr>
          <p:cNvPr id="6" name="Group 5">
            <a:extLst>
              <a:ext uri="{FF2B5EF4-FFF2-40B4-BE49-F238E27FC236}">
                <a16:creationId xmlns:a16="http://schemas.microsoft.com/office/drawing/2014/main" id="{22378384-35A1-1A51-567A-CD66F4557B65}"/>
              </a:ext>
            </a:extLst>
          </p:cNvPr>
          <p:cNvGrpSpPr/>
          <p:nvPr/>
        </p:nvGrpSpPr>
        <p:grpSpPr>
          <a:xfrm>
            <a:off x="413439" y="191249"/>
            <a:ext cx="3301724" cy="1822467"/>
            <a:chOff x="965691" y="965468"/>
            <a:chExt cx="4402299" cy="2429956"/>
          </a:xfrm>
        </p:grpSpPr>
        <p:pic>
          <p:nvPicPr>
            <p:cNvPr id="3" name="Picture 2">
              <a:extLst>
                <a:ext uri="{FF2B5EF4-FFF2-40B4-BE49-F238E27FC236}">
                  <a16:creationId xmlns:a16="http://schemas.microsoft.com/office/drawing/2014/main" id="{70D23B8C-EA7A-73F7-81A0-D44971E9565A}"/>
                </a:ext>
              </a:extLst>
            </p:cNvPr>
            <p:cNvPicPr>
              <a:picLocks noChangeAspect="1"/>
            </p:cNvPicPr>
            <p:nvPr/>
          </p:nvPicPr>
          <p:blipFill>
            <a:blip r:embed="rId2"/>
            <a:stretch>
              <a:fillRect/>
            </a:stretch>
          </p:blipFill>
          <p:spPr>
            <a:xfrm>
              <a:off x="965692" y="1712341"/>
              <a:ext cx="4402298" cy="1683083"/>
            </a:xfrm>
            <a:prstGeom prst="rect">
              <a:avLst/>
            </a:prstGeom>
          </p:spPr>
        </p:pic>
        <p:pic>
          <p:nvPicPr>
            <p:cNvPr id="5" name="Picture 4">
              <a:extLst>
                <a:ext uri="{FF2B5EF4-FFF2-40B4-BE49-F238E27FC236}">
                  <a16:creationId xmlns:a16="http://schemas.microsoft.com/office/drawing/2014/main" id="{16472172-F16C-1668-9444-EA4BF17C0366}"/>
                </a:ext>
              </a:extLst>
            </p:cNvPr>
            <p:cNvPicPr>
              <a:picLocks noChangeAspect="1"/>
            </p:cNvPicPr>
            <p:nvPr/>
          </p:nvPicPr>
          <p:blipFill>
            <a:blip r:embed="rId3"/>
            <a:stretch>
              <a:fillRect/>
            </a:stretch>
          </p:blipFill>
          <p:spPr>
            <a:xfrm>
              <a:off x="965691" y="965468"/>
              <a:ext cx="4402298" cy="746873"/>
            </a:xfrm>
            <a:prstGeom prst="rect">
              <a:avLst/>
            </a:prstGeom>
          </p:spPr>
        </p:pic>
      </p:grpSp>
      <p:grpSp>
        <p:nvGrpSpPr>
          <p:cNvPr id="11" name="Group 10">
            <a:extLst>
              <a:ext uri="{FF2B5EF4-FFF2-40B4-BE49-F238E27FC236}">
                <a16:creationId xmlns:a16="http://schemas.microsoft.com/office/drawing/2014/main" id="{68D51000-F3E6-65D9-FE16-0F2AF06F51BF}"/>
              </a:ext>
            </a:extLst>
          </p:cNvPr>
          <p:cNvGrpSpPr/>
          <p:nvPr/>
        </p:nvGrpSpPr>
        <p:grpSpPr>
          <a:xfrm>
            <a:off x="5243642" y="191249"/>
            <a:ext cx="3301724" cy="1395284"/>
            <a:chOff x="6188956" y="254998"/>
            <a:chExt cx="4402298" cy="1860379"/>
          </a:xfrm>
        </p:grpSpPr>
        <p:pic>
          <p:nvPicPr>
            <p:cNvPr id="7" name="Picture 6">
              <a:extLst>
                <a:ext uri="{FF2B5EF4-FFF2-40B4-BE49-F238E27FC236}">
                  <a16:creationId xmlns:a16="http://schemas.microsoft.com/office/drawing/2014/main" id="{4EFE8BF6-060C-4600-FB84-56D53B2D8EBB}"/>
                </a:ext>
              </a:extLst>
            </p:cNvPr>
            <p:cNvPicPr>
              <a:picLocks noChangeAspect="1"/>
            </p:cNvPicPr>
            <p:nvPr/>
          </p:nvPicPr>
          <p:blipFill>
            <a:blip r:embed="rId4"/>
            <a:stretch>
              <a:fillRect/>
            </a:stretch>
          </p:blipFill>
          <p:spPr>
            <a:xfrm>
              <a:off x="6188956" y="254998"/>
              <a:ext cx="3924300" cy="809625"/>
            </a:xfrm>
            <a:prstGeom prst="rect">
              <a:avLst/>
            </a:prstGeom>
          </p:spPr>
        </p:pic>
        <p:pic>
          <p:nvPicPr>
            <p:cNvPr id="9" name="Picture 8">
              <a:extLst>
                <a:ext uri="{FF2B5EF4-FFF2-40B4-BE49-F238E27FC236}">
                  <a16:creationId xmlns:a16="http://schemas.microsoft.com/office/drawing/2014/main" id="{4C490DEE-A5A7-DDB0-C956-1395794501F0}"/>
                </a:ext>
              </a:extLst>
            </p:cNvPr>
            <p:cNvPicPr>
              <a:picLocks noChangeAspect="1"/>
            </p:cNvPicPr>
            <p:nvPr/>
          </p:nvPicPr>
          <p:blipFill>
            <a:blip r:embed="rId5"/>
            <a:stretch>
              <a:fillRect/>
            </a:stretch>
          </p:blipFill>
          <p:spPr>
            <a:xfrm>
              <a:off x="6188956" y="1064623"/>
              <a:ext cx="4402298" cy="1050754"/>
            </a:xfrm>
            <a:prstGeom prst="rect">
              <a:avLst/>
            </a:prstGeom>
          </p:spPr>
        </p:pic>
        <p:sp>
          <p:nvSpPr>
            <p:cNvPr id="10" name="Rectangle 9">
              <a:extLst>
                <a:ext uri="{FF2B5EF4-FFF2-40B4-BE49-F238E27FC236}">
                  <a16:creationId xmlns:a16="http://schemas.microsoft.com/office/drawing/2014/main" id="{ACC5F91D-F2F3-C2D6-8FCB-41875004FB62}"/>
                </a:ext>
              </a:extLst>
            </p:cNvPr>
            <p:cNvSpPr/>
            <p:nvPr/>
          </p:nvSpPr>
          <p:spPr>
            <a:xfrm>
              <a:off x="10113256" y="254998"/>
              <a:ext cx="477996" cy="809625"/>
            </a:xfrm>
            <a:prstGeom prst="rect">
              <a:avLst/>
            </a:prstGeom>
            <a:solidFill>
              <a:srgbClr val="EEEE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grpSp>
      <p:sp>
        <p:nvSpPr>
          <p:cNvPr id="14" name="Arrow: Right 13">
            <a:extLst>
              <a:ext uri="{FF2B5EF4-FFF2-40B4-BE49-F238E27FC236}">
                <a16:creationId xmlns:a16="http://schemas.microsoft.com/office/drawing/2014/main" id="{B847FE4D-87E8-5235-AA57-F1A0B7DB8857}"/>
              </a:ext>
            </a:extLst>
          </p:cNvPr>
          <p:cNvSpPr/>
          <p:nvPr/>
        </p:nvSpPr>
        <p:spPr>
          <a:xfrm rot="16200000" flipH="1">
            <a:off x="6605378" y="2123269"/>
            <a:ext cx="733806" cy="36347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2" name="Arrow: Right 1">
            <a:extLst>
              <a:ext uri="{FF2B5EF4-FFF2-40B4-BE49-F238E27FC236}">
                <a16:creationId xmlns:a16="http://schemas.microsoft.com/office/drawing/2014/main" id="{022D9C4D-CAE9-9C21-E13F-3ED4ABABFAFA}"/>
              </a:ext>
            </a:extLst>
          </p:cNvPr>
          <p:cNvSpPr/>
          <p:nvPr/>
        </p:nvSpPr>
        <p:spPr>
          <a:xfrm rot="16200000" flipH="1">
            <a:off x="1608260" y="2124093"/>
            <a:ext cx="733806" cy="36347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pic>
        <p:nvPicPr>
          <p:cNvPr id="48" name="Picture 47">
            <a:extLst>
              <a:ext uri="{FF2B5EF4-FFF2-40B4-BE49-F238E27FC236}">
                <a16:creationId xmlns:a16="http://schemas.microsoft.com/office/drawing/2014/main" id="{7963E841-1B96-8A9B-4AC1-05243A68B3B5}"/>
              </a:ext>
            </a:extLst>
          </p:cNvPr>
          <p:cNvPicPr>
            <a:picLocks noChangeAspect="1"/>
          </p:cNvPicPr>
          <p:nvPr/>
        </p:nvPicPr>
        <p:blipFill>
          <a:blip r:embed="rId6"/>
          <a:stretch>
            <a:fillRect/>
          </a:stretch>
        </p:blipFill>
        <p:spPr>
          <a:xfrm>
            <a:off x="942360" y="3036326"/>
            <a:ext cx="2213144" cy="1647860"/>
          </a:xfrm>
          <a:prstGeom prst="rect">
            <a:avLst/>
          </a:prstGeom>
        </p:spPr>
      </p:pic>
      <p:sp>
        <p:nvSpPr>
          <p:cNvPr id="49" name="TextBox 48">
            <a:extLst>
              <a:ext uri="{FF2B5EF4-FFF2-40B4-BE49-F238E27FC236}">
                <a16:creationId xmlns:a16="http://schemas.microsoft.com/office/drawing/2014/main" id="{318723A6-0DFE-61D4-BB54-50797E600990}"/>
              </a:ext>
            </a:extLst>
          </p:cNvPr>
          <p:cNvSpPr txBox="1"/>
          <p:nvPr/>
        </p:nvSpPr>
        <p:spPr>
          <a:xfrm>
            <a:off x="564112" y="2678076"/>
            <a:ext cx="2812274" cy="300082"/>
          </a:xfrm>
          <a:prstGeom prst="rect">
            <a:avLst/>
          </a:prstGeom>
          <a:noFill/>
        </p:spPr>
        <p:txBody>
          <a:bodyPr wrap="square" rtlCol="0">
            <a:spAutoFit/>
          </a:bodyPr>
          <a:lstStyle/>
          <a:p>
            <a:pPr algn="ctr"/>
            <a:r>
              <a:rPr lang="nb-NO" sz="1350" b="1" dirty="0"/>
              <a:t>landscape </a:t>
            </a:r>
            <a:r>
              <a:rPr lang="nb-NO" sz="1350" b="1" dirty="0" err="1"/>
              <a:t>perspective</a:t>
            </a:r>
            <a:endParaRPr lang="nb-NO" sz="1350" b="1" dirty="0"/>
          </a:p>
        </p:txBody>
      </p:sp>
      <p:sp>
        <p:nvSpPr>
          <p:cNvPr id="50" name="TextBox 49">
            <a:extLst>
              <a:ext uri="{FF2B5EF4-FFF2-40B4-BE49-F238E27FC236}">
                <a16:creationId xmlns:a16="http://schemas.microsoft.com/office/drawing/2014/main" id="{59F155F7-61C9-E438-93D4-4568074AD13A}"/>
              </a:ext>
            </a:extLst>
          </p:cNvPr>
          <p:cNvSpPr txBox="1"/>
          <p:nvPr/>
        </p:nvSpPr>
        <p:spPr>
          <a:xfrm>
            <a:off x="5577679" y="2678901"/>
            <a:ext cx="2812274" cy="300082"/>
          </a:xfrm>
          <a:prstGeom prst="rect">
            <a:avLst/>
          </a:prstGeom>
          <a:noFill/>
        </p:spPr>
        <p:txBody>
          <a:bodyPr wrap="square" rtlCol="0">
            <a:spAutoFit/>
          </a:bodyPr>
          <a:lstStyle/>
          <a:p>
            <a:pPr algn="ctr"/>
            <a:r>
              <a:rPr lang="nb-NO" sz="1350" b="1" dirty="0"/>
              <a:t>multiple </a:t>
            </a:r>
            <a:r>
              <a:rPr lang="nb-NO" sz="1350" b="1" dirty="0" err="1"/>
              <a:t>paths</a:t>
            </a:r>
            <a:endParaRPr lang="nb-NO" sz="1350" b="1" dirty="0"/>
          </a:p>
        </p:txBody>
      </p:sp>
      <p:pic>
        <p:nvPicPr>
          <p:cNvPr id="3074" name="Picture 2" descr="Circuitscape">
            <a:extLst>
              <a:ext uri="{FF2B5EF4-FFF2-40B4-BE49-F238E27FC236}">
                <a16:creationId xmlns:a16="http://schemas.microsoft.com/office/drawing/2014/main" id="{8D574DD6-35FE-15D7-3996-9B94B1D5467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25052" y="2943998"/>
            <a:ext cx="2494457" cy="21106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16082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8DF71A-8113-713A-EE82-9C68277F9C1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0279295-E3C0-4EB5-6F60-DA532AFBF85E}"/>
              </a:ext>
            </a:extLst>
          </p:cNvPr>
          <p:cNvSpPr/>
          <p:nvPr/>
        </p:nvSpPr>
        <p:spPr>
          <a:xfrm>
            <a:off x="0" y="0"/>
            <a:ext cx="9132424" cy="513916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grpSp>
        <p:nvGrpSpPr>
          <p:cNvPr id="6" name="Group 5">
            <a:extLst>
              <a:ext uri="{FF2B5EF4-FFF2-40B4-BE49-F238E27FC236}">
                <a16:creationId xmlns:a16="http://schemas.microsoft.com/office/drawing/2014/main" id="{B628D5E5-8AB7-1926-5286-F6094B37C0B7}"/>
              </a:ext>
            </a:extLst>
          </p:cNvPr>
          <p:cNvGrpSpPr/>
          <p:nvPr/>
        </p:nvGrpSpPr>
        <p:grpSpPr>
          <a:xfrm>
            <a:off x="413439" y="191249"/>
            <a:ext cx="3301724" cy="1822467"/>
            <a:chOff x="965691" y="965468"/>
            <a:chExt cx="4402299" cy="2429956"/>
          </a:xfrm>
        </p:grpSpPr>
        <p:pic>
          <p:nvPicPr>
            <p:cNvPr id="3" name="Picture 2">
              <a:extLst>
                <a:ext uri="{FF2B5EF4-FFF2-40B4-BE49-F238E27FC236}">
                  <a16:creationId xmlns:a16="http://schemas.microsoft.com/office/drawing/2014/main" id="{DB9A842B-B7DA-1E28-B77B-77FE5A41F700}"/>
                </a:ext>
              </a:extLst>
            </p:cNvPr>
            <p:cNvPicPr>
              <a:picLocks noChangeAspect="1"/>
            </p:cNvPicPr>
            <p:nvPr/>
          </p:nvPicPr>
          <p:blipFill>
            <a:blip r:embed="rId2"/>
            <a:stretch>
              <a:fillRect/>
            </a:stretch>
          </p:blipFill>
          <p:spPr>
            <a:xfrm>
              <a:off x="965692" y="1712341"/>
              <a:ext cx="4402298" cy="1683083"/>
            </a:xfrm>
            <a:prstGeom prst="rect">
              <a:avLst/>
            </a:prstGeom>
          </p:spPr>
        </p:pic>
        <p:pic>
          <p:nvPicPr>
            <p:cNvPr id="5" name="Picture 4">
              <a:extLst>
                <a:ext uri="{FF2B5EF4-FFF2-40B4-BE49-F238E27FC236}">
                  <a16:creationId xmlns:a16="http://schemas.microsoft.com/office/drawing/2014/main" id="{6ACA515F-9499-7F15-C97B-311AF31C165A}"/>
                </a:ext>
              </a:extLst>
            </p:cNvPr>
            <p:cNvPicPr>
              <a:picLocks noChangeAspect="1"/>
            </p:cNvPicPr>
            <p:nvPr/>
          </p:nvPicPr>
          <p:blipFill>
            <a:blip r:embed="rId3"/>
            <a:stretch>
              <a:fillRect/>
            </a:stretch>
          </p:blipFill>
          <p:spPr>
            <a:xfrm>
              <a:off x="965691" y="965468"/>
              <a:ext cx="4402298" cy="746873"/>
            </a:xfrm>
            <a:prstGeom prst="rect">
              <a:avLst/>
            </a:prstGeom>
          </p:spPr>
        </p:pic>
      </p:grpSp>
      <p:grpSp>
        <p:nvGrpSpPr>
          <p:cNvPr id="11" name="Group 10">
            <a:extLst>
              <a:ext uri="{FF2B5EF4-FFF2-40B4-BE49-F238E27FC236}">
                <a16:creationId xmlns:a16="http://schemas.microsoft.com/office/drawing/2014/main" id="{213951F7-C0C6-82E9-0637-6CF2E9C67B9F}"/>
              </a:ext>
            </a:extLst>
          </p:cNvPr>
          <p:cNvGrpSpPr/>
          <p:nvPr/>
        </p:nvGrpSpPr>
        <p:grpSpPr>
          <a:xfrm>
            <a:off x="5243642" y="191249"/>
            <a:ext cx="3301724" cy="1395284"/>
            <a:chOff x="6188956" y="254998"/>
            <a:chExt cx="4402298" cy="1860379"/>
          </a:xfrm>
        </p:grpSpPr>
        <p:pic>
          <p:nvPicPr>
            <p:cNvPr id="7" name="Picture 6">
              <a:extLst>
                <a:ext uri="{FF2B5EF4-FFF2-40B4-BE49-F238E27FC236}">
                  <a16:creationId xmlns:a16="http://schemas.microsoft.com/office/drawing/2014/main" id="{7D37A7EE-EFA1-ABDE-1A68-991088C79DFE}"/>
                </a:ext>
              </a:extLst>
            </p:cNvPr>
            <p:cNvPicPr>
              <a:picLocks noChangeAspect="1"/>
            </p:cNvPicPr>
            <p:nvPr/>
          </p:nvPicPr>
          <p:blipFill>
            <a:blip r:embed="rId4"/>
            <a:stretch>
              <a:fillRect/>
            </a:stretch>
          </p:blipFill>
          <p:spPr>
            <a:xfrm>
              <a:off x="6188956" y="254998"/>
              <a:ext cx="3924300" cy="809625"/>
            </a:xfrm>
            <a:prstGeom prst="rect">
              <a:avLst/>
            </a:prstGeom>
          </p:spPr>
        </p:pic>
        <p:pic>
          <p:nvPicPr>
            <p:cNvPr id="9" name="Picture 8">
              <a:extLst>
                <a:ext uri="{FF2B5EF4-FFF2-40B4-BE49-F238E27FC236}">
                  <a16:creationId xmlns:a16="http://schemas.microsoft.com/office/drawing/2014/main" id="{BE2E4C6D-5639-B5F0-56EB-69D431F5995E}"/>
                </a:ext>
              </a:extLst>
            </p:cNvPr>
            <p:cNvPicPr>
              <a:picLocks noChangeAspect="1"/>
            </p:cNvPicPr>
            <p:nvPr/>
          </p:nvPicPr>
          <p:blipFill>
            <a:blip r:embed="rId5"/>
            <a:stretch>
              <a:fillRect/>
            </a:stretch>
          </p:blipFill>
          <p:spPr>
            <a:xfrm>
              <a:off x="6188956" y="1064623"/>
              <a:ext cx="4402298" cy="1050754"/>
            </a:xfrm>
            <a:prstGeom prst="rect">
              <a:avLst/>
            </a:prstGeom>
          </p:spPr>
        </p:pic>
        <p:sp>
          <p:nvSpPr>
            <p:cNvPr id="10" name="Rectangle 9">
              <a:extLst>
                <a:ext uri="{FF2B5EF4-FFF2-40B4-BE49-F238E27FC236}">
                  <a16:creationId xmlns:a16="http://schemas.microsoft.com/office/drawing/2014/main" id="{7252F6A7-26A6-5ECD-1E44-735AF18B946A}"/>
                </a:ext>
              </a:extLst>
            </p:cNvPr>
            <p:cNvSpPr/>
            <p:nvPr/>
          </p:nvSpPr>
          <p:spPr>
            <a:xfrm>
              <a:off x="10113256" y="254998"/>
              <a:ext cx="477996" cy="809625"/>
            </a:xfrm>
            <a:prstGeom prst="rect">
              <a:avLst/>
            </a:prstGeom>
            <a:solidFill>
              <a:srgbClr val="EEEE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grpSp>
      <p:sp>
        <p:nvSpPr>
          <p:cNvPr id="13" name="Arrow: Right 12">
            <a:extLst>
              <a:ext uri="{FF2B5EF4-FFF2-40B4-BE49-F238E27FC236}">
                <a16:creationId xmlns:a16="http://schemas.microsoft.com/office/drawing/2014/main" id="{3E2811B7-7D00-8AF3-1707-EF8A257F5012}"/>
              </a:ext>
            </a:extLst>
          </p:cNvPr>
          <p:cNvSpPr/>
          <p:nvPr/>
        </p:nvSpPr>
        <p:spPr>
          <a:xfrm rot="2490974">
            <a:off x="3670757" y="1683338"/>
            <a:ext cx="733806" cy="36347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14" name="Arrow: Right 13">
            <a:extLst>
              <a:ext uri="{FF2B5EF4-FFF2-40B4-BE49-F238E27FC236}">
                <a16:creationId xmlns:a16="http://schemas.microsoft.com/office/drawing/2014/main" id="{65489656-6FCD-1377-D9B7-42C4BDC47563}"/>
              </a:ext>
            </a:extLst>
          </p:cNvPr>
          <p:cNvSpPr/>
          <p:nvPr/>
        </p:nvSpPr>
        <p:spPr>
          <a:xfrm rot="19109026" flipH="1">
            <a:off x="4599136" y="1684160"/>
            <a:ext cx="733806" cy="36347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15" name="Oval 14">
            <a:extLst>
              <a:ext uri="{FF2B5EF4-FFF2-40B4-BE49-F238E27FC236}">
                <a16:creationId xmlns:a16="http://schemas.microsoft.com/office/drawing/2014/main" id="{9F0A18A1-7F95-F5F2-1226-698BB32C5487}"/>
              </a:ext>
            </a:extLst>
          </p:cNvPr>
          <p:cNvSpPr/>
          <p:nvPr/>
        </p:nvSpPr>
        <p:spPr>
          <a:xfrm>
            <a:off x="413437" y="261492"/>
            <a:ext cx="593061" cy="345022"/>
          </a:xfrm>
          <a:prstGeom prst="ellipse">
            <a:avLst/>
          </a:prstGeom>
          <a:noFill/>
          <a:ln w="571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16" name="Oval 15">
            <a:extLst>
              <a:ext uri="{FF2B5EF4-FFF2-40B4-BE49-F238E27FC236}">
                <a16:creationId xmlns:a16="http://schemas.microsoft.com/office/drawing/2014/main" id="{6C6B0F89-921C-B632-5AD7-A5E5F4D06188}"/>
              </a:ext>
            </a:extLst>
          </p:cNvPr>
          <p:cNvSpPr/>
          <p:nvPr/>
        </p:nvSpPr>
        <p:spPr>
          <a:xfrm>
            <a:off x="6972281" y="192074"/>
            <a:ext cx="685800" cy="414440"/>
          </a:xfrm>
          <a:prstGeom prst="ellipse">
            <a:avLst/>
          </a:prstGeom>
          <a:noFill/>
          <a:ln w="571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pic>
        <p:nvPicPr>
          <p:cNvPr id="1026" name="Picture 2">
            <a:extLst>
              <a:ext uri="{FF2B5EF4-FFF2-40B4-BE49-F238E27FC236}">
                <a16:creationId xmlns:a16="http://schemas.microsoft.com/office/drawing/2014/main" id="{784742A5-A0C7-25D4-C34F-EC91D00FDB8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53621" y="2305327"/>
            <a:ext cx="2068964" cy="2396483"/>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1A1D9D15-106D-C84B-1239-3E20AF60D9C0}"/>
              </a:ext>
            </a:extLst>
          </p:cNvPr>
          <p:cNvPicPr>
            <a:picLocks noChangeAspect="1"/>
          </p:cNvPicPr>
          <p:nvPr/>
        </p:nvPicPr>
        <p:blipFill>
          <a:blip r:embed="rId7"/>
          <a:stretch>
            <a:fillRect/>
          </a:stretch>
        </p:blipFill>
        <p:spPr>
          <a:xfrm>
            <a:off x="4407688" y="2544906"/>
            <a:ext cx="4698742" cy="1549736"/>
          </a:xfrm>
          <a:prstGeom prst="rect">
            <a:avLst/>
          </a:prstGeom>
        </p:spPr>
      </p:pic>
      <p:pic>
        <p:nvPicPr>
          <p:cNvPr id="20" name="Picture 19">
            <a:extLst>
              <a:ext uri="{FF2B5EF4-FFF2-40B4-BE49-F238E27FC236}">
                <a16:creationId xmlns:a16="http://schemas.microsoft.com/office/drawing/2014/main" id="{8C9E37EB-B2A0-80EE-4E29-2FCC045CBB28}"/>
              </a:ext>
            </a:extLst>
          </p:cNvPr>
          <p:cNvPicPr>
            <a:picLocks noChangeAspect="1"/>
          </p:cNvPicPr>
          <p:nvPr/>
        </p:nvPicPr>
        <p:blipFill>
          <a:blip r:embed="rId8"/>
          <a:stretch>
            <a:fillRect/>
          </a:stretch>
        </p:blipFill>
        <p:spPr>
          <a:xfrm>
            <a:off x="6365982" y="4341375"/>
            <a:ext cx="2740448" cy="343630"/>
          </a:xfrm>
          <a:prstGeom prst="rect">
            <a:avLst/>
          </a:prstGeom>
        </p:spPr>
      </p:pic>
    </p:spTree>
    <p:extLst>
      <p:ext uri="{BB962C8B-B14F-4D97-AF65-F5344CB8AC3E}">
        <p14:creationId xmlns:p14="http://schemas.microsoft.com/office/powerpoint/2010/main" val="30144541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B2F5C0-86CC-8505-CFB9-4CE44BF086DF}"/>
              </a:ext>
            </a:extLst>
          </p:cNvPr>
          <p:cNvSpPr>
            <a:spLocks noGrp="1"/>
          </p:cNvSpPr>
          <p:nvPr>
            <p:ph type="title"/>
          </p:nvPr>
        </p:nvSpPr>
        <p:spPr/>
        <p:txBody>
          <a:bodyPr/>
          <a:lstStyle/>
          <a:p>
            <a:r>
              <a:rPr lang="nb-NO" dirty="0" err="1"/>
              <a:t>Why</a:t>
            </a:r>
            <a:r>
              <a:rPr lang="nb-NO" dirty="0"/>
              <a:t> </a:t>
            </a:r>
            <a:r>
              <a:rPr lang="nb-NO" dirty="0" err="1"/>
              <a:t>ConScape</a:t>
            </a:r>
            <a:r>
              <a:rPr lang="nb-NO" dirty="0"/>
              <a:t>?</a:t>
            </a:r>
          </a:p>
        </p:txBody>
      </p:sp>
      <p:pic>
        <p:nvPicPr>
          <p:cNvPr id="9" name="Picture 8">
            <a:extLst>
              <a:ext uri="{FF2B5EF4-FFF2-40B4-BE49-F238E27FC236}">
                <a16:creationId xmlns:a16="http://schemas.microsoft.com/office/drawing/2014/main" id="{5DDD0A6E-A9C3-1069-0841-61D9F00F63C7}"/>
              </a:ext>
            </a:extLst>
          </p:cNvPr>
          <p:cNvPicPr>
            <a:picLocks noChangeAspect="1"/>
          </p:cNvPicPr>
          <p:nvPr/>
        </p:nvPicPr>
        <p:blipFill>
          <a:blip r:embed="rId2"/>
          <a:stretch>
            <a:fillRect/>
          </a:stretch>
        </p:blipFill>
        <p:spPr>
          <a:xfrm>
            <a:off x="2214061" y="1063229"/>
            <a:ext cx="4367742" cy="3864397"/>
          </a:xfrm>
          <a:prstGeom prst="rect">
            <a:avLst/>
          </a:prstGeom>
        </p:spPr>
      </p:pic>
      <p:sp>
        <p:nvSpPr>
          <p:cNvPr id="10" name="TextBox 9">
            <a:extLst>
              <a:ext uri="{FF2B5EF4-FFF2-40B4-BE49-F238E27FC236}">
                <a16:creationId xmlns:a16="http://schemas.microsoft.com/office/drawing/2014/main" id="{D93D8E89-E255-E484-CEB2-E55E02725E4F}"/>
              </a:ext>
            </a:extLst>
          </p:cNvPr>
          <p:cNvSpPr txBox="1"/>
          <p:nvPr/>
        </p:nvSpPr>
        <p:spPr>
          <a:xfrm>
            <a:off x="690061" y="1597313"/>
            <a:ext cx="1524000" cy="646331"/>
          </a:xfrm>
          <a:prstGeom prst="rect">
            <a:avLst/>
          </a:prstGeom>
          <a:noFill/>
        </p:spPr>
        <p:txBody>
          <a:bodyPr wrap="square" rtlCol="0">
            <a:spAutoFit/>
          </a:bodyPr>
          <a:lstStyle/>
          <a:p>
            <a:pPr algn="ctr"/>
            <a:r>
              <a:rPr lang="nb-NO" dirty="0"/>
              <a:t>Habitat </a:t>
            </a:r>
            <a:r>
              <a:rPr lang="nb-NO" dirty="0" err="1"/>
              <a:t>models</a:t>
            </a:r>
            <a:endParaRPr lang="nb-NO" dirty="0"/>
          </a:p>
        </p:txBody>
      </p:sp>
      <p:sp>
        <p:nvSpPr>
          <p:cNvPr id="11" name="TextBox 10">
            <a:extLst>
              <a:ext uri="{FF2B5EF4-FFF2-40B4-BE49-F238E27FC236}">
                <a16:creationId xmlns:a16="http://schemas.microsoft.com/office/drawing/2014/main" id="{A40B5CC3-79B8-655D-E29E-9908D2BDDBF7}"/>
              </a:ext>
            </a:extLst>
          </p:cNvPr>
          <p:cNvSpPr txBox="1"/>
          <p:nvPr/>
        </p:nvSpPr>
        <p:spPr>
          <a:xfrm>
            <a:off x="690061" y="3757105"/>
            <a:ext cx="1524000" cy="646331"/>
          </a:xfrm>
          <a:prstGeom prst="rect">
            <a:avLst/>
          </a:prstGeom>
          <a:noFill/>
        </p:spPr>
        <p:txBody>
          <a:bodyPr wrap="square" rtlCol="0">
            <a:spAutoFit/>
          </a:bodyPr>
          <a:lstStyle/>
          <a:p>
            <a:pPr algn="ctr"/>
            <a:r>
              <a:rPr lang="nb-NO" dirty="0"/>
              <a:t>Network</a:t>
            </a:r>
          </a:p>
          <a:p>
            <a:pPr algn="ctr"/>
            <a:r>
              <a:rPr lang="nb-NO" dirty="0" err="1"/>
              <a:t>models</a:t>
            </a:r>
            <a:endParaRPr lang="nb-NO" dirty="0"/>
          </a:p>
        </p:txBody>
      </p:sp>
    </p:spTree>
    <p:extLst>
      <p:ext uri="{BB962C8B-B14F-4D97-AF65-F5344CB8AC3E}">
        <p14:creationId xmlns:p14="http://schemas.microsoft.com/office/powerpoint/2010/main" val="17957429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E5BDA-5C96-3763-7384-8A755C05DC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35AC2D-F996-2E66-DADB-2AB6DEAAEC52}"/>
              </a:ext>
            </a:extLst>
          </p:cNvPr>
          <p:cNvSpPr>
            <a:spLocks noGrp="1"/>
          </p:cNvSpPr>
          <p:nvPr>
            <p:ph type="title"/>
          </p:nvPr>
        </p:nvSpPr>
        <p:spPr/>
        <p:txBody>
          <a:bodyPr/>
          <a:lstStyle/>
          <a:p>
            <a:r>
              <a:rPr lang="nb-NO" dirty="0" err="1"/>
              <a:t>Why</a:t>
            </a:r>
            <a:r>
              <a:rPr lang="nb-NO" dirty="0"/>
              <a:t> </a:t>
            </a:r>
            <a:r>
              <a:rPr lang="nb-NO" dirty="0" err="1"/>
              <a:t>ConScape</a:t>
            </a:r>
            <a:r>
              <a:rPr lang="nb-NO" dirty="0"/>
              <a:t>?</a:t>
            </a:r>
          </a:p>
        </p:txBody>
      </p:sp>
      <p:pic>
        <p:nvPicPr>
          <p:cNvPr id="9" name="Picture 8">
            <a:extLst>
              <a:ext uri="{FF2B5EF4-FFF2-40B4-BE49-F238E27FC236}">
                <a16:creationId xmlns:a16="http://schemas.microsoft.com/office/drawing/2014/main" id="{05184FCE-636F-4DCB-C0AD-E5A0B0F8402D}"/>
              </a:ext>
            </a:extLst>
          </p:cNvPr>
          <p:cNvPicPr>
            <a:picLocks noChangeAspect="1"/>
          </p:cNvPicPr>
          <p:nvPr/>
        </p:nvPicPr>
        <p:blipFill>
          <a:blip r:embed="rId2"/>
          <a:stretch>
            <a:fillRect/>
          </a:stretch>
        </p:blipFill>
        <p:spPr>
          <a:xfrm>
            <a:off x="310754" y="1698713"/>
            <a:ext cx="2296880" cy="2032184"/>
          </a:xfrm>
          <a:prstGeom prst="rect">
            <a:avLst/>
          </a:prstGeom>
        </p:spPr>
      </p:pic>
      <p:sp>
        <p:nvSpPr>
          <p:cNvPr id="4" name="Freeform: Shape 3">
            <a:extLst>
              <a:ext uri="{FF2B5EF4-FFF2-40B4-BE49-F238E27FC236}">
                <a16:creationId xmlns:a16="http://schemas.microsoft.com/office/drawing/2014/main" id="{E909BE5A-CA76-0D09-E1FE-24F40875F3AC}"/>
              </a:ext>
            </a:extLst>
          </p:cNvPr>
          <p:cNvSpPr/>
          <p:nvPr/>
        </p:nvSpPr>
        <p:spPr>
          <a:xfrm rot="20853620">
            <a:off x="2148026" y="1648142"/>
            <a:ext cx="3061608" cy="840542"/>
          </a:xfrm>
          <a:custGeom>
            <a:avLst/>
            <a:gdLst>
              <a:gd name="connsiteX0" fmla="*/ 0 w 3061608"/>
              <a:gd name="connsiteY0" fmla="*/ 938893 h 1074962"/>
              <a:gd name="connsiteX1" fmla="*/ 1363436 w 3061608"/>
              <a:gd name="connsiteY1" fmla="*/ 996043 h 1074962"/>
              <a:gd name="connsiteX2" fmla="*/ 3061608 w 3061608"/>
              <a:gd name="connsiteY2" fmla="*/ 0 h 1074962"/>
            </a:gdLst>
            <a:ahLst/>
            <a:cxnLst>
              <a:cxn ang="0">
                <a:pos x="connsiteX0" y="connsiteY0"/>
              </a:cxn>
              <a:cxn ang="0">
                <a:pos x="connsiteX1" y="connsiteY1"/>
              </a:cxn>
              <a:cxn ang="0">
                <a:pos x="connsiteX2" y="connsiteY2"/>
              </a:cxn>
            </a:cxnLst>
            <a:rect l="l" t="t" r="r" b="b"/>
            <a:pathLst>
              <a:path w="3061608" h="1074962">
                <a:moveTo>
                  <a:pt x="0" y="938893"/>
                </a:moveTo>
                <a:cubicBezTo>
                  <a:pt x="426584" y="1045709"/>
                  <a:pt x="853168" y="1152525"/>
                  <a:pt x="1363436" y="996043"/>
                </a:cubicBezTo>
                <a:cubicBezTo>
                  <a:pt x="1873704" y="839561"/>
                  <a:pt x="2467656" y="419780"/>
                  <a:pt x="3061608" y="0"/>
                </a:cubicBezTo>
              </a:path>
            </a:pathLst>
          </a:custGeom>
          <a:noFill/>
          <a:ln w="38100">
            <a:solidFill>
              <a:schemeClr val="tx1">
                <a:lumMod val="85000"/>
                <a:lumOff val="15000"/>
              </a:schemeClr>
            </a:solidFill>
            <a:headEnd type="none" w="med" len="med"/>
            <a:tailEnd type="triangle" w="med" len="med"/>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nb-NO"/>
          </a:p>
        </p:txBody>
      </p:sp>
      <p:sp>
        <p:nvSpPr>
          <p:cNvPr id="5" name="Freeform: Shape 4">
            <a:extLst>
              <a:ext uri="{FF2B5EF4-FFF2-40B4-BE49-F238E27FC236}">
                <a16:creationId xmlns:a16="http://schemas.microsoft.com/office/drawing/2014/main" id="{1E93361F-AA16-F857-7234-C34D1058636B}"/>
              </a:ext>
            </a:extLst>
          </p:cNvPr>
          <p:cNvSpPr/>
          <p:nvPr/>
        </p:nvSpPr>
        <p:spPr>
          <a:xfrm rot="746380" flipV="1">
            <a:off x="2158188" y="2924914"/>
            <a:ext cx="3061608" cy="840542"/>
          </a:xfrm>
          <a:custGeom>
            <a:avLst/>
            <a:gdLst>
              <a:gd name="connsiteX0" fmla="*/ 0 w 3061608"/>
              <a:gd name="connsiteY0" fmla="*/ 938893 h 1074962"/>
              <a:gd name="connsiteX1" fmla="*/ 1363436 w 3061608"/>
              <a:gd name="connsiteY1" fmla="*/ 996043 h 1074962"/>
              <a:gd name="connsiteX2" fmla="*/ 3061608 w 3061608"/>
              <a:gd name="connsiteY2" fmla="*/ 0 h 1074962"/>
            </a:gdLst>
            <a:ahLst/>
            <a:cxnLst>
              <a:cxn ang="0">
                <a:pos x="connsiteX0" y="connsiteY0"/>
              </a:cxn>
              <a:cxn ang="0">
                <a:pos x="connsiteX1" y="connsiteY1"/>
              </a:cxn>
              <a:cxn ang="0">
                <a:pos x="connsiteX2" y="connsiteY2"/>
              </a:cxn>
            </a:cxnLst>
            <a:rect l="l" t="t" r="r" b="b"/>
            <a:pathLst>
              <a:path w="3061608" h="1074962">
                <a:moveTo>
                  <a:pt x="0" y="938893"/>
                </a:moveTo>
                <a:cubicBezTo>
                  <a:pt x="426584" y="1045709"/>
                  <a:pt x="853168" y="1152525"/>
                  <a:pt x="1363436" y="996043"/>
                </a:cubicBezTo>
                <a:cubicBezTo>
                  <a:pt x="1873704" y="839561"/>
                  <a:pt x="2467656" y="419780"/>
                  <a:pt x="3061608" y="0"/>
                </a:cubicBezTo>
              </a:path>
            </a:pathLst>
          </a:custGeom>
          <a:noFill/>
          <a:ln w="38100">
            <a:solidFill>
              <a:schemeClr val="tx1">
                <a:lumMod val="85000"/>
                <a:lumOff val="15000"/>
              </a:schemeClr>
            </a:solidFill>
            <a:headEnd type="none" w="med" len="med"/>
            <a:tailEnd type="triangle" w="med" len="med"/>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nb-NO"/>
          </a:p>
        </p:txBody>
      </p:sp>
      <p:cxnSp>
        <p:nvCxnSpPr>
          <p:cNvPr id="7" name="Straight Arrow Connector 6">
            <a:extLst>
              <a:ext uri="{FF2B5EF4-FFF2-40B4-BE49-F238E27FC236}">
                <a16:creationId xmlns:a16="http://schemas.microsoft.com/office/drawing/2014/main" id="{63C199F9-E40D-DC6D-8495-7D5967F17566}"/>
              </a:ext>
            </a:extLst>
          </p:cNvPr>
          <p:cNvCxnSpPr>
            <a:stCxn id="5" idx="0"/>
          </p:cNvCxnSpPr>
          <p:nvPr/>
        </p:nvCxnSpPr>
        <p:spPr>
          <a:xfrm flipV="1">
            <a:off x="2261738" y="2682149"/>
            <a:ext cx="2797944" cy="26777"/>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3" name="Picture 2">
            <a:extLst>
              <a:ext uri="{FF2B5EF4-FFF2-40B4-BE49-F238E27FC236}">
                <a16:creationId xmlns:a16="http://schemas.microsoft.com/office/drawing/2014/main" id="{5830AF4E-513D-134D-4CC7-219EDFC09350}"/>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foregroundMark x1="42810" y1="36438" x2="42810" y2="36438"/>
                        <a14:foregroundMark x1="64542" y1="34967" x2="64542" y2="34967"/>
                      </a14:backgroundRemoval>
                    </a14:imgEffect>
                  </a14:imgLayer>
                </a14:imgProps>
              </a:ext>
            </a:extLst>
          </a:blip>
          <a:stretch>
            <a:fillRect/>
          </a:stretch>
        </p:blipFill>
        <p:spPr>
          <a:xfrm>
            <a:off x="2621010" y="1746703"/>
            <a:ext cx="1520449" cy="1520449"/>
          </a:xfrm>
          <a:prstGeom prst="rect">
            <a:avLst/>
          </a:prstGeom>
        </p:spPr>
      </p:pic>
      <p:sp>
        <p:nvSpPr>
          <p:cNvPr id="8" name="TextBox 7">
            <a:extLst>
              <a:ext uri="{FF2B5EF4-FFF2-40B4-BE49-F238E27FC236}">
                <a16:creationId xmlns:a16="http://schemas.microsoft.com/office/drawing/2014/main" id="{0685F060-3910-26F0-E7A1-807C57A9063F}"/>
              </a:ext>
            </a:extLst>
          </p:cNvPr>
          <p:cNvSpPr txBox="1"/>
          <p:nvPr/>
        </p:nvSpPr>
        <p:spPr>
          <a:xfrm>
            <a:off x="5059683" y="1134259"/>
            <a:ext cx="3650827" cy="369332"/>
          </a:xfrm>
          <a:prstGeom prst="rect">
            <a:avLst/>
          </a:prstGeom>
          <a:noFill/>
        </p:spPr>
        <p:txBody>
          <a:bodyPr wrap="square" rtlCol="0">
            <a:spAutoFit/>
          </a:bodyPr>
          <a:lstStyle/>
          <a:p>
            <a:r>
              <a:rPr lang="nb-NO" dirty="0"/>
              <a:t>Dashboards of </a:t>
            </a:r>
            <a:r>
              <a:rPr lang="nb-NO" dirty="0" err="1"/>
              <a:t>cumulative</a:t>
            </a:r>
            <a:r>
              <a:rPr lang="nb-NO" dirty="0"/>
              <a:t> </a:t>
            </a:r>
            <a:r>
              <a:rPr lang="nb-NO" dirty="0" err="1"/>
              <a:t>impacts</a:t>
            </a:r>
            <a:endParaRPr lang="nb-NO" dirty="0"/>
          </a:p>
        </p:txBody>
      </p:sp>
      <p:pic>
        <p:nvPicPr>
          <p:cNvPr id="14" name="Picture 13">
            <a:extLst>
              <a:ext uri="{FF2B5EF4-FFF2-40B4-BE49-F238E27FC236}">
                <a16:creationId xmlns:a16="http://schemas.microsoft.com/office/drawing/2014/main" id="{01471645-5DF6-C443-CD38-09CAFF9B0555}"/>
              </a:ext>
            </a:extLst>
          </p:cNvPr>
          <p:cNvPicPr>
            <a:picLocks noChangeAspect="1"/>
          </p:cNvPicPr>
          <p:nvPr/>
        </p:nvPicPr>
        <p:blipFill>
          <a:blip r:embed="rId5"/>
          <a:srcRect l="24087" t="10505"/>
          <a:stretch/>
        </p:blipFill>
        <p:spPr>
          <a:xfrm>
            <a:off x="6678510" y="1503591"/>
            <a:ext cx="1667670" cy="1061869"/>
          </a:xfrm>
          <a:prstGeom prst="rect">
            <a:avLst/>
          </a:prstGeom>
        </p:spPr>
      </p:pic>
      <p:sp>
        <p:nvSpPr>
          <p:cNvPr id="15" name="TextBox 14">
            <a:extLst>
              <a:ext uri="{FF2B5EF4-FFF2-40B4-BE49-F238E27FC236}">
                <a16:creationId xmlns:a16="http://schemas.microsoft.com/office/drawing/2014/main" id="{BEAE2AAA-3593-FEEC-515F-F00432782B93}"/>
              </a:ext>
            </a:extLst>
          </p:cNvPr>
          <p:cNvSpPr txBox="1"/>
          <p:nvPr/>
        </p:nvSpPr>
        <p:spPr>
          <a:xfrm>
            <a:off x="5063071" y="2485537"/>
            <a:ext cx="3650827" cy="369332"/>
          </a:xfrm>
          <a:prstGeom prst="rect">
            <a:avLst/>
          </a:prstGeom>
          <a:noFill/>
        </p:spPr>
        <p:txBody>
          <a:bodyPr wrap="square" rtlCol="0">
            <a:spAutoFit/>
          </a:bodyPr>
          <a:lstStyle/>
          <a:p>
            <a:r>
              <a:rPr lang="nb-NO" dirty="0"/>
              <a:t>Scenario </a:t>
            </a:r>
            <a:r>
              <a:rPr lang="nb-NO" dirty="0" err="1"/>
              <a:t>analysis</a:t>
            </a:r>
            <a:endParaRPr lang="nb-NO" dirty="0"/>
          </a:p>
        </p:txBody>
      </p:sp>
      <p:pic>
        <p:nvPicPr>
          <p:cNvPr id="18" name="Picture 17">
            <a:extLst>
              <a:ext uri="{FF2B5EF4-FFF2-40B4-BE49-F238E27FC236}">
                <a16:creationId xmlns:a16="http://schemas.microsoft.com/office/drawing/2014/main" id="{573B9176-AB83-E30C-F839-39A4DDD7AED3}"/>
              </a:ext>
            </a:extLst>
          </p:cNvPr>
          <p:cNvPicPr>
            <a:picLocks noChangeAspect="1"/>
          </p:cNvPicPr>
          <p:nvPr/>
        </p:nvPicPr>
        <p:blipFill>
          <a:blip r:embed="rId6"/>
          <a:stretch>
            <a:fillRect/>
          </a:stretch>
        </p:blipFill>
        <p:spPr>
          <a:xfrm>
            <a:off x="6396853" y="2854869"/>
            <a:ext cx="983261" cy="1106169"/>
          </a:xfrm>
          <a:prstGeom prst="rect">
            <a:avLst/>
          </a:prstGeom>
        </p:spPr>
      </p:pic>
      <p:sp>
        <p:nvSpPr>
          <p:cNvPr id="19" name="TextBox 18">
            <a:extLst>
              <a:ext uri="{FF2B5EF4-FFF2-40B4-BE49-F238E27FC236}">
                <a16:creationId xmlns:a16="http://schemas.microsoft.com/office/drawing/2014/main" id="{09250FE3-4E7A-BABC-6B11-2EA150FD540D}"/>
              </a:ext>
            </a:extLst>
          </p:cNvPr>
          <p:cNvSpPr txBox="1"/>
          <p:nvPr/>
        </p:nvSpPr>
        <p:spPr>
          <a:xfrm>
            <a:off x="5086779" y="3911324"/>
            <a:ext cx="4084318" cy="923330"/>
          </a:xfrm>
          <a:prstGeom prst="rect">
            <a:avLst/>
          </a:prstGeom>
          <a:noFill/>
        </p:spPr>
        <p:txBody>
          <a:bodyPr wrap="square" rtlCol="0">
            <a:spAutoFit/>
          </a:bodyPr>
          <a:lstStyle/>
          <a:p>
            <a:r>
              <a:rPr lang="nb-NO" dirty="0"/>
              <a:t>Spatial </a:t>
            </a:r>
            <a:r>
              <a:rPr lang="nb-NO" dirty="0" err="1"/>
              <a:t>prioritization</a:t>
            </a:r>
            <a:r>
              <a:rPr lang="nb-NO" dirty="0"/>
              <a:t> of </a:t>
            </a:r>
          </a:p>
          <a:p>
            <a:r>
              <a:rPr lang="nb-NO" dirty="0" err="1"/>
              <a:t>conservation</a:t>
            </a:r>
            <a:r>
              <a:rPr lang="nb-NO" dirty="0"/>
              <a:t> and </a:t>
            </a:r>
            <a:r>
              <a:rPr lang="nb-NO" dirty="0" err="1"/>
              <a:t>restoration</a:t>
            </a:r>
            <a:r>
              <a:rPr lang="nb-NO" dirty="0"/>
              <a:t> </a:t>
            </a:r>
          </a:p>
          <a:p>
            <a:r>
              <a:rPr lang="nb-NO" dirty="0" err="1"/>
              <a:t>through</a:t>
            </a:r>
            <a:r>
              <a:rPr lang="nb-NO" dirty="0"/>
              <a:t> </a:t>
            </a:r>
            <a:r>
              <a:rPr lang="nb-NO" dirty="0" err="1"/>
              <a:t>sensitivity</a:t>
            </a:r>
            <a:r>
              <a:rPr lang="nb-NO" dirty="0"/>
              <a:t> </a:t>
            </a:r>
            <a:r>
              <a:rPr lang="nb-NO" dirty="0" err="1"/>
              <a:t>analysis</a:t>
            </a:r>
            <a:endParaRPr lang="nb-NO" dirty="0"/>
          </a:p>
        </p:txBody>
      </p:sp>
      <p:pic>
        <p:nvPicPr>
          <p:cNvPr id="20" name="Picture 19">
            <a:extLst>
              <a:ext uri="{FF2B5EF4-FFF2-40B4-BE49-F238E27FC236}">
                <a16:creationId xmlns:a16="http://schemas.microsoft.com/office/drawing/2014/main" id="{E293D2ED-CFD9-BBD1-3B2A-5BF3986C6C59}"/>
              </a:ext>
            </a:extLst>
          </p:cNvPr>
          <p:cNvPicPr>
            <a:picLocks noChangeAspect="1"/>
          </p:cNvPicPr>
          <p:nvPr/>
        </p:nvPicPr>
        <p:blipFill>
          <a:blip r:embed="rId7"/>
          <a:stretch>
            <a:fillRect/>
          </a:stretch>
        </p:blipFill>
        <p:spPr>
          <a:xfrm>
            <a:off x="8012853" y="3119543"/>
            <a:ext cx="1131147" cy="1990714"/>
          </a:xfrm>
          <a:prstGeom prst="rect">
            <a:avLst/>
          </a:prstGeom>
        </p:spPr>
      </p:pic>
    </p:spTree>
    <p:extLst>
      <p:ext uri="{BB962C8B-B14F-4D97-AF65-F5344CB8AC3E}">
        <p14:creationId xmlns:p14="http://schemas.microsoft.com/office/powerpoint/2010/main" val="385634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8" grpId="0"/>
      <p:bldP spid="15" grpId="0"/>
      <p:bldP spid="1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488DCBC0-C492-99F0-EEF8-B0ADD73D8098}"/>
              </a:ext>
            </a:extLst>
          </p:cNvPr>
          <p:cNvSpPr>
            <a:spLocks noGrp="1"/>
          </p:cNvSpPr>
          <p:nvPr>
            <p:ph type="title"/>
          </p:nvPr>
        </p:nvSpPr>
        <p:spPr/>
        <p:txBody>
          <a:bodyPr/>
          <a:lstStyle/>
          <a:p>
            <a:r>
              <a:rPr lang="nb-NO" dirty="0" err="1"/>
              <a:t>Why</a:t>
            </a:r>
            <a:r>
              <a:rPr lang="nb-NO" dirty="0"/>
              <a:t> Julia?</a:t>
            </a:r>
          </a:p>
        </p:txBody>
      </p:sp>
      <p:sp>
        <p:nvSpPr>
          <p:cNvPr id="7" name="Content Placeholder 6">
            <a:extLst>
              <a:ext uri="{FF2B5EF4-FFF2-40B4-BE49-F238E27FC236}">
                <a16:creationId xmlns:a16="http://schemas.microsoft.com/office/drawing/2014/main" id="{23446EB7-684C-6AAC-6ABB-EC02A788C355}"/>
              </a:ext>
            </a:extLst>
          </p:cNvPr>
          <p:cNvSpPr>
            <a:spLocks noGrp="1"/>
          </p:cNvSpPr>
          <p:nvPr>
            <p:ph idx="1"/>
          </p:nvPr>
        </p:nvSpPr>
        <p:spPr/>
        <p:txBody>
          <a:bodyPr/>
          <a:lstStyle/>
          <a:p>
            <a:r>
              <a:rPr lang="nb-NO" dirty="0" err="1"/>
              <a:t>Relatively</a:t>
            </a:r>
            <a:r>
              <a:rPr lang="nb-NO" dirty="0"/>
              <a:t> </a:t>
            </a:r>
            <a:r>
              <a:rPr lang="nb-NO" dirty="0" err="1"/>
              <a:t>easy</a:t>
            </a:r>
            <a:r>
              <a:rPr lang="nb-NO" dirty="0"/>
              <a:t> to </a:t>
            </a:r>
            <a:r>
              <a:rPr lang="nb-NO" dirty="0" err="1"/>
              <a:t>write</a:t>
            </a:r>
            <a:r>
              <a:rPr lang="nb-NO" dirty="0"/>
              <a:t> (</a:t>
            </a:r>
            <a:r>
              <a:rPr lang="nb-NO" dirty="0" err="1"/>
              <a:t>unlike</a:t>
            </a:r>
            <a:r>
              <a:rPr lang="nb-NO" dirty="0"/>
              <a:t> C, </a:t>
            </a:r>
            <a:r>
              <a:rPr lang="nb-NO" dirty="0" err="1"/>
              <a:t>similar</a:t>
            </a:r>
            <a:r>
              <a:rPr lang="nb-NO" dirty="0"/>
              <a:t> to R)</a:t>
            </a:r>
          </a:p>
          <a:p>
            <a:r>
              <a:rPr lang="nb-NO" dirty="0"/>
              <a:t>Fast (</a:t>
            </a:r>
            <a:r>
              <a:rPr lang="nb-NO" dirty="0" err="1"/>
              <a:t>unlike</a:t>
            </a:r>
            <a:r>
              <a:rPr lang="nb-NO" dirty="0"/>
              <a:t> R or Python) – C like </a:t>
            </a:r>
            <a:r>
              <a:rPr lang="nb-NO" dirty="0" err="1"/>
              <a:t>performance</a:t>
            </a:r>
            <a:endParaRPr lang="nb-NO" dirty="0"/>
          </a:p>
          <a:p>
            <a:r>
              <a:rPr lang="nb-NO" dirty="0" err="1"/>
              <a:t>Overcome</a:t>
            </a:r>
            <a:r>
              <a:rPr lang="nb-NO" dirty="0"/>
              <a:t> </a:t>
            </a:r>
            <a:r>
              <a:rPr lang="nb-NO" dirty="0" err="1"/>
              <a:t>the</a:t>
            </a:r>
            <a:r>
              <a:rPr lang="nb-NO" dirty="0"/>
              <a:t> «</a:t>
            </a:r>
            <a:r>
              <a:rPr lang="nb-NO" dirty="0" err="1"/>
              <a:t>two</a:t>
            </a:r>
            <a:r>
              <a:rPr lang="nb-NO" dirty="0"/>
              <a:t> </a:t>
            </a:r>
            <a:r>
              <a:rPr lang="nb-NO" dirty="0" err="1"/>
              <a:t>language</a:t>
            </a:r>
            <a:r>
              <a:rPr lang="nb-NO" dirty="0"/>
              <a:t> problem» </a:t>
            </a:r>
          </a:p>
          <a:p>
            <a:r>
              <a:rPr lang="nb-NO" dirty="0"/>
              <a:t>Just as </a:t>
            </a:r>
            <a:r>
              <a:rPr lang="nb-NO" dirty="0" err="1"/>
              <a:t>the</a:t>
            </a:r>
            <a:r>
              <a:rPr lang="nb-NO" dirty="0"/>
              <a:t> </a:t>
            </a:r>
            <a:r>
              <a:rPr lang="nb-NO" dirty="0" err="1"/>
              <a:t>new</a:t>
            </a:r>
            <a:r>
              <a:rPr lang="nb-NO" dirty="0"/>
              <a:t> Circuitscape </a:t>
            </a:r>
            <a:r>
              <a:rPr lang="nb-NO" dirty="0" err="1"/>
              <a:t>library</a:t>
            </a:r>
            <a:endParaRPr lang="nb-NO" dirty="0"/>
          </a:p>
          <a:p>
            <a:endParaRPr lang="nb-NO" dirty="0"/>
          </a:p>
          <a:p>
            <a:endParaRPr lang="nb-NO" dirty="0"/>
          </a:p>
        </p:txBody>
      </p:sp>
    </p:spTree>
    <p:extLst>
      <p:ext uri="{BB962C8B-B14F-4D97-AF65-F5344CB8AC3E}">
        <p14:creationId xmlns:p14="http://schemas.microsoft.com/office/powerpoint/2010/main" val="16378960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AEA015-E43A-8539-6438-57EC1A7402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8AB3B9-3CCB-CCFD-4D45-3589D956AE5E}"/>
              </a:ext>
            </a:extLst>
          </p:cNvPr>
          <p:cNvSpPr>
            <a:spLocks noGrp="1"/>
          </p:cNvSpPr>
          <p:nvPr>
            <p:ph type="title"/>
          </p:nvPr>
        </p:nvSpPr>
        <p:spPr>
          <a:xfrm>
            <a:off x="457200" y="1963351"/>
            <a:ext cx="8229600" cy="857250"/>
          </a:xfrm>
        </p:spPr>
        <p:txBody>
          <a:bodyPr/>
          <a:lstStyle/>
          <a:p>
            <a:r>
              <a:rPr lang="nb-NO" dirty="0"/>
              <a:t>Key </a:t>
            </a:r>
            <a:r>
              <a:rPr lang="nb-NO" dirty="0" err="1"/>
              <a:t>concepts</a:t>
            </a:r>
            <a:endParaRPr lang="nb-NO" dirty="0"/>
          </a:p>
        </p:txBody>
      </p:sp>
    </p:spTree>
    <p:extLst>
      <p:ext uri="{BB962C8B-B14F-4D97-AF65-F5344CB8AC3E}">
        <p14:creationId xmlns:p14="http://schemas.microsoft.com/office/powerpoint/2010/main" val="27420284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lang="nb-NO" dirty="0"/>
              <a:t>The landscape as a </a:t>
            </a:r>
            <a:r>
              <a:rPr lang="nb-NO" dirty="0" err="1"/>
              <a:t>network</a:t>
            </a:r>
            <a:endParaRPr dirty="0"/>
          </a:p>
        </p:txBody>
      </p:sp>
      <p:pic>
        <p:nvPicPr>
          <p:cNvPr id="4" name="Picture 3" descr="figs/graph_representation_annotated.png"/>
          <p:cNvPicPr>
            <a:picLocks noGrp="1" noChangeAspect="1"/>
          </p:cNvPicPr>
          <p:nvPr/>
        </p:nvPicPr>
        <p:blipFill>
          <a:blip r:embed="rId2"/>
          <a:stretch>
            <a:fillRect/>
          </a:stretch>
        </p:blipFill>
        <p:spPr bwMode="auto">
          <a:xfrm>
            <a:off x="457200" y="1181792"/>
            <a:ext cx="4686300" cy="3487836"/>
          </a:xfrm>
          <a:prstGeom prst="rect">
            <a:avLst/>
          </a:prstGeom>
          <a:noFill/>
          <a:ln w="9525">
            <a:noFill/>
            <a:headEnd/>
            <a:tailEnd/>
          </a:ln>
        </p:spPr>
      </p:pic>
      <p:sp>
        <p:nvSpPr>
          <p:cNvPr id="5" name="Content Placeholder 3"/>
          <p:cNvSpPr txBox="1">
            <a:spLocks/>
          </p:cNvSpPr>
          <p:nvPr/>
        </p:nvSpPr>
        <p:spPr>
          <a:xfrm>
            <a:off x="5198269" y="2043112"/>
            <a:ext cx="4038600" cy="2022873"/>
          </a:xfrm>
          <a:prstGeom prst="rect">
            <a:avLst/>
          </a:prstGeom>
        </p:spPr>
        <p:txBody>
          <a:bodyPr/>
          <a:lstStyle>
            <a:lvl1pPr marL="342900" indent="-342900" algn="l" defTabSz="342900" rtl="0" eaLnBrk="1" latinLnBrk="0" hangingPunct="1">
              <a:spcBef>
                <a:spcPct val="20000"/>
              </a:spcBef>
              <a:buFont typeface="Arial"/>
              <a:buChar char="•"/>
              <a:defRPr sz="2400" kern="1200">
                <a:solidFill>
                  <a:schemeClr val="tx1"/>
                </a:solidFill>
                <a:latin typeface="+mn-lt"/>
                <a:ea typeface="+mn-ea"/>
                <a:cs typeface="+mn-cs"/>
              </a:defRPr>
            </a:lvl1pPr>
            <a:lvl2pPr marL="685800" indent="-342900" algn="l" defTabSz="342900" rtl="0" eaLnBrk="1" latinLnBrk="0" hangingPunct="1">
              <a:spcBef>
                <a:spcPct val="20000"/>
              </a:spcBef>
              <a:buFont typeface="Arial"/>
              <a:buChar char="–"/>
              <a:defRPr sz="2100" kern="1200">
                <a:solidFill>
                  <a:schemeClr val="tx1"/>
                </a:solidFill>
                <a:latin typeface="+mn-lt"/>
                <a:ea typeface="+mn-ea"/>
                <a:cs typeface="+mn-cs"/>
              </a:defRPr>
            </a:lvl2pPr>
            <a:lvl3pPr marL="1028700" indent="-34290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371600" indent="-34290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714500" indent="-342900" algn="l" defTabSz="342900" rtl="0" eaLnBrk="1" latinLnBrk="0" hangingPunct="1">
              <a:spcBef>
                <a:spcPct val="20000"/>
              </a:spcBef>
              <a:buFont typeface="Arial"/>
              <a:buChar char="»"/>
              <a:defRPr sz="1500" kern="1200">
                <a:solidFill>
                  <a:schemeClr val="tx1"/>
                </a:solidFill>
                <a:latin typeface="+mn-lt"/>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r>
              <a:rPr lang="en-US" dirty="0"/>
              <a:t>habitat patches with a size and/or quality</a:t>
            </a:r>
          </a:p>
          <a:p>
            <a:r>
              <a:rPr lang="en-US" dirty="0"/>
              <a:t>connections between patches</a:t>
            </a:r>
          </a:p>
        </p:txBody>
      </p:sp>
    </p:spTree>
    <p:extLst>
      <p:ext uri="{BB962C8B-B14F-4D97-AF65-F5344CB8AC3E}">
        <p14:creationId xmlns:p14="http://schemas.microsoft.com/office/powerpoint/2010/main" val="10252344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igs/continuous_landscape.PNG"/>
          <p:cNvPicPr>
            <a:picLocks noGrp="1" noChangeAspect="1"/>
          </p:cNvPicPr>
          <p:nvPr/>
        </p:nvPicPr>
        <p:blipFill>
          <a:blip r:embed="rId2"/>
          <a:stretch>
            <a:fillRect/>
          </a:stretch>
        </p:blipFill>
        <p:spPr bwMode="auto">
          <a:xfrm>
            <a:off x="457200" y="1839916"/>
            <a:ext cx="4038600" cy="2717800"/>
          </a:xfrm>
          <a:prstGeom prst="rect">
            <a:avLst/>
          </a:prstGeom>
          <a:noFill/>
          <a:ln w="9525">
            <a:noFill/>
            <a:headEnd/>
            <a:tailEnd/>
          </a:ln>
        </p:spPr>
      </p:pic>
      <p:sp>
        <p:nvSpPr>
          <p:cNvPr id="3" name="TextBox 3"/>
          <p:cNvSpPr txBox="1"/>
          <p:nvPr/>
        </p:nvSpPr>
        <p:spPr>
          <a:xfrm>
            <a:off x="457200" y="1274763"/>
            <a:ext cx="4038600" cy="508000"/>
          </a:xfrm>
          <a:prstGeom prst="rect">
            <a:avLst/>
          </a:prstGeom>
          <a:noFill/>
        </p:spPr>
        <p:txBody>
          <a:bodyPr/>
          <a:lstStyle/>
          <a:p>
            <a:pPr marL="0" lvl="0" indent="0" algn="ctr">
              <a:buNone/>
            </a:pPr>
            <a:r>
              <a:rPr dirty="0"/>
              <a:t>Continuous habitat quality</a:t>
            </a:r>
          </a:p>
        </p:txBody>
      </p:sp>
      <p:sp>
        <p:nvSpPr>
          <p:cNvPr id="4" name="Content Placeholder 3"/>
          <p:cNvSpPr>
            <a:spLocks noGrp="1"/>
          </p:cNvSpPr>
          <p:nvPr>
            <p:ph sz="half" idx="2"/>
          </p:nvPr>
        </p:nvSpPr>
        <p:spPr/>
        <p:txBody>
          <a:bodyPr/>
          <a:lstStyle/>
          <a:p>
            <a:pPr lvl="0"/>
            <a:r>
              <a:t>continuous landscapes without clear patches</a:t>
            </a:r>
          </a:p>
          <a:p>
            <a:pPr lvl="0"/>
            <a:r>
              <a:t>pixels are patches</a:t>
            </a:r>
          </a:p>
        </p:txBody>
      </p:sp>
      <p:sp>
        <p:nvSpPr>
          <p:cNvPr id="5" name="Title 1">
            <a:extLst>
              <a:ext uri="{FF2B5EF4-FFF2-40B4-BE49-F238E27FC236}">
                <a16:creationId xmlns:a16="http://schemas.microsoft.com/office/drawing/2014/main" id="{2AE4F8C1-82CE-18F5-2BBB-80A6527308A5}"/>
              </a:ext>
            </a:extLst>
          </p:cNvPr>
          <p:cNvSpPr>
            <a:spLocks noGrp="1"/>
          </p:cNvSpPr>
          <p:nvPr>
            <p:ph type="title"/>
          </p:nvPr>
        </p:nvSpPr>
        <p:spPr>
          <a:xfrm>
            <a:off x="457200" y="205979"/>
            <a:ext cx="8229600" cy="857250"/>
          </a:xfrm>
        </p:spPr>
        <p:txBody>
          <a:bodyPr/>
          <a:lstStyle/>
          <a:p>
            <a:pPr marL="0" lvl="0" indent="0">
              <a:buNone/>
            </a:pPr>
            <a:r>
              <a:rPr lang="nb-NO" dirty="0" err="1"/>
              <a:t>Continous</a:t>
            </a:r>
            <a:r>
              <a:rPr lang="nb-NO" dirty="0"/>
              <a:t> landscapes</a:t>
            </a:r>
            <a:endParaRPr dirty="0"/>
          </a:p>
        </p:txBody>
      </p:sp>
    </p:spTree>
    <p:extLst>
      <p:ext uri="{BB962C8B-B14F-4D97-AF65-F5344CB8AC3E}">
        <p14:creationId xmlns:p14="http://schemas.microsoft.com/office/powerpoint/2010/main" val="9478172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0E77F9D-0166-3180-98DD-5BFB504C0841}"/>
              </a:ext>
            </a:extLst>
          </p:cNvPr>
          <p:cNvPicPr>
            <a:picLocks noChangeAspect="1"/>
          </p:cNvPicPr>
          <p:nvPr/>
        </p:nvPicPr>
        <p:blipFill rotWithShape="1">
          <a:blip r:embed="rId2">
            <a:alphaModFix/>
          </a:blip>
          <a:srcRect l="39230" t="5940" r="21878" b="10073"/>
          <a:stretch/>
        </p:blipFill>
        <p:spPr>
          <a:xfrm>
            <a:off x="325454" y="1383466"/>
            <a:ext cx="2146728" cy="2607635"/>
          </a:xfrm>
          <a:prstGeom prst="rect">
            <a:avLst/>
          </a:prstGeom>
        </p:spPr>
      </p:pic>
      <p:sp>
        <p:nvSpPr>
          <p:cNvPr id="3" name="TextBox 2">
            <a:extLst>
              <a:ext uri="{FF2B5EF4-FFF2-40B4-BE49-F238E27FC236}">
                <a16:creationId xmlns:a16="http://schemas.microsoft.com/office/drawing/2014/main" id="{6B4751EB-F301-255F-BDB7-F7899203CADD}"/>
              </a:ext>
            </a:extLst>
          </p:cNvPr>
          <p:cNvSpPr txBox="1"/>
          <p:nvPr/>
        </p:nvSpPr>
        <p:spPr>
          <a:xfrm>
            <a:off x="546364" y="3230523"/>
            <a:ext cx="310139" cy="553998"/>
          </a:xfrm>
          <a:prstGeom prst="rect">
            <a:avLst/>
          </a:prstGeom>
          <a:noFill/>
        </p:spPr>
        <p:txBody>
          <a:bodyPr wrap="square" rtlCol="0">
            <a:spAutoFit/>
          </a:bodyPr>
          <a:lstStyle/>
          <a:p>
            <a:pPr defTabSz="685800">
              <a:defRPr/>
            </a:pPr>
            <a:r>
              <a:rPr lang="nb-NO" sz="3000">
                <a:latin typeface="Calibri" panose="020F0502020204030204"/>
              </a:rPr>
              <a:t>A</a:t>
            </a:r>
            <a:endParaRPr lang="en-GB" sz="1350">
              <a:latin typeface="Calibri" panose="020F0502020204030204"/>
            </a:endParaRPr>
          </a:p>
        </p:txBody>
      </p:sp>
      <p:sp>
        <p:nvSpPr>
          <p:cNvPr id="4" name="TextBox 3">
            <a:extLst>
              <a:ext uri="{FF2B5EF4-FFF2-40B4-BE49-F238E27FC236}">
                <a16:creationId xmlns:a16="http://schemas.microsoft.com/office/drawing/2014/main" id="{89981914-BED9-0609-0037-9B19406EEB75}"/>
              </a:ext>
            </a:extLst>
          </p:cNvPr>
          <p:cNvSpPr txBox="1"/>
          <p:nvPr/>
        </p:nvSpPr>
        <p:spPr>
          <a:xfrm>
            <a:off x="1425046" y="1480304"/>
            <a:ext cx="310139" cy="553998"/>
          </a:xfrm>
          <a:prstGeom prst="rect">
            <a:avLst/>
          </a:prstGeom>
          <a:noFill/>
        </p:spPr>
        <p:txBody>
          <a:bodyPr wrap="square" rtlCol="0">
            <a:spAutoFit/>
          </a:bodyPr>
          <a:lstStyle/>
          <a:p>
            <a:pPr defTabSz="685800">
              <a:defRPr/>
            </a:pPr>
            <a:r>
              <a:rPr lang="nb-NO" sz="3000">
                <a:latin typeface="Calibri" panose="020F0502020204030204"/>
              </a:rPr>
              <a:t>B</a:t>
            </a:r>
            <a:endParaRPr lang="en-GB" sz="1350">
              <a:latin typeface="Calibri" panose="020F0502020204030204"/>
            </a:endParaRPr>
          </a:p>
        </p:txBody>
      </p:sp>
      <p:grpSp>
        <p:nvGrpSpPr>
          <p:cNvPr id="5" name="Group 4">
            <a:extLst>
              <a:ext uri="{FF2B5EF4-FFF2-40B4-BE49-F238E27FC236}">
                <a16:creationId xmlns:a16="http://schemas.microsoft.com/office/drawing/2014/main" id="{A56B063D-313C-3A87-3E0B-EB001614FA63}"/>
              </a:ext>
            </a:extLst>
          </p:cNvPr>
          <p:cNvGrpSpPr/>
          <p:nvPr/>
        </p:nvGrpSpPr>
        <p:grpSpPr>
          <a:xfrm>
            <a:off x="285602" y="854614"/>
            <a:ext cx="2314575" cy="3855294"/>
            <a:chOff x="380802" y="1139485"/>
            <a:chExt cx="3086100" cy="5140392"/>
          </a:xfrm>
        </p:grpSpPr>
        <p:grpSp>
          <p:nvGrpSpPr>
            <p:cNvPr id="6" name="Group 5">
              <a:extLst>
                <a:ext uri="{FF2B5EF4-FFF2-40B4-BE49-F238E27FC236}">
                  <a16:creationId xmlns:a16="http://schemas.microsoft.com/office/drawing/2014/main" id="{2E004D91-8EA6-66D2-AF4C-A0BE33590C87}"/>
                </a:ext>
              </a:extLst>
            </p:cNvPr>
            <p:cNvGrpSpPr/>
            <p:nvPr/>
          </p:nvGrpSpPr>
          <p:grpSpPr>
            <a:xfrm>
              <a:off x="551462" y="1139485"/>
              <a:ext cx="2744780" cy="3280824"/>
              <a:chOff x="765544" y="912982"/>
              <a:chExt cx="3350844" cy="3840799"/>
            </a:xfrm>
          </p:grpSpPr>
          <p:sp>
            <p:nvSpPr>
              <p:cNvPr id="8" name="Rectangle 7">
                <a:extLst>
                  <a:ext uri="{FF2B5EF4-FFF2-40B4-BE49-F238E27FC236}">
                    <a16:creationId xmlns:a16="http://schemas.microsoft.com/office/drawing/2014/main" id="{17FD72F1-12D0-6739-1FF1-3F3F20F05150}"/>
                  </a:ext>
                </a:extLst>
              </p:cNvPr>
              <p:cNvSpPr/>
              <p:nvPr/>
            </p:nvSpPr>
            <p:spPr>
              <a:xfrm>
                <a:off x="765544" y="912982"/>
                <a:ext cx="3350844" cy="792678"/>
              </a:xfrm>
              <a:prstGeom prst="rect">
                <a:avLst/>
              </a:prstGeom>
            </p:spPr>
            <p:txBody>
              <a:bodyPr wrap="square">
                <a:spAutoFit/>
              </a:bodyPr>
              <a:lstStyle/>
              <a:p>
                <a:pPr algn="ctr" defTabSz="685800">
                  <a:defRPr/>
                </a:pPr>
                <a:r>
                  <a:rPr lang="en-US" sz="1500" cap="small" dirty="0">
                    <a:ln w="3175">
                      <a:noFill/>
                    </a:ln>
                    <a:latin typeface="+mj-lt"/>
                    <a:cs typeface="MV Boli" pitchFamily="2" charset="0"/>
                  </a:rPr>
                  <a:t>Euclidean Distance</a:t>
                </a:r>
              </a:p>
              <a:p>
                <a:pPr algn="ctr" defTabSz="685800">
                  <a:defRPr/>
                </a:pPr>
                <a:r>
                  <a:rPr lang="en-GB" sz="1200" i="1" dirty="0">
                    <a:latin typeface="+mj-lt"/>
                  </a:rPr>
                  <a:t> «as the craw flies»</a:t>
                </a:r>
                <a:endParaRPr lang="en-GB" sz="1200" i="1" cap="small" dirty="0">
                  <a:ln w="3175">
                    <a:solidFill>
                      <a:prstClr val="black">
                        <a:alpha val="48000"/>
                      </a:prstClr>
                    </a:solidFill>
                  </a:ln>
                  <a:effectLst>
                    <a:outerShdw blurRad="50800" dist="38100" dir="2700000" algn="tl" rotWithShape="0">
                      <a:prstClr val="black">
                        <a:lumMod val="50000"/>
                        <a:lumOff val="50000"/>
                        <a:alpha val="40000"/>
                      </a:prstClr>
                    </a:outerShdw>
                  </a:effectLst>
                  <a:latin typeface="+mj-lt"/>
                  <a:cs typeface="MV Boli" pitchFamily="2" charset="0"/>
                </a:endParaRPr>
              </a:p>
            </p:txBody>
          </p:sp>
          <p:grpSp>
            <p:nvGrpSpPr>
              <p:cNvPr id="9" name="Group 8">
                <a:extLst>
                  <a:ext uri="{FF2B5EF4-FFF2-40B4-BE49-F238E27FC236}">
                    <a16:creationId xmlns:a16="http://schemas.microsoft.com/office/drawing/2014/main" id="{1527BA41-A09E-784C-2C5F-33F1077E6276}"/>
                  </a:ext>
                </a:extLst>
              </p:cNvPr>
              <p:cNvGrpSpPr/>
              <p:nvPr/>
            </p:nvGrpSpPr>
            <p:grpSpPr>
              <a:xfrm>
                <a:off x="1576174" y="3079258"/>
                <a:ext cx="1007977" cy="1674523"/>
                <a:chOff x="1576174" y="3079258"/>
                <a:chExt cx="1007977" cy="1674523"/>
              </a:xfrm>
            </p:grpSpPr>
            <p:cxnSp>
              <p:nvCxnSpPr>
                <p:cNvPr id="10" name="Straight Connector 9">
                  <a:extLst>
                    <a:ext uri="{FF2B5EF4-FFF2-40B4-BE49-F238E27FC236}">
                      <a16:creationId xmlns:a16="http://schemas.microsoft.com/office/drawing/2014/main" id="{5574CFE4-E2BC-005C-31A2-ED31DB84CE13}"/>
                    </a:ext>
                  </a:extLst>
                </p:cNvPr>
                <p:cNvCxnSpPr>
                  <a:cxnSpLocks/>
                </p:cNvCxnSpPr>
                <p:nvPr/>
              </p:nvCxnSpPr>
              <p:spPr>
                <a:xfrm flipV="1">
                  <a:off x="1740499" y="3079258"/>
                  <a:ext cx="843652" cy="1674523"/>
                </a:xfrm>
                <a:prstGeom prst="line">
                  <a:avLst/>
                </a:prstGeom>
                <a:ln w="571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pic>
              <p:nvPicPr>
                <p:cNvPr id="11" name="Picture 2" descr="Related image">
                  <a:extLst>
                    <a:ext uri="{FF2B5EF4-FFF2-40B4-BE49-F238E27FC236}">
                      <a16:creationId xmlns:a16="http://schemas.microsoft.com/office/drawing/2014/main" id="{2891950B-01E8-9A72-E3E7-97E99F89282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9973944">
                  <a:off x="1576174" y="3309352"/>
                  <a:ext cx="924801" cy="816001"/>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7" name="Rectangle 6">
              <a:extLst>
                <a:ext uri="{FF2B5EF4-FFF2-40B4-BE49-F238E27FC236}">
                  <a16:creationId xmlns:a16="http://schemas.microsoft.com/office/drawing/2014/main" id="{F2CB1C6A-D625-28BF-6171-48E02BEC3147}"/>
                </a:ext>
              </a:extLst>
            </p:cNvPr>
            <p:cNvSpPr/>
            <p:nvPr/>
          </p:nvSpPr>
          <p:spPr>
            <a:xfrm>
              <a:off x="380802" y="5510436"/>
              <a:ext cx="3086100" cy="769441"/>
            </a:xfrm>
            <a:prstGeom prst="rect">
              <a:avLst/>
            </a:prstGeom>
          </p:spPr>
          <p:txBody>
            <a:bodyPr wrap="square">
              <a:spAutoFit/>
            </a:bodyPr>
            <a:lstStyle/>
            <a:p>
              <a:r>
                <a:rPr lang="en-US" sz="1050" i="1" dirty="0">
                  <a:ln w="3175">
                    <a:solidFill>
                      <a:prstClr val="black">
                        <a:alpha val="48000"/>
                      </a:prstClr>
                    </a:solidFill>
                  </a:ln>
                  <a:effectLst>
                    <a:outerShdw blurRad="50800" dist="38100" dir="2700000" algn="tl" rotWithShape="0">
                      <a:prstClr val="black">
                        <a:lumMod val="50000"/>
                        <a:lumOff val="50000"/>
                        <a:alpha val="40000"/>
                      </a:prstClr>
                    </a:outerShdw>
                  </a:effectLst>
                  <a:latin typeface="+mj-lt"/>
                  <a:cs typeface="MV Boli" pitchFamily="2" charset="0"/>
                </a:rPr>
                <a:t>Pros</a:t>
              </a:r>
              <a:r>
                <a:rPr lang="en-US" sz="1050" dirty="0">
                  <a:ln w="3175">
                    <a:solidFill>
                      <a:prstClr val="black">
                        <a:alpha val="48000"/>
                      </a:prstClr>
                    </a:solidFill>
                  </a:ln>
                  <a:effectLst>
                    <a:outerShdw blurRad="50800" dist="38100" dir="2700000" algn="tl" rotWithShape="0">
                      <a:prstClr val="black">
                        <a:lumMod val="50000"/>
                        <a:lumOff val="50000"/>
                        <a:alpha val="40000"/>
                      </a:prstClr>
                    </a:outerShdw>
                  </a:effectLst>
                  <a:latin typeface="+mj-lt"/>
                  <a:cs typeface="MV Boli" pitchFamily="2" charset="0"/>
                </a:rPr>
                <a:t>: simple</a:t>
              </a:r>
            </a:p>
            <a:p>
              <a:r>
                <a:rPr lang="en-US" sz="1050" i="1" dirty="0">
                  <a:ln w="3175">
                    <a:solidFill>
                      <a:prstClr val="black">
                        <a:alpha val="48000"/>
                      </a:prstClr>
                    </a:solidFill>
                  </a:ln>
                  <a:effectLst>
                    <a:outerShdw blurRad="50800" dist="38100" dir="2700000" algn="tl" rotWithShape="0">
                      <a:prstClr val="black">
                        <a:lumMod val="50000"/>
                        <a:lumOff val="50000"/>
                        <a:alpha val="40000"/>
                      </a:prstClr>
                    </a:outerShdw>
                  </a:effectLst>
                  <a:latin typeface="+mj-lt"/>
                  <a:cs typeface="MV Boli" pitchFamily="2" charset="0"/>
                </a:rPr>
                <a:t>Cons</a:t>
              </a:r>
              <a:r>
                <a:rPr lang="en-US" sz="1050" dirty="0">
                  <a:ln w="3175">
                    <a:solidFill>
                      <a:prstClr val="black">
                        <a:alpha val="48000"/>
                      </a:prstClr>
                    </a:solidFill>
                  </a:ln>
                  <a:effectLst>
                    <a:outerShdw blurRad="50800" dist="38100" dir="2700000" algn="tl" rotWithShape="0">
                      <a:prstClr val="black">
                        <a:lumMod val="50000"/>
                        <a:lumOff val="50000"/>
                        <a:alpha val="40000"/>
                      </a:prstClr>
                    </a:outerShdw>
                  </a:effectLst>
                  <a:latin typeface="+mj-lt"/>
                  <a:cs typeface="MV Boli" pitchFamily="2" charset="0"/>
                </a:rPr>
                <a:t>: ignores landscape matrix</a:t>
              </a:r>
            </a:p>
            <a:p>
              <a:r>
                <a:rPr lang="en-US" sz="1050" dirty="0">
                  <a:ln w="3175">
                    <a:solidFill>
                      <a:prstClr val="black">
                        <a:alpha val="48000"/>
                      </a:prstClr>
                    </a:solidFill>
                  </a:ln>
                  <a:effectLst>
                    <a:outerShdw blurRad="50800" dist="38100" dir="2700000" algn="tl" rotWithShape="0">
                      <a:prstClr val="black">
                        <a:lumMod val="50000"/>
                        <a:lumOff val="50000"/>
                        <a:alpha val="40000"/>
                      </a:prstClr>
                    </a:outerShdw>
                  </a:effectLst>
                  <a:latin typeface="+mj-lt"/>
                  <a:cs typeface="MV Boli" pitchFamily="2" charset="0"/>
                </a:rPr>
                <a:t>(e.g.: </a:t>
              </a:r>
              <a:r>
                <a:rPr lang="en-US" sz="1050" dirty="0" err="1">
                  <a:ln w="3175">
                    <a:solidFill>
                      <a:prstClr val="black">
                        <a:alpha val="48000"/>
                      </a:prstClr>
                    </a:solidFill>
                  </a:ln>
                  <a:effectLst>
                    <a:outerShdw blurRad="50800" dist="38100" dir="2700000" algn="tl" rotWithShape="0">
                      <a:prstClr val="black">
                        <a:lumMod val="50000"/>
                        <a:lumOff val="50000"/>
                        <a:alpha val="40000"/>
                      </a:prstClr>
                    </a:outerShdw>
                  </a:effectLst>
                  <a:latin typeface="+mj-lt"/>
                  <a:cs typeface="MV Boli" pitchFamily="2" charset="0"/>
                </a:rPr>
                <a:t>Hanski</a:t>
              </a:r>
              <a:r>
                <a:rPr lang="en-US" sz="1050" dirty="0">
                  <a:ln w="3175">
                    <a:solidFill>
                      <a:prstClr val="black">
                        <a:alpha val="48000"/>
                      </a:prstClr>
                    </a:solidFill>
                  </a:ln>
                  <a:effectLst>
                    <a:outerShdw blurRad="50800" dist="38100" dir="2700000" algn="tl" rotWithShape="0">
                      <a:prstClr val="black">
                        <a:lumMod val="50000"/>
                        <a:lumOff val="50000"/>
                        <a:alpha val="40000"/>
                      </a:prstClr>
                    </a:outerShdw>
                  </a:effectLst>
                  <a:latin typeface="+mj-lt"/>
                  <a:cs typeface="MV Boli" pitchFamily="2" charset="0"/>
                </a:rPr>
                <a:t> 2000)</a:t>
              </a:r>
            </a:p>
          </p:txBody>
        </p:sp>
      </p:grpSp>
      <p:grpSp>
        <p:nvGrpSpPr>
          <p:cNvPr id="12" name="Group 11">
            <a:extLst>
              <a:ext uri="{FF2B5EF4-FFF2-40B4-BE49-F238E27FC236}">
                <a16:creationId xmlns:a16="http://schemas.microsoft.com/office/drawing/2014/main" id="{E76FEBCF-456B-A890-F6DE-40BDC9F47645}"/>
              </a:ext>
            </a:extLst>
          </p:cNvPr>
          <p:cNvGrpSpPr/>
          <p:nvPr/>
        </p:nvGrpSpPr>
        <p:grpSpPr>
          <a:xfrm>
            <a:off x="3409032" y="851476"/>
            <a:ext cx="2314575" cy="3871667"/>
            <a:chOff x="4545376" y="1135300"/>
            <a:chExt cx="3086100" cy="5162223"/>
          </a:xfrm>
        </p:grpSpPr>
        <p:grpSp>
          <p:nvGrpSpPr>
            <p:cNvPr id="13" name="Group 12">
              <a:extLst>
                <a:ext uri="{FF2B5EF4-FFF2-40B4-BE49-F238E27FC236}">
                  <a16:creationId xmlns:a16="http://schemas.microsoft.com/office/drawing/2014/main" id="{BC1E1C73-E2B0-276C-2F88-E41CE38D21C2}"/>
                </a:ext>
              </a:extLst>
            </p:cNvPr>
            <p:cNvGrpSpPr/>
            <p:nvPr/>
          </p:nvGrpSpPr>
          <p:grpSpPr>
            <a:xfrm>
              <a:off x="4649237" y="1135300"/>
              <a:ext cx="2878379" cy="4152946"/>
              <a:chOff x="4618757" y="938704"/>
              <a:chExt cx="2878379" cy="4152946"/>
            </a:xfrm>
          </p:grpSpPr>
          <p:pic>
            <p:nvPicPr>
              <p:cNvPr id="15" name="Picture 1" descr="image001">
                <a:extLst>
                  <a:ext uri="{FF2B5EF4-FFF2-40B4-BE49-F238E27FC236}">
                    <a16:creationId xmlns:a16="http://schemas.microsoft.com/office/drawing/2014/main" id="{D11C0275-51C8-275E-31B4-C3BD1E9F77E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8343" t="1978" r="18614" b="9309"/>
              <a:stretch/>
            </p:blipFill>
            <p:spPr bwMode="auto">
              <a:xfrm>
                <a:off x="4618757" y="1602527"/>
                <a:ext cx="2878379" cy="3489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15">
                <a:extLst>
                  <a:ext uri="{FF2B5EF4-FFF2-40B4-BE49-F238E27FC236}">
                    <a16:creationId xmlns:a16="http://schemas.microsoft.com/office/drawing/2014/main" id="{906DDB0F-CCA4-282C-936F-24D12ADFF007}"/>
                  </a:ext>
                </a:extLst>
              </p:cNvPr>
              <p:cNvPicPr>
                <a:picLocks noChangeAspect="1"/>
              </p:cNvPicPr>
              <p:nvPr/>
            </p:nvPicPr>
            <p:blipFill>
              <a:blip r:embed="rId5"/>
              <a:stretch>
                <a:fillRect/>
              </a:stretch>
            </p:blipFill>
            <p:spPr>
              <a:xfrm>
                <a:off x="4986533" y="2169460"/>
                <a:ext cx="1329691" cy="2368512"/>
              </a:xfrm>
              <a:prstGeom prst="rect">
                <a:avLst/>
              </a:prstGeom>
            </p:spPr>
          </p:pic>
          <p:pic>
            <p:nvPicPr>
              <p:cNvPr id="17" name="Picture 16">
                <a:extLst>
                  <a:ext uri="{FF2B5EF4-FFF2-40B4-BE49-F238E27FC236}">
                    <a16:creationId xmlns:a16="http://schemas.microsoft.com/office/drawing/2014/main" id="{5BE7D43E-933F-FBB4-1CE4-328855897A75}"/>
                  </a:ext>
                </a:extLst>
              </p:cNvPr>
              <p:cNvPicPr>
                <a:picLocks noChangeAspect="1"/>
              </p:cNvPicPr>
              <p:nvPr/>
            </p:nvPicPr>
            <p:blipFill rotWithShape="1">
              <a:blip r:embed="rId6">
                <a:clrChange>
                  <a:clrFrom>
                    <a:srgbClr val="FFFFFF"/>
                  </a:clrFrom>
                  <a:clrTo>
                    <a:srgbClr val="FFFFFF">
                      <a:alpha val="0"/>
                    </a:srgbClr>
                  </a:clrTo>
                </a:clrChange>
                <a:alphaModFix/>
                <a:grayscl/>
                <a:extLst>
                  <a:ext uri="{BEBA8EAE-BF5A-486C-A8C5-ECC9F3942E4B}">
                    <a14:imgProps xmlns:a14="http://schemas.microsoft.com/office/drawing/2010/main">
                      <a14:imgLayer r:embed="rId7">
                        <a14:imgEffect>
                          <a14:sharpenSoften amount="50000"/>
                        </a14:imgEffect>
                        <a14:imgEffect>
                          <a14:saturation sat="98000"/>
                        </a14:imgEffect>
                        <a14:imgEffect>
                          <a14:brightnessContrast contrast="100000"/>
                        </a14:imgEffect>
                      </a14:imgLayer>
                    </a14:imgProps>
                  </a:ext>
                </a:extLst>
              </a:blip>
              <a:srcRect l="29644" t="28528" r="49117" b="37940"/>
              <a:stretch/>
            </p:blipFill>
            <p:spPr>
              <a:xfrm>
                <a:off x="5375560" y="2684658"/>
                <a:ext cx="853515" cy="1367800"/>
              </a:xfrm>
              <a:prstGeom prst="rect">
                <a:avLst/>
              </a:prstGeom>
              <a:effectLst/>
            </p:spPr>
          </p:pic>
          <p:pic>
            <p:nvPicPr>
              <p:cNvPr id="18" name="Picture 2" descr="Run Foxy Run loading animation gif animation animal hand drawn black  white drawing logo design illustration concept branding graphic design">
                <a:extLst>
                  <a:ext uri="{FF2B5EF4-FFF2-40B4-BE49-F238E27FC236}">
                    <a16:creationId xmlns:a16="http://schemas.microsoft.com/office/drawing/2014/main" id="{1DA69016-7E10-C40B-DD10-F4E0D9A12D54}"/>
                  </a:ext>
                </a:extLst>
              </p:cNvPr>
              <p:cNvPicPr>
                <a:picLocks noChangeAspect="1" noChangeArrowheads="1"/>
              </p:cNvPicPr>
              <p:nvPr/>
            </p:nvPicPr>
            <p:blipFill>
              <a:blip r:embed="rId8"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rot="19529601">
                <a:off x="5075502" y="3170879"/>
                <a:ext cx="899111" cy="674333"/>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E6EE90AF-775D-CED3-9231-8423E8D3E55F}"/>
                  </a:ext>
                </a:extLst>
              </p:cNvPr>
              <p:cNvSpPr txBox="1"/>
              <p:nvPr/>
            </p:nvSpPr>
            <p:spPr>
              <a:xfrm>
                <a:off x="4929612" y="4081085"/>
                <a:ext cx="413517" cy="738664"/>
              </a:xfrm>
              <a:prstGeom prst="rect">
                <a:avLst/>
              </a:prstGeom>
              <a:noFill/>
            </p:spPr>
            <p:txBody>
              <a:bodyPr wrap="square" rtlCol="0">
                <a:spAutoFit/>
              </a:bodyPr>
              <a:lstStyle/>
              <a:p>
                <a:pPr defTabSz="685800">
                  <a:defRPr/>
                </a:pPr>
                <a:r>
                  <a:rPr lang="nb-NO" sz="3000">
                    <a:latin typeface="Calibri" panose="020F0502020204030204"/>
                  </a:rPr>
                  <a:t>A</a:t>
                </a:r>
                <a:endParaRPr lang="en-GB" sz="1350">
                  <a:latin typeface="Calibri" panose="020F0502020204030204"/>
                </a:endParaRPr>
              </a:p>
            </p:txBody>
          </p:sp>
          <p:sp>
            <p:nvSpPr>
              <p:cNvPr id="20" name="TextBox 19">
                <a:extLst>
                  <a:ext uri="{FF2B5EF4-FFF2-40B4-BE49-F238E27FC236}">
                    <a16:creationId xmlns:a16="http://schemas.microsoft.com/office/drawing/2014/main" id="{9396B3AE-9726-B591-C623-D7146AFC1579}"/>
                  </a:ext>
                </a:extLst>
              </p:cNvPr>
              <p:cNvSpPr txBox="1"/>
              <p:nvPr/>
            </p:nvSpPr>
            <p:spPr>
              <a:xfrm>
                <a:off x="6101187" y="1747459"/>
                <a:ext cx="413517" cy="738664"/>
              </a:xfrm>
              <a:prstGeom prst="rect">
                <a:avLst/>
              </a:prstGeom>
              <a:noFill/>
            </p:spPr>
            <p:txBody>
              <a:bodyPr wrap="square" rtlCol="0">
                <a:spAutoFit/>
              </a:bodyPr>
              <a:lstStyle/>
              <a:p>
                <a:pPr defTabSz="685800">
                  <a:defRPr/>
                </a:pPr>
                <a:r>
                  <a:rPr lang="nb-NO" sz="3000">
                    <a:latin typeface="Calibri" panose="020F0502020204030204"/>
                  </a:rPr>
                  <a:t>B</a:t>
                </a:r>
                <a:endParaRPr lang="en-GB" sz="1350">
                  <a:latin typeface="Calibri" panose="020F0502020204030204"/>
                </a:endParaRPr>
              </a:p>
            </p:txBody>
          </p:sp>
          <p:sp>
            <p:nvSpPr>
              <p:cNvPr id="21" name="Rectangle 20">
                <a:extLst>
                  <a:ext uri="{FF2B5EF4-FFF2-40B4-BE49-F238E27FC236}">
                    <a16:creationId xmlns:a16="http://schemas.microsoft.com/office/drawing/2014/main" id="{B496854E-E4C7-D28C-ACEA-6E79996BCFD3}"/>
                  </a:ext>
                </a:extLst>
              </p:cNvPr>
              <p:cNvSpPr/>
              <p:nvPr/>
            </p:nvSpPr>
            <p:spPr>
              <a:xfrm>
                <a:off x="4752356" y="938704"/>
                <a:ext cx="2744780" cy="677108"/>
              </a:xfrm>
              <a:prstGeom prst="rect">
                <a:avLst/>
              </a:prstGeom>
            </p:spPr>
            <p:txBody>
              <a:bodyPr wrap="square">
                <a:spAutoFit/>
              </a:bodyPr>
              <a:lstStyle/>
              <a:p>
                <a:pPr algn="ctr">
                  <a:defRPr/>
                </a:pPr>
                <a:r>
                  <a:rPr lang="en-US" sz="1500" cap="small" dirty="0">
                    <a:ln w="3175">
                      <a:noFill/>
                    </a:ln>
                    <a:latin typeface="+mj-lt"/>
                    <a:cs typeface="MV Boli" pitchFamily="2" charset="0"/>
                  </a:rPr>
                  <a:t>Least Cost Path</a:t>
                </a:r>
              </a:p>
              <a:p>
                <a:pPr algn="ctr" defTabSz="685800">
                  <a:defRPr/>
                </a:pPr>
                <a:r>
                  <a:rPr lang="en-GB" sz="1200" i="1" dirty="0">
                    <a:latin typeface="+mj-lt"/>
                  </a:rPr>
                  <a:t> «as the fox runs»</a:t>
                </a:r>
                <a:endParaRPr lang="en-GB" sz="1200" i="1" cap="small" dirty="0">
                  <a:ln w="3175">
                    <a:solidFill>
                      <a:prstClr val="black">
                        <a:alpha val="48000"/>
                      </a:prstClr>
                    </a:solidFill>
                  </a:ln>
                  <a:effectLst>
                    <a:outerShdw blurRad="50800" dist="38100" dir="2700000" algn="tl" rotWithShape="0">
                      <a:prstClr val="black">
                        <a:lumMod val="50000"/>
                        <a:lumOff val="50000"/>
                        <a:alpha val="40000"/>
                      </a:prstClr>
                    </a:outerShdw>
                  </a:effectLst>
                  <a:latin typeface="+mj-lt"/>
                  <a:cs typeface="MV Boli" pitchFamily="2" charset="0"/>
                </a:endParaRPr>
              </a:p>
            </p:txBody>
          </p:sp>
        </p:grpSp>
        <p:sp>
          <p:nvSpPr>
            <p:cNvPr id="14" name="Rectangle 13">
              <a:extLst>
                <a:ext uri="{FF2B5EF4-FFF2-40B4-BE49-F238E27FC236}">
                  <a16:creationId xmlns:a16="http://schemas.microsoft.com/office/drawing/2014/main" id="{608D898F-E0D1-E6AE-67E3-4C1F8C7F1EDB}"/>
                </a:ext>
              </a:extLst>
            </p:cNvPr>
            <p:cNvSpPr/>
            <p:nvPr/>
          </p:nvSpPr>
          <p:spPr>
            <a:xfrm>
              <a:off x="4545376" y="5528082"/>
              <a:ext cx="3086100" cy="769441"/>
            </a:xfrm>
            <a:prstGeom prst="rect">
              <a:avLst/>
            </a:prstGeom>
          </p:spPr>
          <p:txBody>
            <a:bodyPr wrap="square">
              <a:spAutoFit/>
            </a:bodyPr>
            <a:lstStyle/>
            <a:p>
              <a:r>
                <a:rPr lang="en-US" sz="1050" dirty="0">
                  <a:ln w="3175">
                    <a:solidFill>
                      <a:prstClr val="black">
                        <a:alpha val="48000"/>
                      </a:prstClr>
                    </a:solidFill>
                  </a:ln>
                  <a:effectLst>
                    <a:outerShdw blurRad="50800" dist="38100" dir="2700000" algn="tl" rotWithShape="0">
                      <a:prstClr val="black">
                        <a:lumMod val="50000"/>
                        <a:lumOff val="50000"/>
                        <a:alpha val="40000"/>
                      </a:prstClr>
                    </a:outerShdw>
                  </a:effectLst>
                  <a:latin typeface="+mj-lt"/>
                  <a:cs typeface="MV Boli" pitchFamily="2" charset="0"/>
                </a:rPr>
                <a:t>Pros: considers landscape permeability</a:t>
              </a:r>
            </a:p>
            <a:p>
              <a:r>
                <a:rPr lang="en-US" sz="1050" i="1" dirty="0">
                  <a:ln w="3175">
                    <a:solidFill>
                      <a:prstClr val="black">
                        <a:alpha val="48000"/>
                      </a:prstClr>
                    </a:solidFill>
                  </a:ln>
                  <a:effectLst>
                    <a:outerShdw blurRad="50800" dist="38100" dir="2700000" algn="tl" rotWithShape="0">
                      <a:prstClr val="black">
                        <a:lumMod val="50000"/>
                        <a:lumOff val="50000"/>
                        <a:alpha val="40000"/>
                      </a:prstClr>
                    </a:outerShdw>
                  </a:effectLst>
                  <a:latin typeface="+mj-lt"/>
                  <a:cs typeface="MV Boli" pitchFamily="2" charset="0"/>
                </a:rPr>
                <a:t>Cons</a:t>
              </a:r>
              <a:r>
                <a:rPr lang="en-US" sz="1050" dirty="0">
                  <a:ln w="3175">
                    <a:solidFill>
                      <a:prstClr val="black">
                        <a:alpha val="48000"/>
                      </a:prstClr>
                    </a:solidFill>
                  </a:ln>
                  <a:effectLst>
                    <a:outerShdw blurRad="50800" dist="38100" dir="2700000" algn="tl" rotWithShape="0">
                      <a:prstClr val="black">
                        <a:lumMod val="50000"/>
                        <a:lumOff val="50000"/>
                        <a:alpha val="40000"/>
                      </a:prstClr>
                    </a:outerShdw>
                  </a:effectLst>
                  <a:latin typeface="+mj-lt"/>
                  <a:cs typeface="MV Boli" pitchFamily="2" charset="0"/>
                </a:rPr>
                <a:t>: ignores multiple connections</a:t>
              </a:r>
            </a:p>
            <a:p>
              <a:r>
                <a:rPr lang="en-US" sz="1050" dirty="0">
                  <a:ln w="3175">
                    <a:solidFill>
                      <a:prstClr val="black">
                        <a:alpha val="48000"/>
                      </a:prstClr>
                    </a:solidFill>
                  </a:ln>
                  <a:effectLst>
                    <a:outerShdw blurRad="50800" dist="38100" dir="2700000" algn="tl" rotWithShape="0">
                      <a:prstClr val="black">
                        <a:lumMod val="50000"/>
                        <a:lumOff val="50000"/>
                        <a:alpha val="40000"/>
                      </a:prstClr>
                    </a:outerShdw>
                  </a:effectLst>
                  <a:latin typeface="+mj-lt"/>
                  <a:cs typeface="MV Boli" pitchFamily="2" charset="0"/>
                </a:rPr>
                <a:t>(e.g.: Saura et al 2007 - CONEFOR)</a:t>
              </a:r>
            </a:p>
          </p:txBody>
        </p:sp>
      </p:grpSp>
      <p:grpSp>
        <p:nvGrpSpPr>
          <p:cNvPr id="22" name="Group 21">
            <a:extLst>
              <a:ext uri="{FF2B5EF4-FFF2-40B4-BE49-F238E27FC236}">
                <a16:creationId xmlns:a16="http://schemas.microsoft.com/office/drawing/2014/main" id="{E19B2C73-A852-337D-4C44-566EFAEE32F9}"/>
              </a:ext>
            </a:extLst>
          </p:cNvPr>
          <p:cNvGrpSpPr/>
          <p:nvPr/>
        </p:nvGrpSpPr>
        <p:grpSpPr>
          <a:xfrm>
            <a:off x="6565632" y="851476"/>
            <a:ext cx="2483120" cy="3872942"/>
            <a:chOff x="8754176" y="1135300"/>
            <a:chExt cx="3310826" cy="5163923"/>
          </a:xfrm>
        </p:grpSpPr>
        <p:grpSp>
          <p:nvGrpSpPr>
            <p:cNvPr id="23" name="Group 22">
              <a:extLst>
                <a:ext uri="{FF2B5EF4-FFF2-40B4-BE49-F238E27FC236}">
                  <a16:creationId xmlns:a16="http://schemas.microsoft.com/office/drawing/2014/main" id="{9FB19024-275F-0ACA-ABB3-5753D47C441B}"/>
                </a:ext>
              </a:extLst>
            </p:cNvPr>
            <p:cNvGrpSpPr/>
            <p:nvPr/>
          </p:nvGrpSpPr>
          <p:grpSpPr>
            <a:xfrm>
              <a:off x="8799555" y="1135300"/>
              <a:ext cx="3265447" cy="4186168"/>
              <a:chOff x="8769075" y="938704"/>
              <a:chExt cx="3265447" cy="4186168"/>
            </a:xfrm>
          </p:grpSpPr>
          <p:pic>
            <p:nvPicPr>
              <p:cNvPr id="25" name="Picture 1" descr="image001">
                <a:extLst>
                  <a:ext uri="{FF2B5EF4-FFF2-40B4-BE49-F238E27FC236}">
                    <a16:creationId xmlns:a16="http://schemas.microsoft.com/office/drawing/2014/main" id="{F8636F24-ECA7-9506-53B6-208028BD779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8343" t="1978" r="18614" b="9309"/>
              <a:stretch/>
            </p:blipFill>
            <p:spPr bwMode="auto">
              <a:xfrm>
                <a:off x="8784316" y="1635748"/>
                <a:ext cx="2878379" cy="3489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 name="Picture 25">
                <a:extLst>
                  <a:ext uri="{FF2B5EF4-FFF2-40B4-BE49-F238E27FC236}">
                    <a16:creationId xmlns:a16="http://schemas.microsoft.com/office/drawing/2014/main" id="{08124E99-B6A7-22DA-7D54-1002169CB99F}"/>
                  </a:ext>
                </a:extLst>
              </p:cNvPr>
              <p:cNvPicPr>
                <a:picLocks noChangeAspect="1"/>
              </p:cNvPicPr>
              <p:nvPr/>
            </p:nvPicPr>
            <p:blipFill rotWithShape="1">
              <a:blip r:embed="rId9">
                <a:alphaModFix/>
              </a:blip>
              <a:srcRect l="6699" t="6123" r="33810" b="11109"/>
              <a:stretch/>
            </p:blipFill>
            <p:spPr>
              <a:xfrm>
                <a:off x="8769075" y="1627612"/>
                <a:ext cx="2878379" cy="3497260"/>
              </a:xfrm>
              <a:prstGeom prst="rect">
                <a:avLst/>
              </a:prstGeom>
            </p:spPr>
          </p:pic>
          <p:sp>
            <p:nvSpPr>
              <p:cNvPr id="27" name="TextBox 26">
                <a:extLst>
                  <a:ext uri="{FF2B5EF4-FFF2-40B4-BE49-F238E27FC236}">
                    <a16:creationId xmlns:a16="http://schemas.microsoft.com/office/drawing/2014/main" id="{0957804D-DB70-856B-C0AD-8A2218D98493}"/>
                  </a:ext>
                </a:extLst>
              </p:cNvPr>
              <p:cNvSpPr txBox="1"/>
              <p:nvPr/>
            </p:nvSpPr>
            <p:spPr>
              <a:xfrm>
                <a:off x="9095171" y="4114305"/>
                <a:ext cx="413519" cy="738664"/>
              </a:xfrm>
              <a:prstGeom prst="rect">
                <a:avLst/>
              </a:prstGeom>
              <a:noFill/>
            </p:spPr>
            <p:txBody>
              <a:bodyPr wrap="square" rtlCol="0">
                <a:spAutoFit/>
              </a:bodyPr>
              <a:lstStyle/>
              <a:p>
                <a:pPr defTabSz="685800">
                  <a:defRPr/>
                </a:pPr>
                <a:r>
                  <a:rPr lang="nb-NO" sz="3000">
                    <a:latin typeface="Calibri" panose="020F0502020204030204"/>
                  </a:rPr>
                  <a:t>A</a:t>
                </a:r>
                <a:endParaRPr lang="en-GB" sz="1350">
                  <a:latin typeface="Calibri" panose="020F0502020204030204"/>
                </a:endParaRPr>
              </a:p>
            </p:txBody>
          </p:sp>
          <p:sp>
            <p:nvSpPr>
              <p:cNvPr id="28" name="TextBox 27">
                <a:extLst>
                  <a:ext uri="{FF2B5EF4-FFF2-40B4-BE49-F238E27FC236}">
                    <a16:creationId xmlns:a16="http://schemas.microsoft.com/office/drawing/2014/main" id="{A0FA907D-9BE0-03E6-65D5-B2992E292AE5}"/>
                  </a:ext>
                </a:extLst>
              </p:cNvPr>
              <p:cNvSpPr txBox="1"/>
              <p:nvPr/>
            </p:nvSpPr>
            <p:spPr>
              <a:xfrm>
                <a:off x="10266747" y="1780680"/>
                <a:ext cx="413519" cy="738664"/>
              </a:xfrm>
              <a:prstGeom prst="rect">
                <a:avLst/>
              </a:prstGeom>
              <a:noFill/>
            </p:spPr>
            <p:txBody>
              <a:bodyPr wrap="square" rtlCol="0">
                <a:spAutoFit/>
              </a:bodyPr>
              <a:lstStyle/>
              <a:p>
                <a:pPr defTabSz="685800">
                  <a:defRPr/>
                </a:pPr>
                <a:r>
                  <a:rPr lang="nb-NO" sz="3000">
                    <a:latin typeface="Calibri" panose="020F0502020204030204"/>
                  </a:rPr>
                  <a:t>B</a:t>
                </a:r>
                <a:endParaRPr lang="en-GB" sz="1350">
                  <a:latin typeface="Calibri" panose="020F0502020204030204"/>
                </a:endParaRPr>
              </a:p>
            </p:txBody>
          </p:sp>
          <p:pic>
            <p:nvPicPr>
              <p:cNvPr id="29" name="Picture 6" descr="Drunk guy pierre gombaud walk cycle moho walk drunk character loop color cartoon 2d animation man">
                <a:extLst>
                  <a:ext uri="{FF2B5EF4-FFF2-40B4-BE49-F238E27FC236}">
                    <a16:creationId xmlns:a16="http://schemas.microsoft.com/office/drawing/2014/main" id="{9FF8C588-805F-F89B-574F-524451CC97AB}"/>
                  </a:ext>
                </a:extLst>
              </p:cNvPr>
              <p:cNvPicPr>
                <a:picLocks noChangeAspect="1" noChangeArrowheads="1" noCrop="1"/>
              </p:cNvPicPr>
              <p:nvPr/>
            </p:nvPicPr>
            <p:blipFill>
              <a:blip r:embed="rId10" cstate="print">
                <a:clrChange>
                  <a:clrFrom>
                    <a:srgbClr val="95BA45"/>
                  </a:clrFrom>
                  <a:clrTo>
                    <a:srgbClr val="95BA45">
                      <a:alpha val="0"/>
                    </a:srgbClr>
                  </a:clrTo>
                </a:clrChange>
                <a:extLst>
                  <a:ext uri="{28A0092B-C50C-407E-A947-70E740481C1C}">
                    <a14:useLocalDpi xmlns:a14="http://schemas.microsoft.com/office/drawing/2010/main" val="0"/>
                  </a:ext>
                </a:extLst>
              </a:blip>
              <a:srcRect/>
              <a:stretch>
                <a:fillRect/>
              </a:stretch>
            </p:blipFill>
            <p:spPr bwMode="auto">
              <a:xfrm rot="20868227">
                <a:off x="10109165" y="3289431"/>
                <a:ext cx="1925357" cy="1444016"/>
              </a:xfrm>
              <a:prstGeom prst="rect">
                <a:avLst/>
              </a:prstGeom>
              <a:noFill/>
              <a:extLst>
                <a:ext uri="{909E8E84-426E-40DD-AFC4-6F175D3DCCD1}">
                  <a14:hiddenFill xmlns:a14="http://schemas.microsoft.com/office/drawing/2010/main">
                    <a:solidFill>
                      <a:srgbClr val="FFFFFF"/>
                    </a:solidFill>
                  </a14:hiddenFill>
                </a:ext>
              </a:extLst>
            </p:spPr>
          </p:pic>
          <p:sp>
            <p:nvSpPr>
              <p:cNvPr id="30" name="Rectangle 29">
                <a:extLst>
                  <a:ext uri="{FF2B5EF4-FFF2-40B4-BE49-F238E27FC236}">
                    <a16:creationId xmlns:a16="http://schemas.microsoft.com/office/drawing/2014/main" id="{CA7EED0A-0337-D1B6-4C2E-05C9002AACC1}"/>
                  </a:ext>
                </a:extLst>
              </p:cNvPr>
              <p:cNvSpPr/>
              <p:nvPr/>
            </p:nvSpPr>
            <p:spPr>
              <a:xfrm>
                <a:off x="8894356" y="938704"/>
                <a:ext cx="2744780" cy="677108"/>
              </a:xfrm>
              <a:prstGeom prst="rect">
                <a:avLst/>
              </a:prstGeom>
            </p:spPr>
            <p:txBody>
              <a:bodyPr wrap="square">
                <a:spAutoFit/>
              </a:bodyPr>
              <a:lstStyle/>
              <a:p>
                <a:pPr algn="ctr">
                  <a:defRPr/>
                </a:pPr>
                <a:r>
                  <a:rPr lang="en-GB" sz="1500" cap="small" dirty="0">
                    <a:ln w="3175">
                      <a:noFill/>
                    </a:ln>
                    <a:latin typeface="+mj-lt"/>
                    <a:cs typeface="MV Boli" pitchFamily="2" charset="0"/>
                  </a:rPr>
                  <a:t>Random Walk</a:t>
                </a:r>
              </a:p>
              <a:p>
                <a:pPr algn="ctr" defTabSz="685800">
                  <a:defRPr/>
                </a:pPr>
                <a:r>
                  <a:rPr lang="en-GB" sz="1200" i="1" dirty="0">
                    <a:latin typeface="+mj-lt"/>
                  </a:rPr>
                  <a:t> «drunkard’s walk</a:t>
                </a:r>
                <a:r>
                  <a:rPr lang="nb-NO" sz="1200" i="1" dirty="0">
                    <a:latin typeface="+mj-lt"/>
                  </a:rPr>
                  <a:t>»</a:t>
                </a:r>
                <a:endParaRPr lang="en-US" sz="1200" i="1" cap="small" dirty="0">
                  <a:ln w="3175">
                    <a:solidFill>
                      <a:prstClr val="black">
                        <a:alpha val="48000"/>
                      </a:prstClr>
                    </a:solidFill>
                  </a:ln>
                  <a:effectLst>
                    <a:outerShdw blurRad="50800" dist="38100" dir="2700000" algn="tl" rotWithShape="0">
                      <a:prstClr val="black">
                        <a:lumMod val="50000"/>
                        <a:lumOff val="50000"/>
                        <a:alpha val="40000"/>
                      </a:prstClr>
                    </a:outerShdw>
                  </a:effectLst>
                  <a:latin typeface="+mj-lt"/>
                  <a:cs typeface="MV Boli" pitchFamily="2" charset="0"/>
                </a:endParaRPr>
              </a:p>
            </p:txBody>
          </p:sp>
        </p:grpSp>
        <p:sp>
          <p:nvSpPr>
            <p:cNvPr id="24" name="Rectangle 23">
              <a:extLst>
                <a:ext uri="{FF2B5EF4-FFF2-40B4-BE49-F238E27FC236}">
                  <a16:creationId xmlns:a16="http://schemas.microsoft.com/office/drawing/2014/main" id="{07F4CAF6-74C8-19B3-52D5-73DBF9E8CB9F}"/>
                </a:ext>
              </a:extLst>
            </p:cNvPr>
            <p:cNvSpPr/>
            <p:nvPr/>
          </p:nvSpPr>
          <p:spPr>
            <a:xfrm>
              <a:off x="8754176" y="5529782"/>
              <a:ext cx="3086099" cy="769441"/>
            </a:xfrm>
            <a:prstGeom prst="rect">
              <a:avLst/>
            </a:prstGeom>
          </p:spPr>
          <p:txBody>
            <a:bodyPr wrap="square">
              <a:spAutoFit/>
            </a:bodyPr>
            <a:lstStyle/>
            <a:p>
              <a:r>
                <a:rPr lang="en-US" sz="1050" i="1" dirty="0">
                  <a:ln w="3175">
                    <a:solidFill>
                      <a:prstClr val="black">
                        <a:alpha val="48000"/>
                      </a:prstClr>
                    </a:solidFill>
                  </a:ln>
                  <a:effectLst>
                    <a:outerShdw blurRad="50800" dist="38100" dir="2700000" algn="tl" rotWithShape="0">
                      <a:prstClr val="black">
                        <a:lumMod val="50000"/>
                        <a:lumOff val="50000"/>
                        <a:alpha val="40000"/>
                      </a:prstClr>
                    </a:outerShdw>
                  </a:effectLst>
                  <a:latin typeface="+mj-lt"/>
                  <a:cs typeface="MV Boli" pitchFamily="2" charset="0"/>
                </a:rPr>
                <a:t>Pros</a:t>
              </a:r>
              <a:r>
                <a:rPr lang="en-US" sz="1050" dirty="0">
                  <a:ln w="3175">
                    <a:solidFill>
                      <a:prstClr val="black">
                        <a:alpha val="48000"/>
                      </a:prstClr>
                    </a:solidFill>
                  </a:ln>
                  <a:effectLst>
                    <a:outerShdw blurRad="50800" dist="38100" dir="2700000" algn="tl" rotWithShape="0">
                      <a:prstClr val="black">
                        <a:lumMod val="50000"/>
                        <a:lumOff val="50000"/>
                        <a:alpha val="40000"/>
                      </a:prstClr>
                    </a:outerShdw>
                  </a:effectLst>
                  <a:latin typeface="+mj-lt"/>
                  <a:cs typeface="MV Boli" pitchFamily="2" charset="0"/>
                </a:rPr>
                <a:t>: considers multiple connections</a:t>
              </a:r>
            </a:p>
            <a:p>
              <a:r>
                <a:rPr lang="en-US" sz="1050" i="1" dirty="0">
                  <a:ln w="3175">
                    <a:solidFill>
                      <a:prstClr val="black">
                        <a:alpha val="48000"/>
                      </a:prstClr>
                    </a:solidFill>
                  </a:ln>
                  <a:effectLst>
                    <a:outerShdw blurRad="50800" dist="38100" dir="2700000" algn="tl" rotWithShape="0">
                      <a:prstClr val="black">
                        <a:lumMod val="50000"/>
                        <a:lumOff val="50000"/>
                        <a:alpha val="40000"/>
                      </a:prstClr>
                    </a:outerShdw>
                  </a:effectLst>
                  <a:latin typeface="+mj-lt"/>
                  <a:cs typeface="MV Boli" pitchFamily="2" charset="0"/>
                </a:rPr>
                <a:t>Cons</a:t>
              </a:r>
              <a:r>
                <a:rPr lang="en-US" sz="1050" dirty="0">
                  <a:ln w="3175">
                    <a:solidFill>
                      <a:prstClr val="black">
                        <a:alpha val="48000"/>
                      </a:prstClr>
                    </a:solidFill>
                  </a:ln>
                  <a:effectLst>
                    <a:outerShdw blurRad="50800" dist="38100" dir="2700000" algn="tl" rotWithShape="0">
                      <a:prstClr val="black">
                        <a:lumMod val="50000"/>
                        <a:lumOff val="50000"/>
                        <a:alpha val="40000"/>
                      </a:prstClr>
                    </a:outerShdw>
                  </a:effectLst>
                  <a:latin typeface="+mj-lt"/>
                  <a:cs typeface="MV Boli" pitchFamily="2" charset="0"/>
                </a:rPr>
                <a:t>: walker gets “lost in space”</a:t>
              </a:r>
            </a:p>
            <a:p>
              <a:r>
                <a:rPr lang="en-US" sz="1050" dirty="0">
                  <a:ln w="3175">
                    <a:solidFill>
                      <a:prstClr val="black">
                        <a:alpha val="48000"/>
                      </a:prstClr>
                    </a:solidFill>
                  </a:ln>
                  <a:effectLst>
                    <a:outerShdw blurRad="50800" dist="38100" dir="2700000" algn="tl" rotWithShape="0">
                      <a:prstClr val="black">
                        <a:lumMod val="50000"/>
                        <a:lumOff val="50000"/>
                        <a:alpha val="40000"/>
                      </a:prstClr>
                    </a:outerShdw>
                  </a:effectLst>
                  <a:latin typeface="+mj-lt"/>
                  <a:cs typeface="MV Boli" pitchFamily="2" charset="0"/>
                </a:rPr>
                <a:t>(e.g.: McRae et al – CIRCUITSCAPE)</a:t>
              </a:r>
            </a:p>
          </p:txBody>
        </p:sp>
      </p:grpSp>
      <p:sp>
        <p:nvSpPr>
          <p:cNvPr id="31" name="Title 1">
            <a:extLst>
              <a:ext uri="{FF2B5EF4-FFF2-40B4-BE49-F238E27FC236}">
                <a16:creationId xmlns:a16="http://schemas.microsoft.com/office/drawing/2014/main" id="{896457B6-F3C2-FA95-A629-59A72C6D49C9}"/>
              </a:ext>
            </a:extLst>
          </p:cNvPr>
          <p:cNvSpPr txBox="1">
            <a:spLocks/>
          </p:cNvSpPr>
          <p:nvPr/>
        </p:nvSpPr>
        <p:spPr>
          <a:xfrm>
            <a:off x="457200" y="205979"/>
            <a:ext cx="8229600" cy="857250"/>
          </a:xfrm>
          <a:prstGeom prst="rect">
            <a:avLst/>
          </a:prstGeom>
        </p:spPr>
        <p:txBody>
          <a:bodyPr>
            <a:normAutofit/>
          </a:bodyPr>
          <a:lstStyle>
            <a:lvl1pPr algn="ctr" defTabSz="342900" rtl="0" eaLnBrk="1" latinLnBrk="0" hangingPunct="1">
              <a:spcBef>
                <a:spcPct val="0"/>
              </a:spcBef>
              <a:buNone/>
              <a:defRPr sz="3300" kern="1200">
                <a:solidFill>
                  <a:schemeClr val="tx1"/>
                </a:solidFill>
                <a:latin typeface="+mj-lt"/>
                <a:ea typeface="+mj-ea"/>
                <a:cs typeface="+mj-cs"/>
              </a:defRPr>
            </a:lvl1pPr>
          </a:lstStyle>
          <a:p>
            <a:r>
              <a:rPr lang="en-US"/>
              <a:t>Connectivity: movement on the network</a:t>
            </a:r>
            <a:endParaRPr lang="en-US" dirty="0"/>
          </a:p>
        </p:txBody>
      </p:sp>
    </p:spTree>
    <p:extLst>
      <p:ext uri="{BB962C8B-B14F-4D97-AF65-F5344CB8AC3E}">
        <p14:creationId xmlns:p14="http://schemas.microsoft.com/office/powerpoint/2010/main" val="821453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1BB3AF8-D8FF-CC67-3C1B-6F472D58541F}"/>
              </a:ext>
            </a:extLst>
          </p:cNvPr>
          <p:cNvPicPr>
            <a:picLocks noChangeAspect="1"/>
          </p:cNvPicPr>
          <p:nvPr/>
        </p:nvPicPr>
        <p:blipFill rotWithShape="1">
          <a:blip r:embed="rId2"/>
          <a:srcRect l="1797" t="1782" b="4825"/>
          <a:stretch/>
        </p:blipFill>
        <p:spPr>
          <a:xfrm>
            <a:off x="6971062" y="2560328"/>
            <a:ext cx="1430015" cy="1684800"/>
          </a:xfrm>
          <a:prstGeom prst="rect">
            <a:avLst/>
          </a:prstGeom>
        </p:spPr>
      </p:pic>
      <p:grpSp>
        <p:nvGrpSpPr>
          <p:cNvPr id="3" name="Group 2">
            <a:extLst>
              <a:ext uri="{FF2B5EF4-FFF2-40B4-BE49-F238E27FC236}">
                <a16:creationId xmlns:a16="http://schemas.microsoft.com/office/drawing/2014/main" id="{34F1C3A5-02FB-5D5D-9E36-0863ABC8D2CF}"/>
              </a:ext>
            </a:extLst>
          </p:cNvPr>
          <p:cNvGrpSpPr/>
          <p:nvPr/>
        </p:nvGrpSpPr>
        <p:grpSpPr>
          <a:xfrm>
            <a:off x="849231" y="2320470"/>
            <a:ext cx="1356012" cy="1925102"/>
            <a:chOff x="8907237" y="4654931"/>
            <a:chExt cx="1660058" cy="2331504"/>
          </a:xfrm>
          <a:effectLst>
            <a:outerShdw blurRad="50800" dist="38100" dir="2700000" algn="tl" rotWithShape="0">
              <a:prstClr val="black">
                <a:alpha val="40000"/>
              </a:prstClr>
            </a:outerShdw>
          </a:effectLst>
        </p:grpSpPr>
        <p:grpSp>
          <p:nvGrpSpPr>
            <p:cNvPr id="4" name="Group 3">
              <a:extLst>
                <a:ext uri="{FF2B5EF4-FFF2-40B4-BE49-F238E27FC236}">
                  <a16:creationId xmlns:a16="http://schemas.microsoft.com/office/drawing/2014/main" id="{6ED3A7CF-BB34-1F86-0A2C-8D1618822DA3}"/>
                </a:ext>
              </a:extLst>
            </p:cNvPr>
            <p:cNvGrpSpPr/>
            <p:nvPr/>
          </p:nvGrpSpPr>
          <p:grpSpPr>
            <a:xfrm>
              <a:off x="8907237" y="4654931"/>
              <a:ext cx="1660058" cy="2331504"/>
              <a:chOff x="8907237" y="4654931"/>
              <a:chExt cx="1660058" cy="2331504"/>
            </a:xfrm>
          </p:grpSpPr>
          <p:grpSp>
            <p:nvGrpSpPr>
              <p:cNvPr id="6" name="Group 5">
                <a:extLst>
                  <a:ext uri="{FF2B5EF4-FFF2-40B4-BE49-F238E27FC236}">
                    <a16:creationId xmlns:a16="http://schemas.microsoft.com/office/drawing/2014/main" id="{D8A0B5D5-A7FF-1711-8148-FFB5B14D4F19}"/>
                  </a:ext>
                </a:extLst>
              </p:cNvPr>
              <p:cNvGrpSpPr/>
              <p:nvPr/>
            </p:nvGrpSpPr>
            <p:grpSpPr>
              <a:xfrm>
                <a:off x="8954513" y="4945424"/>
                <a:ext cx="1612782" cy="2041011"/>
                <a:chOff x="10320407" y="5002574"/>
                <a:chExt cx="1612782" cy="2041011"/>
              </a:xfrm>
            </p:grpSpPr>
            <p:pic>
              <p:nvPicPr>
                <p:cNvPr id="8" name="Picture 7">
                  <a:extLst>
                    <a:ext uri="{FF2B5EF4-FFF2-40B4-BE49-F238E27FC236}">
                      <a16:creationId xmlns:a16="http://schemas.microsoft.com/office/drawing/2014/main" id="{AFBCF4A7-2168-CBF5-F391-CA3456AB9DFE}"/>
                    </a:ext>
                  </a:extLst>
                </p:cNvPr>
                <p:cNvPicPr>
                  <a:picLocks noChangeAspect="1"/>
                </p:cNvPicPr>
                <p:nvPr/>
              </p:nvPicPr>
              <p:blipFill rotWithShape="1">
                <a:blip r:embed="rId3"/>
                <a:srcRect l="9993" t="13812" r="36732" b="18786"/>
                <a:stretch/>
              </p:blipFill>
              <p:spPr>
                <a:xfrm>
                  <a:off x="10327643" y="5002574"/>
                  <a:ext cx="1605546" cy="2041011"/>
                </a:xfrm>
                <a:prstGeom prst="rect">
                  <a:avLst/>
                </a:prstGeom>
                <a:effectLst>
                  <a:outerShdw blurRad="50800" dist="38100" dir="8100000" algn="tr" rotWithShape="0">
                    <a:prstClr val="black">
                      <a:alpha val="40000"/>
                    </a:prstClr>
                  </a:outerShdw>
                </a:effectLst>
              </p:spPr>
            </p:pic>
            <p:sp>
              <p:nvSpPr>
                <p:cNvPr id="9" name="TextBox 8">
                  <a:extLst>
                    <a:ext uri="{FF2B5EF4-FFF2-40B4-BE49-F238E27FC236}">
                      <a16:creationId xmlns:a16="http://schemas.microsoft.com/office/drawing/2014/main" id="{D514CD18-2553-001F-0893-E321FC53B278}"/>
                    </a:ext>
                  </a:extLst>
                </p:cNvPr>
                <p:cNvSpPr txBox="1"/>
                <p:nvPr/>
              </p:nvSpPr>
              <p:spPr>
                <a:xfrm>
                  <a:off x="10320407" y="5364463"/>
                  <a:ext cx="1153792" cy="265585"/>
                </a:xfrm>
                <a:prstGeom prst="rect">
                  <a:avLst/>
                </a:prstGeom>
                <a:noFill/>
              </p:spPr>
              <p:txBody>
                <a:bodyPr wrap="square" rtlCol="0">
                  <a:spAutoFit/>
                </a:bodyPr>
                <a:lstStyle/>
                <a:p>
                  <a:pPr defTabSz="685800">
                    <a:defRPr/>
                  </a:pPr>
                  <a:r>
                    <a:rPr lang="el-GR" sz="825" i="1" dirty="0">
                      <a:latin typeface="+mj-lt"/>
                    </a:rPr>
                    <a:t>θ</a:t>
                  </a:r>
                  <a:r>
                    <a:rPr lang="nb-NO" sz="825" i="1" dirty="0">
                      <a:latin typeface="+mj-lt"/>
                    </a:rPr>
                    <a:t> = 0.1</a:t>
                  </a:r>
                  <a:endParaRPr lang="en-GB" sz="825" i="1" dirty="0">
                    <a:latin typeface="+mj-lt"/>
                  </a:endParaRPr>
                </a:p>
              </p:txBody>
            </p:sp>
          </p:grpSp>
          <p:sp>
            <p:nvSpPr>
              <p:cNvPr id="7" name="Rectangle 6">
                <a:extLst>
                  <a:ext uri="{FF2B5EF4-FFF2-40B4-BE49-F238E27FC236}">
                    <a16:creationId xmlns:a16="http://schemas.microsoft.com/office/drawing/2014/main" id="{037EE109-F21D-2A5E-75F9-98162CBEE18E}"/>
                  </a:ext>
                </a:extLst>
              </p:cNvPr>
              <p:cNvSpPr/>
              <p:nvPr/>
            </p:nvSpPr>
            <p:spPr>
              <a:xfrm>
                <a:off x="8907237" y="4654931"/>
                <a:ext cx="1606349" cy="335475"/>
              </a:xfrm>
              <a:prstGeom prst="rect">
                <a:avLst/>
              </a:prstGeom>
            </p:spPr>
            <p:txBody>
              <a:bodyPr wrap="square">
                <a:spAutoFit/>
              </a:bodyPr>
              <a:lstStyle/>
              <a:p>
                <a:pPr algn="ctr" defTabSz="685800">
                  <a:defRPr/>
                </a:pPr>
                <a:r>
                  <a:rPr lang="nb-NO" sz="1200" dirty="0">
                    <a:latin typeface="Calibri Light" panose="020F0302020204030204" pitchFamily="34" charset="0"/>
                    <a:cs typeface="Calibri Light" panose="020F0302020204030204" pitchFamily="34" charset="0"/>
                  </a:rPr>
                  <a:t>LEAST- COST PATH</a:t>
                </a:r>
                <a:endParaRPr lang="en-GB" sz="1200" dirty="0">
                  <a:latin typeface="Calibri Light" panose="020F0302020204030204" pitchFamily="34" charset="0"/>
                  <a:cs typeface="Calibri Light" panose="020F0302020204030204" pitchFamily="34" charset="0"/>
                </a:endParaRPr>
              </a:p>
            </p:txBody>
          </p:sp>
        </p:grpSp>
        <p:pic>
          <p:nvPicPr>
            <p:cNvPr id="5" name="Picture 2" descr="Run Foxy Run loading animation gif animation animal hand drawn black  white drawing logo design illustration concept branding graphic design">
              <a:extLst>
                <a:ext uri="{FF2B5EF4-FFF2-40B4-BE49-F238E27FC236}">
                  <a16:creationId xmlns:a16="http://schemas.microsoft.com/office/drawing/2014/main" id="{C52B5788-E23B-12CD-0EE1-281258F9EE15}"/>
                </a:ext>
              </a:extLst>
            </p:cNvPr>
            <p:cNvPicPr>
              <a:picLocks noChangeAspect="1" noChangeArrowheads="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rot="19792573">
              <a:off x="9155841" y="5756888"/>
              <a:ext cx="787936" cy="59095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 name="Group 9">
            <a:extLst>
              <a:ext uri="{FF2B5EF4-FFF2-40B4-BE49-F238E27FC236}">
                <a16:creationId xmlns:a16="http://schemas.microsoft.com/office/drawing/2014/main" id="{F9064936-F89A-0BA1-B044-BF88A2E20D81}"/>
              </a:ext>
            </a:extLst>
          </p:cNvPr>
          <p:cNvGrpSpPr/>
          <p:nvPr/>
        </p:nvGrpSpPr>
        <p:grpSpPr>
          <a:xfrm>
            <a:off x="6987660" y="2324000"/>
            <a:ext cx="1572730" cy="1720674"/>
            <a:chOff x="731430" y="417038"/>
            <a:chExt cx="2015619" cy="2082329"/>
          </a:xfrm>
          <a:effectLst>
            <a:outerShdw blurRad="50800" dist="38100" dir="2700000" algn="tl" rotWithShape="0">
              <a:prstClr val="black">
                <a:alpha val="40000"/>
              </a:prstClr>
            </a:outerShdw>
          </a:effectLst>
        </p:grpSpPr>
        <p:grpSp>
          <p:nvGrpSpPr>
            <p:cNvPr id="11" name="Group 10">
              <a:extLst>
                <a:ext uri="{FF2B5EF4-FFF2-40B4-BE49-F238E27FC236}">
                  <a16:creationId xmlns:a16="http://schemas.microsoft.com/office/drawing/2014/main" id="{AD05442E-9A3A-FAB6-BF0E-8B7918A69ADE}"/>
                </a:ext>
              </a:extLst>
            </p:cNvPr>
            <p:cNvGrpSpPr/>
            <p:nvPr/>
          </p:nvGrpSpPr>
          <p:grpSpPr>
            <a:xfrm>
              <a:off x="731430" y="417038"/>
              <a:ext cx="1751249" cy="797758"/>
              <a:chOff x="731430" y="417038"/>
              <a:chExt cx="1751249" cy="797758"/>
            </a:xfrm>
          </p:grpSpPr>
          <p:sp>
            <p:nvSpPr>
              <p:cNvPr id="13" name="TextBox 12">
                <a:extLst>
                  <a:ext uri="{FF2B5EF4-FFF2-40B4-BE49-F238E27FC236}">
                    <a16:creationId xmlns:a16="http://schemas.microsoft.com/office/drawing/2014/main" id="{E791601B-74E6-6661-0B06-C96F5592C968}"/>
                  </a:ext>
                </a:extLst>
              </p:cNvPr>
              <p:cNvSpPr txBox="1"/>
              <p:nvPr/>
            </p:nvSpPr>
            <p:spPr>
              <a:xfrm>
                <a:off x="847008" y="949414"/>
                <a:ext cx="1455804" cy="265382"/>
              </a:xfrm>
              <a:prstGeom prst="rect">
                <a:avLst/>
              </a:prstGeom>
              <a:noFill/>
            </p:spPr>
            <p:txBody>
              <a:bodyPr wrap="square" rtlCol="0">
                <a:spAutoFit/>
              </a:bodyPr>
              <a:lstStyle/>
              <a:p>
                <a:pPr defTabSz="685800">
                  <a:defRPr/>
                </a:pPr>
                <a:r>
                  <a:rPr lang="el-GR" sz="825" i="1" dirty="0">
                    <a:latin typeface="+mj-lt"/>
                  </a:rPr>
                  <a:t>θ</a:t>
                </a:r>
                <a:r>
                  <a:rPr lang="nb-NO" sz="825" i="1" dirty="0">
                    <a:latin typeface="+mj-lt"/>
                  </a:rPr>
                  <a:t> = 0.00000001</a:t>
                </a:r>
                <a:endParaRPr lang="en-GB" sz="825" i="1" dirty="0">
                  <a:latin typeface="+mj-lt"/>
                </a:endParaRPr>
              </a:p>
            </p:txBody>
          </p:sp>
          <p:sp>
            <p:nvSpPr>
              <p:cNvPr id="14" name="Rectangle 13">
                <a:extLst>
                  <a:ext uri="{FF2B5EF4-FFF2-40B4-BE49-F238E27FC236}">
                    <a16:creationId xmlns:a16="http://schemas.microsoft.com/office/drawing/2014/main" id="{C1E92E59-FC10-61E8-1AE8-368CE0CEE4DF}"/>
                  </a:ext>
                </a:extLst>
              </p:cNvPr>
              <p:cNvSpPr/>
              <p:nvPr/>
            </p:nvSpPr>
            <p:spPr>
              <a:xfrm>
                <a:off x="731430" y="417038"/>
                <a:ext cx="1751249" cy="335219"/>
              </a:xfrm>
              <a:prstGeom prst="rect">
                <a:avLst/>
              </a:prstGeom>
            </p:spPr>
            <p:txBody>
              <a:bodyPr wrap="square">
                <a:spAutoFit/>
              </a:bodyPr>
              <a:lstStyle/>
              <a:p>
                <a:pPr algn="ctr" defTabSz="685800">
                  <a:defRPr/>
                </a:pPr>
                <a:r>
                  <a:rPr lang="nb-NO" sz="1200" dirty="0">
                    <a:latin typeface="+mj-lt"/>
                  </a:rPr>
                  <a:t>RANDOM WALK</a:t>
                </a:r>
                <a:endParaRPr lang="en-GB" sz="1200" dirty="0">
                  <a:latin typeface="+mj-lt"/>
                </a:endParaRPr>
              </a:p>
            </p:txBody>
          </p:sp>
        </p:grpSp>
        <p:pic>
          <p:nvPicPr>
            <p:cNvPr id="12" name="Picture 6" descr="Drunk guy pierre gombaud walk cycle moho walk drunk character loop color cartoon 2d animation man">
              <a:extLst>
                <a:ext uri="{FF2B5EF4-FFF2-40B4-BE49-F238E27FC236}">
                  <a16:creationId xmlns:a16="http://schemas.microsoft.com/office/drawing/2014/main" id="{34676F53-7117-7330-2AE9-991519CDAC1E}"/>
                </a:ext>
              </a:extLst>
            </p:cNvPr>
            <p:cNvPicPr>
              <a:picLocks noChangeAspect="1" noChangeArrowheads="1" noCrop="1"/>
            </p:cNvPicPr>
            <p:nvPr/>
          </p:nvPicPr>
          <p:blipFill>
            <a:blip r:embed="rId5" cstate="print">
              <a:clrChange>
                <a:clrFrom>
                  <a:srgbClr val="95BA45"/>
                </a:clrFrom>
                <a:clrTo>
                  <a:srgbClr val="95BA45">
                    <a:alpha val="0"/>
                  </a:srgbClr>
                </a:clrTo>
              </a:clrChange>
              <a:extLst>
                <a:ext uri="{28A0092B-C50C-407E-A947-70E740481C1C}">
                  <a14:useLocalDpi xmlns:a14="http://schemas.microsoft.com/office/drawing/2010/main" val="0"/>
                </a:ext>
              </a:extLst>
            </a:blip>
            <a:srcRect/>
            <a:stretch>
              <a:fillRect/>
            </a:stretch>
          </p:blipFill>
          <p:spPr bwMode="auto">
            <a:xfrm rot="20637045">
              <a:off x="1364866" y="1550311"/>
              <a:ext cx="1382183" cy="949056"/>
            </a:xfrm>
            <a:prstGeom prst="rect">
              <a:avLst/>
            </a:prstGeom>
            <a:noFill/>
            <a:extLst>
              <a:ext uri="{909E8E84-426E-40DD-AFC4-6F175D3DCCD1}">
                <a14:hiddenFill xmlns:a14="http://schemas.microsoft.com/office/drawing/2010/main">
                  <a:solidFill>
                    <a:srgbClr val="FFFFFF"/>
                  </a:solidFill>
                </a14:hiddenFill>
              </a:ext>
            </a:extLst>
          </p:spPr>
        </p:pic>
      </p:grpSp>
      <p:sp>
        <p:nvSpPr>
          <p:cNvPr id="15" name="Rectangle 14">
            <a:extLst>
              <a:ext uri="{FF2B5EF4-FFF2-40B4-BE49-F238E27FC236}">
                <a16:creationId xmlns:a16="http://schemas.microsoft.com/office/drawing/2014/main" id="{D50E2716-3D51-A859-4409-DE9A487CABEF}"/>
              </a:ext>
            </a:extLst>
          </p:cNvPr>
          <p:cNvSpPr/>
          <p:nvPr/>
        </p:nvSpPr>
        <p:spPr>
          <a:xfrm>
            <a:off x="0" y="4399829"/>
            <a:ext cx="9144000" cy="738664"/>
          </a:xfrm>
          <a:prstGeom prst="rect">
            <a:avLst/>
          </a:prstGeom>
        </p:spPr>
        <p:txBody>
          <a:bodyPr wrap="square">
            <a:spAutoFit/>
          </a:bodyPr>
          <a:lstStyle/>
          <a:p>
            <a:pPr marL="136922" indent="-136922" algn="ctr">
              <a:buFont typeface="Arial" panose="020B0604020202020204" pitchFamily="34" charset="0"/>
              <a:buChar char="•"/>
              <a:defRPr/>
            </a:pPr>
            <a:r>
              <a:rPr lang="el-GR" sz="1050" b="1" i="1" dirty="0">
                <a:latin typeface="+mj-lt"/>
              </a:rPr>
              <a:t>θ</a:t>
            </a:r>
            <a:r>
              <a:rPr lang="el-GR" sz="1050" i="1" dirty="0">
                <a:latin typeface="+mj-lt"/>
              </a:rPr>
              <a:t> </a:t>
            </a:r>
            <a:r>
              <a:rPr lang="en-GB" sz="1050" dirty="0">
                <a:latin typeface="+mj-lt"/>
              </a:rPr>
              <a:t>controls </a:t>
            </a:r>
            <a:r>
              <a:rPr lang="en-GB" sz="1050" b="1" i="1" dirty="0">
                <a:latin typeface="+mj-lt"/>
              </a:rPr>
              <a:t>degree of randomness </a:t>
            </a:r>
            <a:r>
              <a:rPr lang="en-GB" sz="1050" dirty="0">
                <a:latin typeface="+mj-lt"/>
              </a:rPr>
              <a:t>in movements</a:t>
            </a:r>
          </a:p>
          <a:p>
            <a:pPr marL="136922" indent="-136922" algn="ctr">
              <a:buFont typeface="Arial" panose="020B0604020202020204" pitchFamily="34" charset="0"/>
              <a:buChar char="•"/>
              <a:defRPr/>
            </a:pPr>
            <a:r>
              <a:rPr lang="en-GB" sz="1050" dirty="0">
                <a:latin typeface="+mj-lt"/>
              </a:rPr>
              <a:t>movement paths </a:t>
            </a:r>
            <a:r>
              <a:rPr lang="en-GB" sz="1050" b="1" i="1" dirty="0">
                <a:latin typeface="+mj-lt"/>
              </a:rPr>
              <a:t>more realistic </a:t>
            </a:r>
            <a:r>
              <a:rPr lang="en-GB" sz="1050" dirty="0">
                <a:latin typeface="+mj-lt"/>
              </a:rPr>
              <a:t>for the focal species / ecological process (e.g. migration </a:t>
            </a:r>
            <a:r>
              <a:rPr lang="en-GB" sz="1050" i="1" dirty="0">
                <a:latin typeface="+mj-lt"/>
              </a:rPr>
              <a:t>vs.</a:t>
            </a:r>
            <a:r>
              <a:rPr lang="en-GB" sz="1050" dirty="0">
                <a:latin typeface="+mj-lt"/>
              </a:rPr>
              <a:t> feeding)</a:t>
            </a:r>
          </a:p>
          <a:p>
            <a:pPr marL="136922" indent="-136922" algn="ctr" defTabSz="685800">
              <a:buFont typeface="Arial" panose="020B0604020202020204" pitchFamily="34" charset="0"/>
              <a:buChar char="•"/>
              <a:defRPr/>
            </a:pPr>
            <a:r>
              <a:rPr lang="en-GB" sz="1050" b="1" i="1" dirty="0">
                <a:latin typeface="+mj-lt"/>
              </a:rPr>
              <a:t>fast computation over large, high-resolution landscapes </a:t>
            </a:r>
          </a:p>
          <a:p>
            <a:pPr marL="136922" indent="-136922" algn="ctr" defTabSz="685800">
              <a:buFont typeface="Arial" panose="020B0604020202020204" pitchFamily="34" charset="0"/>
              <a:buChar char="•"/>
              <a:defRPr/>
            </a:pPr>
            <a:r>
              <a:rPr lang="en-GB" sz="1050" dirty="0">
                <a:latin typeface="+mj-lt"/>
              </a:rPr>
              <a:t>allows to scale-up from pixel-based permeability to landscape-scale connectivity</a:t>
            </a:r>
          </a:p>
        </p:txBody>
      </p:sp>
      <p:grpSp>
        <p:nvGrpSpPr>
          <p:cNvPr id="16" name="Group 15">
            <a:extLst>
              <a:ext uri="{FF2B5EF4-FFF2-40B4-BE49-F238E27FC236}">
                <a16:creationId xmlns:a16="http://schemas.microsoft.com/office/drawing/2014/main" id="{06002387-2881-9134-0F79-1856B5105D3B}"/>
              </a:ext>
            </a:extLst>
          </p:cNvPr>
          <p:cNvGrpSpPr/>
          <p:nvPr/>
        </p:nvGrpSpPr>
        <p:grpSpPr>
          <a:xfrm>
            <a:off x="2172937" y="518501"/>
            <a:ext cx="4910489" cy="3573794"/>
            <a:chOff x="2897250" y="691335"/>
            <a:chExt cx="6547318" cy="4765058"/>
          </a:xfrm>
        </p:grpSpPr>
        <p:grpSp>
          <p:nvGrpSpPr>
            <p:cNvPr id="17" name="Group 16">
              <a:extLst>
                <a:ext uri="{FF2B5EF4-FFF2-40B4-BE49-F238E27FC236}">
                  <a16:creationId xmlns:a16="http://schemas.microsoft.com/office/drawing/2014/main" id="{9352D60A-09E5-8B5A-8495-35CB5436867A}"/>
                </a:ext>
              </a:extLst>
            </p:cNvPr>
            <p:cNvGrpSpPr/>
            <p:nvPr/>
          </p:nvGrpSpPr>
          <p:grpSpPr>
            <a:xfrm>
              <a:off x="2897250" y="2442044"/>
              <a:ext cx="2041538" cy="2761139"/>
              <a:chOff x="3136960" y="2162776"/>
              <a:chExt cx="1738263" cy="2317664"/>
            </a:xfrm>
            <a:effectLst>
              <a:outerShdw blurRad="50800" dist="38100" dir="2700000" algn="tl" rotWithShape="0">
                <a:prstClr val="black">
                  <a:alpha val="40000"/>
                </a:prstClr>
              </a:outerShdw>
            </a:effectLst>
          </p:grpSpPr>
          <p:pic>
            <p:nvPicPr>
              <p:cNvPr id="26" name="Picture 25">
                <a:extLst>
                  <a:ext uri="{FF2B5EF4-FFF2-40B4-BE49-F238E27FC236}">
                    <a16:creationId xmlns:a16="http://schemas.microsoft.com/office/drawing/2014/main" id="{83C66D2D-D609-489A-9AD2-D986C2C2B66A}"/>
                  </a:ext>
                </a:extLst>
              </p:cNvPr>
              <p:cNvPicPr>
                <a:picLocks noChangeAspect="1"/>
              </p:cNvPicPr>
              <p:nvPr/>
            </p:nvPicPr>
            <p:blipFill rotWithShape="1">
              <a:blip r:embed="rId6"/>
              <a:srcRect l="17233" t="14934" r="34344" b="20001"/>
              <a:stretch/>
            </p:blipFill>
            <p:spPr>
              <a:xfrm>
                <a:off x="3136960" y="2162776"/>
                <a:ext cx="1738263" cy="2317664"/>
              </a:xfrm>
              <a:prstGeom prst="rect">
                <a:avLst/>
              </a:prstGeom>
              <a:effectLst>
                <a:outerShdw blurRad="50800" dist="38100" dir="10800000" algn="r" rotWithShape="0">
                  <a:prstClr val="black">
                    <a:alpha val="40000"/>
                  </a:prstClr>
                </a:outerShdw>
              </a:effectLst>
            </p:spPr>
          </p:pic>
          <p:sp>
            <p:nvSpPr>
              <p:cNvPr id="27" name="TextBox 26">
                <a:extLst>
                  <a:ext uri="{FF2B5EF4-FFF2-40B4-BE49-F238E27FC236}">
                    <a16:creationId xmlns:a16="http://schemas.microsoft.com/office/drawing/2014/main" id="{AB8C3BAC-B6A9-981A-C0D1-103F43A18956}"/>
                  </a:ext>
                </a:extLst>
              </p:cNvPr>
              <p:cNvSpPr txBox="1"/>
              <p:nvPr/>
            </p:nvSpPr>
            <p:spPr>
              <a:xfrm>
                <a:off x="3136960" y="2619105"/>
                <a:ext cx="972438" cy="245427"/>
              </a:xfrm>
              <a:prstGeom prst="rect">
                <a:avLst/>
              </a:prstGeom>
              <a:noFill/>
            </p:spPr>
            <p:txBody>
              <a:bodyPr wrap="square" rtlCol="0">
                <a:spAutoFit/>
              </a:bodyPr>
              <a:lstStyle/>
              <a:p>
                <a:pPr defTabSz="685800">
                  <a:defRPr/>
                </a:pPr>
                <a:r>
                  <a:rPr lang="el-GR" sz="825" i="1" dirty="0">
                    <a:latin typeface="+mj-lt"/>
                  </a:rPr>
                  <a:t>θ</a:t>
                </a:r>
                <a:r>
                  <a:rPr lang="nb-NO" sz="825" i="1" dirty="0">
                    <a:latin typeface="+mj-lt"/>
                  </a:rPr>
                  <a:t> = 0.001</a:t>
                </a:r>
                <a:endParaRPr lang="en-GB" sz="825" i="1" dirty="0">
                  <a:latin typeface="+mj-lt"/>
                </a:endParaRPr>
              </a:p>
            </p:txBody>
          </p:sp>
        </p:grpSp>
        <p:grpSp>
          <p:nvGrpSpPr>
            <p:cNvPr id="18" name="Group 17">
              <a:extLst>
                <a:ext uri="{FF2B5EF4-FFF2-40B4-BE49-F238E27FC236}">
                  <a16:creationId xmlns:a16="http://schemas.microsoft.com/office/drawing/2014/main" id="{3F54F593-9FAB-8C55-8B92-AE845E25FFB5}"/>
                </a:ext>
              </a:extLst>
            </p:cNvPr>
            <p:cNvGrpSpPr/>
            <p:nvPr/>
          </p:nvGrpSpPr>
          <p:grpSpPr>
            <a:xfrm>
              <a:off x="7403030" y="2429578"/>
              <a:ext cx="2041538" cy="3026815"/>
              <a:chOff x="7348550" y="2445302"/>
              <a:chExt cx="2041538" cy="3026815"/>
            </a:xfrm>
          </p:grpSpPr>
          <p:pic>
            <p:nvPicPr>
              <p:cNvPr id="24" name="Picture 23">
                <a:extLst>
                  <a:ext uri="{FF2B5EF4-FFF2-40B4-BE49-F238E27FC236}">
                    <a16:creationId xmlns:a16="http://schemas.microsoft.com/office/drawing/2014/main" id="{E8954DB3-ADEB-5D3C-5593-6A5D876FA44A}"/>
                  </a:ext>
                </a:extLst>
              </p:cNvPr>
              <p:cNvPicPr>
                <a:picLocks noChangeAspect="1"/>
              </p:cNvPicPr>
              <p:nvPr/>
            </p:nvPicPr>
            <p:blipFill rotWithShape="1">
              <a:blip r:embed="rId7"/>
              <a:srcRect l="4835" t="9546" r="15426"/>
              <a:stretch/>
            </p:blipFill>
            <p:spPr>
              <a:xfrm>
                <a:off x="7348550" y="2445302"/>
                <a:ext cx="2041538" cy="3026815"/>
              </a:xfrm>
              <a:prstGeom prst="rect">
                <a:avLst/>
              </a:prstGeom>
              <a:effectLst>
                <a:outerShdw blurRad="50800" dist="38100" dir="2700000" algn="tl" rotWithShape="0">
                  <a:prstClr val="black">
                    <a:alpha val="40000"/>
                  </a:prstClr>
                </a:outerShdw>
              </a:effectLst>
            </p:spPr>
          </p:pic>
          <p:sp>
            <p:nvSpPr>
              <p:cNvPr id="25" name="TextBox 24">
                <a:extLst>
                  <a:ext uri="{FF2B5EF4-FFF2-40B4-BE49-F238E27FC236}">
                    <a16:creationId xmlns:a16="http://schemas.microsoft.com/office/drawing/2014/main" id="{96A5C431-F65D-7222-4975-F4ACA5555239}"/>
                  </a:ext>
                </a:extLst>
              </p:cNvPr>
              <p:cNvSpPr txBox="1"/>
              <p:nvPr/>
            </p:nvSpPr>
            <p:spPr>
              <a:xfrm>
                <a:off x="7571241" y="2748223"/>
                <a:ext cx="1276362" cy="292388"/>
              </a:xfrm>
              <a:prstGeom prst="rect">
                <a:avLst/>
              </a:prstGeom>
              <a:noFill/>
            </p:spPr>
            <p:txBody>
              <a:bodyPr wrap="square" rtlCol="0">
                <a:spAutoFit/>
              </a:bodyPr>
              <a:lstStyle/>
              <a:p>
                <a:pPr defTabSz="685800">
                  <a:defRPr/>
                </a:pPr>
                <a:r>
                  <a:rPr lang="el-GR" sz="825" i="1" dirty="0">
                    <a:latin typeface="+mj-lt"/>
                  </a:rPr>
                  <a:t>θ</a:t>
                </a:r>
                <a:r>
                  <a:rPr lang="nb-NO" sz="825" i="1" dirty="0">
                    <a:latin typeface="+mj-lt"/>
                  </a:rPr>
                  <a:t> = 0.00001</a:t>
                </a:r>
                <a:endParaRPr lang="en-GB" sz="1200" i="1" dirty="0">
                  <a:latin typeface="+mj-lt"/>
                </a:endParaRPr>
              </a:p>
            </p:txBody>
          </p:sp>
        </p:grpSp>
        <p:grpSp>
          <p:nvGrpSpPr>
            <p:cNvPr id="19" name="Group 18">
              <a:extLst>
                <a:ext uri="{FF2B5EF4-FFF2-40B4-BE49-F238E27FC236}">
                  <a16:creationId xmlns:a16="http://schemas.microsoft.com/office/drawing/2014/main" id="{35D98BDD-EFE1-93F6-6C09-087F36754DBD}"/>
                </a:ext>
              </a:extLst>
            </p:cNvPr>
            <p:cNvGrpSpPr/>
            <p:nvPr/>
          </p:nvGrpSpPr>
          <p:grpSpPr>
            <a:xfrm>
              <a:off x="4736852" y="691335"/>
              <a:ext cx="2911188" cy="3937148"/>
              <a:chOff x="4467417" y="1467699"/>
              <a:chExt cx="2911188" cy="3937148"/>
            </a:xfrm>
          </p:grpSpPr>
          <p:grpSp>
            <p:nvGrpSpPr>
              <p:cNvPr id="20" name="Group 19">
                <a:extLst>
                  <a:ext uri="{FF2B5EF4-FFF2-40B4-BE49-F238E27FC236}">
                    <a16:creationId xmlns:a16="http://schemas.microsoft.com/office/drawing/2014/main" id="{AB9652F8-6453-8305-DC16-7561576B28F8}"/>
                  </a:ext>
                </a:extLst>
              </p:cNvPr>
              <p:cNvGrpSpPr/>
              <p:nvPr/>
            </p:nvGrpSpPr>
            <p:grpSpPr>
              <a:xfrm>
                <a:off x="4467417" y="1467699"/>
                <a:ext cx="2911188" cy="3937148"/>
                <a:chOff x="4547772" y="1644501"/>
                <a:chExt cx="2335768" cy="2989808"/>
              </a:xfrm>
            </p:grpSpPr>
            <p:pic>
              <p:nvPicPr>
                <p:cNvPr id="22" name="Picture 21">
                  <a:extLst>
                    <a:ext uri="{FF2B5EF4-FFF2-40B4-BE49-F238E27FC236}">
                      <a16:creationId xmlns:a16="http://schemas.microsoft.com/office/drawing/2014/main" id="{6A95B1D5-8E04-8AF9-7C6E-91625DF54147}"/>
                    </a:ext>
                  </a:extLst>
                </p:cNvPr>
                <p:cNvPicPr>
                  <a:picLocks noChangeAspect="1"/>
                </p:cNvPicPr>
                <p:nvPr/>
              </p:nvPicPr>
              <p:blipFill rotWithShape="1">
                <a:blip r:embed="rId8"/>
                <a:srcRect l="16357" t="20707" r="38664" b="21232"/>
                <a:stretch/>
              </p:blipFill>
              <p:spPr>
                <a:xfrm>
                  <a:off x="4547772" y="1644501"/>
                  <a:ext cx="2335768" cy="2989808"/>
                </a:xfrm>
                <a:prstGeom prst="rect">
                  <a:avLst/>
                </a:prstGeom>
                <a:effectLst>
                  <a:outerShdw blurRad="63500" sx="102000" sy="102000" algn="ctr" rotWithShape="0">
                    <a:prstClr val="black">
                      <a:alpha val="40000"/>
                    </a:prstClr>
                  </a:outerShdw>
                </a:effectLst>
              </p:spPr>
            </p:pic>
            <p:sp>
              <p:nvSpPr>
                <p:cNvPr id="23" name="TextBox 22">
                  <a:extLst>
                    <a:ext uri="{FF2B5EF4-FFF2-40B4-BE49-F238E27FC236}">
                      <a16:creationId xmlns:a16="http://schemas.microsoft.com/office/drawing/2014/main" id="{6AFA499D-D672-CBA3-4C5C-972C87473D8C}"/>
                    </a:ext>
                  </a:extLst>
                </p:cNvPr>
                <p:cNvSpPr txBox="1"/>
                <p:nvPr/>
              </p:nvSpPr>
              <p:spPr>
                <a:xfrm>
                  <a:off x="4547772" y="1952702"/>
                  <a:ext cx="1262548" cy="222035"/>
                </a:xfrm>
                <a:prstGeom prst="rect">
                  <a:avLst/>
                </a:prstGeom>
                <a:noFill/>
              </p:spPr>
              <p:txBody>
                <a:bodyPr wrap="square" rtlCol="0">
                  <a:spAutoFit/>
                </a:bodyPr>
                <a:lstStyle/>
                <a:p>
                  <a:pPr defTabSz="685800">
                    <a:defRPr/>
                  </a:pPr>
                  <a:r>
                    <a:rPr lang="el-GR" sz="825" i="1" dirty="0">
                      <a:latin typeface="+mj-lt"/>
                    </a:rPr>
                    <a:t>θ</a:t>
                  </a:r>
                  <a:r>
                    <a:rPr lang="nb-NO" sz="825" i="1" dirty="0">
                      <a:latin typeface="+mj-lt"/>
                    </a:rPr>
                    <a:t> = 0.0001</a:t>
                  </a:r>
                  <a:endParaRPr lang="en-GB" sz="825" i="1" dirty="0">
                    <a:latin typeface="+mj-lt"/>
                  </a:endParaRPr>
                </a:p>
              </p:txBody>
            </p:sp>
          </p:grpSp>
          <p:pic>
            <p:nvPicPr>
              <p:cNvPr id="21" name="Picture 16" descr="Related image">
                <a:extLst>
                  <a:ext uri="{FF2B5EF4-FFF2-40B4-BE49-F238E27FC236}">
                    <a16:creationId xmlns:a16="http://schemas.microsoft.com/office/drawing/2014/main" id="{8C3E0D44-52ED-0AE9-15FA-81A946D72BD4}"/>
                  </a:ext>
                </a:extLst>
              </p:cNvPr>
              <p:cNvPicPr>
                <a:picLocks noChangeAspect="1" noChangeArrowheads="1" noCrop="1"/>
              </p:cNvPicPr>
              <p:nvPr/>
            </p:nvPicPr>
            <p:blipFill>
              <a:blip r:embed="rId9"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rot="21156663" flipH="1">
                <a:off x="4829964" y="2790562"/>
                <a:ext cx="1535287" cy="1181422"/>
              </a:xfrm>
              <a:prstGeom prst="rect">
                <a:avLst/>
              </a:prstGeom>
              <a:noFill/>
              <a:extLst>
                <a:ext uri="{909E8E84-426E-40DD-AFC4-6F175D3DCCD1}">
                  <a14:hiddenFill xmlns:a14="http://schemas.microsoft.com/office/drawing/2010/main">
                    <a:solidFill>
                      <a:srgbClr val="FFFFFF"/>
                    </a:solidFill>
                  </a14:hiddenFill>
                </a:ext>
              </a:extLst>
            </p:spPr>
          </p:pic>
        </p:grpSp>
      </p:grpSp>
    </p:spTree>
    <p:extLst>
      <p:ext uri="{BB962C8B-B14F-4D97-AF65-F5344CB8AC3E}">
        <p14:creationId xmlns:p14="http://schemas.microsoft.com/office/powerpoint/2010/main" val="2281044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down)">
                                      <p:cBhvr>
                                        <p:cTn id="7" dur="1000"/>
                                        <p:tgtEl>
                                          <p:spTgt spid="16"/>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F6A2306-4EB1-6284-E746-AA56F40642FC}"/>
              </a:ext>
            </a:extLst>
          </p:cNvPr>
          <p:cNvPicPr>
            <a:picLocks noChangeAspect="1"/>
          </p:cNvPicPr>
          <p:nvPr/>
        </p:nvPicPr>
        <p:blipFill>
          <a:blip r:embed="rId2"/>
          <a:stretch>
            <a:fillRect/>
          </a:stretch>
        </p:blipFill>
        <p:spPr>
          <a:xfrm>
            <a:off x="1184116" y="303195"/>
            <a:ext cx="5955911" cy="4203843"/>
          </a:xfrm>
          <a:prstGeom prst="rect">
            <a:avLst/>
          </a:prstGeom>
        </p:spPr>
      </p:pic>
      <p:sp>
        <p:nvSpPr>
          <p:cNvPr id="4" name="TextBox 3">
            <a:extLst>
              <a:ext uri="{FF2B5EF4-FFF2-40B4-BE49-F238E27FC236}">
                <a16:creationId xmlns:a16="http://schemas.microsoft.com/office/drawing/2014/main" id="{A73A92D4-BFAB-19CF-1516-726BAEB9F7F7}"/>
              </a:ext>
            </a:extLst>
          </p:cNvPr>
          <p:cNvSpPr txBox="1"/>
          <p:nvPr/>
        </p:nvSpPr>
        <p:spPr>
          <a:xfrm rot="16200000">
            <a:off x="-1021196" y="2151201"/>
            <a:ext cx="3749491" cy="507831"/>
          </a:xfrm>
          <a:prstGeom prst="rect">
            <a:avLst/>
          </a:prstGeom>
          <a:noFill/>
        </p:spPr>
        <p:txBody>
          <a:bodyPr wrap="square" rtlCol="0">
            <a:spAutoFit/>
          </a:bodyPr>
          <a:lstStyle/>
          <a:p>
            <a:pPr algn="ctr"/>
            <a:r>
              <a:rPr lang="en-US" sz="900" dirty="0" err="1">
                <a:solidFill>
                  <a:schemeClr val="bg1">
                    <a:lumMod val="50000"/>
                  </a:schemeClr>
                </a:solidFill>
                <a:latin typeface="Arial" panose="020B0604020202020204" pitchFamily="34" charset="0"/>
              </a:rPr>
              <a:t>Fandos</a:t>
            </a:r>
            <a:r>
              <a:rPr lang="en-US" sz="900" dirty="0">
                <a:solidFill>
                  <a:schemeClr val="bg1">
                    <a:lumMod val="50000"/>
                  </a:schemeClr>
                </a:solidFill>
                <a:latin typeface="Arial" panose="020B0604020202020204" pitchFamily="34" charset="0"/>
              </a:rPr>
              <a:t> et al. (2023) </a:t>
            </a:r>
            <a:r>
              <a:rPr lang="en-US" sz="900" dirty="0" err="1">
                <a:solidFill>
                  <a:schemeClr val="bg1">
                    <a:lumMod val="50000"/>
                  </a:schemeClr>
                </a:solidFill>
                <a:latin typeface="Arial" panose="020B0604020202020204" pitchFamily="34" charset="0"/>
              </a:rPr>
              <a:t>Standardised</a:t>
            </a:r>
            <a:r>
              <a:rPr lang="en-US" sz="900" dirty="0">
                <a:solidFill>
                  <a:schemeClr val="bg1">
                    <a:lumMod val="50000"/>
                  </a:schemeClr>
                </a:solidFill>
                <a:latin typeface="Arial" panose="020B0604020202020204" pitchFamily="34" charset="0"/>
              </a:rPr>
              <a:t> empirical dispersal kernels </a:t>
            </a:r>
            <a:r>
              <a:rPr lang="en-US" sz="900" dirty="0" err="1">
                <a:solidFill>
                  <a:schemeClr val="bg1">
                    <a:lumMod val="50000"/>
                  </a:schemeClr>
                </a:solidFill>
                <a:latin typeface="Arial" panose="020B0604020202020204" pitchFamily="34" charset="0"/>
              </a:rPr>
              <a:t>emphasise</a:t>
            </a:r>
            <a:r>
              <a:rPr lang="en-US" sz="900" dirty="0">
                <a:solidFill>
                  <a:schemeClr val="bg1">
                    <a:lumMod val="50000"/>
                  </a:schemeClr>
                </a:solidFill>
                <a:latin typeface="Arial" panose="020B0604020202020204" pitchFamily="34" charset="0"/>
              </a:rPr>
              <a:t> the pervasiveness of long‐distance dispersal in European birds. </a:t>
            </a:r>
            <a:r>
              <a:rPr lang="en-US" sz="900" i="1" dirty="0">
                <a:solidFill>
                  <a:schemeClr val="bg1">
                    <a:lumMod val="50000"/>
                  </a:schemeClr>
                </a:solidFill>
                <a:latin typeface="Arial" panose="020B0604020202020204" pitchFamily="34" charset="0"/>
              </a:rPr>
              <a:t>J. Animal Ecology</a:t>
            </a:r>
            <a:r>
              <a:rPr lang="en-US" sz="900" dirty="0">
                <a:solidFill>
                  <a:schemeClr val="bg1">
                    <a:lumMod val="50000"/>
                  </a:schemeClr>
                </a:solidFill>
                <a:latin typeface="Arial" panose="020B0604020202020204" pitchFamily="34" charset="0"/>
              </a:rPr>
              <a:t> 92(1): 158-170.</a:t>
            </a:r>
            <a:endParaRPr lang="nb-NO" sz="900" dirty="0">
              <a:solidFill>
                <a:schemeClr val="bg1">
                  <a:lumMod val="50000"/>
                </a:schemeClr>
              </a:solidFill>
            </a:endParaRPr>
          </a:p>
        </p:txBody>
      </p:sp>
    </p:spTree>
    <p:extLst>
      <p:ext uri="{BB962C8B-B14F-4D97-AF65-F5344CB8AC3E}">
        <p14:creationId xmlns:p14="http://schemas.microsoft.com/office/powerpoint/2010/main" val="37216552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Fig. 4">
            <a:extLst>
              <a:ext uri="{FF2B5EF4-FFF2-40B4-BE49-F238E27FC236}">
                <a16:creationId xmlns:a16="http://schemas.microsoft.com/office/drawing/2014/main" id="{BFDE0B51-0561-9915-7CA0-E21092DC2C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3032" y="1008059"/>
            <a:ext cx="5724868" cy="273943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C1375560-EF6C-D1B7-D842-79B9D7F4F1DF}"/>
              </a:ext>
            </a:extLst>
          </p:cNvPr>
          <p:cNvSpPr txBox="1"/>
          <p:nvPr/>
        </p:nvSpPr>
        <p:spPr>
          <a:xfrm rot="16200000">
            <a:off x="532265" y="2123863"/>
            <a:ext cx="2739438" cy="507831"/>
          </a:xfrm>
          <a:prstGeom prst="rect">
            <a:avLst/>
          </a:prstGeom>
          <a:noFill/>
        </p:spPr>
        <p:txBody>
          <a:bodyPr wrap="square" rtlCol="0">
            <a:spAutoFit/>
          </a:bodyPr>
          <a:lstStyle/>
          <a:p>
            <a:pPr algn="ctr"/>
            <a:r>
              <a:rPr lang="nb-NO" sz="675" dirty="0" err="1">
                <a:solidFill>
                  <a:schemeClr val="bg1">
                    <a:lumMod val="50000"/>
                  </a:schemeClr>
                </a:solidFill>
                <a:latin typeface="Arial" panose="020B0604020202020204" pitchFamily="34" charset="0"/>
              </a:rPr>
              <a:t>Reyes-Moya</a:t>
            </a:r>
            <a:r>
              <a:rPr lang="nb-NO" sz="675" dirty="0">
                <a:solidFill>
                  <a:schemeClr val="bg1">
                    <a:lumMod val="50000"/>
                  </a:schemeClr>
                </a:solidFill>
                <a:latin typeface="Arial" panose="020B0604020202020204" pitchFamily="34" charset="0"/>
              </a:rPr>
              <a:t> et al. (2022) </a:t>
            </a:r>
            <a:r>
              <a:rPr lang="nb-NO" sz="675" dirty="0" err="1">
                <a:solidFill>
                  <a:schemeClr val="bg1">
                    <a:lumMod val="50000"/>
                  </a:schemeClr>
                </a:solidFill>
                <a:latin typeface="Arial" panose="020B0604020202020204" pitchFamily="34" charset="0"/>
              </a:rPr>
              <a:t>Integrating</a:t>
            </a:r>
            <a:r>
              <a:rPr lang="nb-NO" sz="675" dirty="0">
                <a:solidFill>
                  <a:schemeClr val="bg1">
                    <a:lumMod val="50000"/>
                  </a:schemeClr>
                </a:solidFill>
                <a:latin typeface="Arial" panose="020B0604020202020204" pitchFamily="34" charset="0"/>
              </a:rPr>
              <a:t> dispersal, </a:t>
            </a:r>
            <a:r>
              <a:rPr lang="nb-NO" sz="675" dirty="0" err="1">
                <a:solidFill>
                  <a:schemeClr val="bg1">
                    <a:lumMod val="50000"/>
                  </a:schemeClr>
                </a:solidFill>
                <a:latin typeface="Arial" panose="020B0604020202020204" pitchFamily="34" charset="0"/>
              </a:rPr>
              <a:t>breeding</a:t>
            </a:r>
            <a:r>
              <a:rPr lang="nb-NO" sz="675" dirty="0">
                <a:solidFill>
                  <a:schemeClr val="bg1">
                    <a:lumMod val="50000"/>
                  </a:schemeClr>
                </a:solidFill>
                <a:latin typeface="Arial" panose="020B0604020202020204" pitchFamily="34" charset="0"/>
              </a:rPr>
              <a:t> and </a:t>
            </a:r>
            <a:r>
              <a:rPr lang="nb-NO" sz="675" dirty="0" err="1">
                <a:solidFill>
                  <a:schemeClr val="bg1">
                    <a:lumMod val="50000"/>
                  </a:schemeClr>
                </a:solidFill>
                <a:latin typeface="Arial" panose="020B0604020202020204" pitchFamily="34" charset="0"/>
              </a:rPr>
              <a:t>abundance</a:t>
            </a:r>
            <a:r>
              <a:rPr lang="nb-NO" sz="675" dirty="0">
                <a:solidFill>
                  <a:schemeClr val="bg1">
                    <a:lumMod val="50000"/>
                  </a:schemeClr>
                </a:solidFill>
                <a:latin typeface="Arial" panose="020B0604020202020204" pitchFamily="34" charset="0"/>
              </a:rPr>
              <a:t> data </a:t>
            </a:r>
            <a:r>
              <a:rPr lang="nb-NO" sz="675" dirty="0" err="1">
                <a:solidFill>
                  <a:schemeClr val="bg1">
                    <a:lumMod val="50000"/>
                  </a:schemeClr>
                </a:solidFill>
                <a:latin typeface="Arial" panose="020B0604020202020204" pitchFamily="34" charset="0"/>
              </a:rPr>
              <a:t>with</a:t>
            </a:r>
            <a:r>
              <a:rPr lang="nb-NO" sz="675" dirty="0">
                <a:solidFill>
                  <a:schemeClr val="bg1">
                    <a:lumMod val="50000"/>
                  </a:schemeClr>
                </a:solidFill>
                <a:latin typeface="Arial" panose="020B0604020202020204" pitchFamily="34" charset="0"/>
              </a:rPr>
              <a:t> </a:t>
            </a:r>
            <a:r>
              <a:rPr lang="nb-NO" sz="675" dirty="0" err="1">
                <a:solidFill>
                  <a:schemeClr val="bg1">
                    <a:lumMod val="50000"/>
                  </a:schemeClr>
                </a:solidFill>
                <a:latin typeface="Arial" panose="020B0604020202020204" pitchFamily="34" charset="0"/>
              </a:rPr>
              <a:t>graph</a:t>
            </a:r>
            <a:r>
              <a:rPr lang="nb-NO" sz="675" dirty="0">
                <a:solidFill>
                  <a:schemeClr val="bg1">
                    <a:lumMod val="50000"/>
                  </a:schemeClr>
                </a:solidFill>
                <a:latin typeface="Arial" panose="020B0604020202020204" pitchFamily="34" charset="0"/>
              </a:rPr>
              <a:t> </a:t>
            </a:r>
            <a:r>
              <a:rPr lang="nb-NO" sz="675" dirty="0" err="1">
                <a:solidFill>
                  <a:schemeClr val="bg1">
                    <a:lumMod val="50000"/>
                  </a:schemeClr>
                </a:solidFill>
                <a:latin typeface="Arial" panose="020B0604020202020204" pitchFamily="34" charset="0"/>
              </a:rPr>
              <a:t>theory</a:t>
            </a:r>
            <a:r>
              <a:rPr lang="nb-NO" sz="675" dirty="0">
                <a:solidFill>
                  <a:schemeClr val="bg1">
                    <a:lumMod val="50000"/>
                  </a:schemeClr>
                </a:solidFill>
                <a:latin typeface="Arial" panose="020B0604020202020204" pitchFamily="34" charset="0"/>
              </a:rPr>
              <a:t> for </a:t>
            </a:r>
            <a:r>
              <a:rPr lang="nb-NO" sz="675" dirty="0" err="1">
                <a:solidFill>
                  <a:schemeClr val="bg1">
                    <a:lumMod val="50000"/>
                  </a:schemeClr>
                </a:solidFill>
                <a:latin typeface="Arial" panose="020B0604020202020204" pitchFamily="34" charset="0"/>
              </a:rPr>
              <a:t>the</a:t>
            </a:r>
            <a:r>
              <a:rPr lang="nb-NO" sz="675" dirty="0">
                <a:solidFill>
                  <a:schemeClr val="bg1">
                    <a:lumMod val="50000"/>
                  </a:schemeClr>
                </a:solidFill>
                <a:latin typeface="Arial" panose="020B0604020202020204" pitchFamily="34" charset="0"/>
              </a:rPr>
              <a:t> </a:t>
            </a:r>
            <a:r>
              <a:rPr lang="nb-NO" sz="675" dirty="0" err="1">
                <a:solidFill>
                  <a:schemeClr val="bg1">
                    <a:lumMod val="50000"/>
                  </a:schemeClr>
                </a:solidFill>
                <a:latin typeface="Arial" panose="020B0604020202020204" pitchFamily="34" charset="0"/>
              </a:rPr>
              <a:t>characterization</a:t>
            </a:r>
            <a:r>
              <a:rPr lang="nb-NO" sz="675" dirty="0">
                <a:solidFill>
                  <a:schemeClr val="bg1">
                    <a:lumMod val="50000"/>
                  </a:schemeClr>
                </a:solidFill>
                <a:latin typeface="Arial" panose="020B0604020202020204" pitchFamily="34" charset="0"/>
              </a:rPr>
              <a:t> and management of </a:t>
            </a:r>
            <a:r>
              <a:rPr lang="nb-NO" sz="675" dirty="0" err="1">
                <a:solidFill>
                  <a:schemeClr val="bg1">
                    <a:lumMod val="50000"/>
                  </a:schemeClr>
                </a:solidFill>
                <a:latin typeface="Arial" panose="020B0604020202020204" pitchFamily="34" charset="0"/>
              </a:rPr>
              <a:t>functional</a:t>
            </a:r>
            <a:r>
              <a:rPr lang="nb-NO" sz="675" dirty="0">
                <a:solidFill>
                  <a:schemeClr val="bg1">
                    <a:lumMod val="50000"/>
                  </a:schemeClr>
                </a:solidFill>
                <a:latin typeface="Arial" panose="020B0604020202020204" pitchFamily="34" charset="0"/>
              </a:rPr>
              <a:t> </a:t>
            </a:r>
            <a:r>
              <a:rPr lang="nb-NO" sz="675" dirty="0" err="1">
                <a:solidFill>
                  <a:schemeClr val="bg1">
                    <a:lumMod val="50000"/>
                  </a:schemeClr>
                </a:solidFill>
                <a:latin typeface="Arial" panose="020B0604020202020204" pitchFamily="34" charset="0"/>
              </a:rPr>
              <a:t>connectivity</a:t>
            </a:r>
            <a:r>
              <a:rPr lang="nb-NO" sz="675" dirty="0">
                <a:solidFill>
                  <a:schemeClr val="bg1">
                    <a:lumMod val="50000"/>
                  </a:schemeClr>
                </a:solidFill>
                <a:latin typeface="Arial" panose="020B0604020202020204" pitchFamily="34" charset="0"/>
              </a:rPr>
              <a:t> in </a:t>
            </a:r>
            <a:r>
              <a:rPr lang="nb-NO" sz="675" dirty="0" err="1">
                <a:solidFill>
                  <a:schemeClr val="bg1">
                    <a:lumMod val="50000"/>
                  </a:schemeClr>
                </a:solidFill>
                <a:latin typeface="Arial" panose="020B0604020202020204" pitchFamily="34" charset="0"/>
              </a:rPr>
              <a:t>amphibian</a:t>
            </a:r>
            <a:r>
              <a:rPr lang="nb-NO" sz="675" dirty="0">
                <a:solidFill>
                  <a:schemeClr val="bg1">
                    <a:lumMod val="50000"/>
                  </a:schemeClr>
                </a:solidFill>
                <a:latin typeface="Arial" panose="020B0604020202020204" pitchFamily="34" charset="0"/>
              </a:rPr>
              <a:t> pondscapes. </a:t>
            </a:r>
          </a:p>
          <a:p>
            <a:pPr algn="ctr"/>
            <a:r>
              <a:rPr lang="nb-NO" sz="675" i="1" dirty="0">
                <a:solidFill>
                  <a:schemeClr val="bg1">
                    <a:lumMod val="50000"/>
                  </a:schemeClr>
                </a:solidFill>
                <a:latin typeface="Arial" panose="020B0604020202020204" pitchFamily="34" charset="0"/>
              </a:rPr>
              <a:t>Landscape Ecology</a:t>
            </a:r>
            <a:r>
              <a:rPr lang="nb-NO" sz="675" dirty="0">
                <a:solidFill>
                  <a:schemeClr val="bg1">
                    <a:lumMod val="50000"/>
                  </a:schemeClr>
                </a:solidFill>
                <a:latin typeface="Arial" panose="020B0604020202020204" pitchFamily="34" charset="0"/>
              </a:rPr>
              <a:t> 37(12): 3159-3177.</a:t>
            </a:r>
            <a:endParaRPr lang="nb-NO" sz="675" dirty="0">
              <a:solidFill>
                <a:schemeClr val="bg1">
                  <a:lumMod val="50000"/>
                </a:schemeClr>
              </a:solidFill>
            </a:endParaRPr>
          </a:p>
        </p:txBody>
      </p:sp>
      <p:sp>
        <p:nvSpPr>
          <p:cNvPr id="3" name="TextBox 2">
            <a:extLst>
              <a:ext uri="{FF2B5EF4-FFF2-40B4-BE49-F238E27FC236}">
                <a16:creationId xmlns:a16="http://schemas.microsoft.com/office/drawing/2014/main" id="{C428F573-08E2-65A7-A374-0B36135E78ED}"/>
              </a:ext>
            </a:extLst>
          </p:cNvPr>
          <p:cNvSpPr txBox="1"/>
          <p:nvPr/>
        </p:nvSpPr>
        <p:spPr>
          <a:xfrm rot="16200000">
            <a:off x="1374066" y="2109998"/>
            <a:ext cx="2017930" cy="300082"/>
          </a:xfrm>
          <a:prstGeom prst="rect">
            <a:avLst/>
          </a:prstGeom>
          <a:solidFill>
            <a:schemeClr val="bg1"/>
          </a:solidFill>
        </p:spPr>
        <p:txBody>
          <a:bodyPr wrap="square" rtlCol="0">
            <a:spAutoFit/>
          </a:bodyPr>
          <a:lstStyle/>
          <a:p>
            <a:r>
              <a:rPr lang="nb-NO" sz="1350" dirty="0"/>
              <a:t>Movement </a:t>
            </a:r>
            <a:r>
              <a:rPr lang="nb-NO" sz="1350" dirty="0" err="1"/>
              <a:t>probability</a:t>
            </a:r>
            <a:endParaRPr lang="nb-NO" sz="1350" dirty="0"/>
          </a:p>
        </p:txBody>
      </p:sp>
      <p:sp>
        <p:nvSpPr>
          <p:cNvPr id="4" name="TextBox 3">
            <a:extLst>
              <a:ext uri="{FF2B5EF4-FFF2-40B4-BE49-F238E27FC236}">
                <a16:creationId xmlns:a16="http://schemas.microsoft.com/office/drawing/2014/main" id="{B4F9253A-AA29-C25C-2048-EFA33BA8D3D3}"/>
              </a:ext>
            </a:extLst>
          </p:cNvPr>
          <p:cNvSpPr txBox="1"/>
          <p:nvPr/>
        </p:nvSpPr>
        <p:spPr>
          <a:xfrm>
            <a:off x="4147692" y="3646910"/>
            <a:ext cx="2017930" cy="300082"/>
          </a:xfrm>
          <a:prstGeom prst="rect">
            <a:avLst/>
          </a:prstGeom>
          <a:solidFill>
            <a:schemeClr val="bg1"/>
          </a:solidFill>
        </p:spPr>
        <p:txBody>
          <a:bodyPr wrap="square" rtlCol="0">
            <a:spAutoFit/>
          </a:bodyPr>
          <a:lstStyle/>
          <a:p>
            <a:r>
              <a:rPr lang="nb-NO" sz="1350" dirty="0" err="1"/>
              <a:t>Geographic</a:t>
            </a:r>
            <a:r>
              <a:rPr lang="nb-NO" sz="1350" dirty="0"/>
              <a:t> </a:t>
            </a:r>
            <a:r>
              <a:rPr lang="nb-NO" sz="1350" dirty="0" err="1"/>
              <a:t>distance</a:t>
            </a:r>
            <a:r>
              <a:rPr lang="nb-NO" sz="1350" dirty="0"/>
              <a:t> (m)</a:t>
            </a:r>
          </a:p>
        </p:txBody>
      </p:sp>
    </p:spTree>
    <p:extLst>
      <p:ext uri="{BB962C8B-B14F-4D97-AF65-F5344CB8AC3E}">
        <p14:creationId xmlns:p14="http://schemas.microsoft.com/office/powerpoint/2010/main" val="39327596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F5265-0DD8-BCBE-4362-D6C8B5C5D40E}"/>
              </a:ext>
            </a:extLst>
          </p:cNvPr>
          <p:cNvSpPr>
            <a:spLocks noGrp="1"/>
          </p:cNvSpPr>
          <p:nvPr>
            <p:ph type="title"/>
          </p:nvPr>
        </p:nvSpPr>
        <p:spPr/>
        <p:txBody>
          <a:bodyPr/>
          <a:lstStyle/>
          <a:p>
            <a:r>
              <a:rPr lang="nb-NO" dirty="0"/>
              <a:t>In </a:t>
            </a:r>
            <a:r>
              <a:rPr lang="nb-NO" dirty="0" err="1"/>
              <a:t>summary</a:t>
            </a:r>
            <a:endParaRPr lang="nb-NO" dirty="0"/>
          </a:p>
        </p:txBody>
      </p:sp>
      <p:sp>
        <p:nvSpPr>
          <p:cNvPr id="5" name="Content Placeholder 4">
            <a:extLst>
              <a:ext uri="{FF2B5EF4-FFF2-40B4-BE49-F238E27FC236}">
                <a16:creationId xmlns:a16="http://schemas.microsoft.com/office/drawing/2014/main" id="{742A0F39-7128-7627-FC64-0CF0AC7EA348}"/>
              </a:ext>
            </a:extLst>
          </p:cNvPr>
          <p:cNvSpPr>
            <a:spLocks noGrp="1"/>
          </p:cNvSpPr>
          <p:nvPr>
            <p:ph sz="half" idx="2"/>
          </p:nvPr>
        </p:nvSpPr>
        <p:spPr/>
        <p:txBody>
          <a:bodyPr/>
          <a:lstStyle/>
          <a:p>
            <a:pPr marL="0" indent="0">
              <a:buNone/>
            </a:pPr>
            <a:r>
              <a:rPr lang="nb-NO" dirty="0"/>
              <a:t>Network parameters</a:t>
            </a:r>
          </a:p>
          <a:p>
            <a:pPr marL="457200" indent="-457200">
              <a:buFont typeface="+mj-lt"/>
              <a:buAutoNum type="arabicPeriod"/>
            </a:pPr>
            <a:r>
              <a:rPr lang="nb-NO" dirty="0" err="1"/>
              <a:t>Quality</a:t>
            </a:r>
            <a:r>
              <a:rPr lang="nb-NO" dirty="0"/>
              <a:t> of </a:t>
            </a:r>
            <a:r>
              <a:rPr lang="nb-NO" dirty="0" err="1"/>
              <a:t>each</a:t>
            </a:r>
            <a:r>
              <a:rPr lang="nb-NO" dirty="0"/>
              <a:t> </a:t>
            </a:r>
            <a:r>
              <a:rPr lang="nb-NO" dirty="0" err="1"/>
              <a:t>pixel</a:t>
            </a:r>
            <a:endParaRPr lang="nb-NO" dirty="0"/>
          </a:p>
          <a:p>
            <a:pPr marL="457200" indent="-457200">
              <a:buFont typeface="+mj-lt"/>
              <a:buAutoNum type="arabicPeriod"/>
            </a:pPr>
            <a:r>
              <a:rPr lang="nb-NO" dirty="0" err="1"/>
              <a:t>Permeability</a:t>
            </a:r>
            <a:r>
              <a:rPr lang="nb-NO" dirty="0"/>
              <a:t> </a:t>
            </a:r>
            <a:r>
              <a:rPr lang="nb-NO" dirty="0" err="1"/>
              <a:t>between</a:t>
            </a:r>
            <a:r>
              <a:rPr lang="nb-NO" dirty="0"/>
              <a:t> </a:t>
            </a:r>
            <a:r>
              <a:rPr lang="nb-NO" dirty="0" err="1"/>
              <a:t>pixels</a:t>
            </a:r>
            <a:endParaRPr lang="nb-NO" dirty="0"/>
          </a:p>
          <a:p>
            <a:pPr lvl="1"/>
            <a:r>
              <a:rPr lang="nb-NO" dirty="0" err="1"/>
              <a:t>Likelihood</a:t>
            </a:r>
            <a:endParaRPr lang="nb-NO" dirty="0"/>
          </a:p>
          <a:p>
            <a:pPr lvl="1"/>
            <a:r>
              <a:rPr lang="nb-NO" dirty="0" err="1"/>
              <a:t>Cost</a:t>
            </a:r>
            <a:endParaRPr lang="nb-NO" dirty="0"/>
          </a:p>
          <a:p>
            <a:pPr marL="0" indent="0">
              <a:buNone/>
            </a:pPr>
            <a:endParaRPr lang="nb-NO" dirty="0"/>
          </a:p>
        </p:txBody>
      </p:sp>
      <p:pic>
        <p:nvPicPr>
          <p:cNvPr id="118" name="Picture 117">
            <a:extLst>
              <a:ext uri="{FF2B5EF4-FFF2-40B4-BE49-F238E27FC236}">
                <a16:creationId xmlns:a16="http://schemas.microsoft.com/office/drawing/2014/main" id="{93C0B728-67FF-E276-F659-FD0A9CE4EFE8}"/>
              </a:ext>
            </a:extLst>
          </p:cNvPr>
          <p:cNvPicPr>
            <a:picLocks noChangeAspect="1"/>
          </p:cNvPicPr>
          <p:nvPr/>
        </p:nvPicPr>
        <p:blipFill>
          <a:blip r:embed="rId2"/>
          <a:srcRect r="11055"/>
          <a:stretch/>
        </p:blipFill>
        <p:spPr>
          <a:xfrm rot="5400000">
            <a:off x="653801" y="1003550"/>
            <a:ext cx="3395598" cy="3788800"/>
          </a:xfrm>
          <a:prstGeom prst="rect">
            <a:avLst/>
          </a:prstGeom>
        </p:spPr>
      </p:pic>
      <p:grpSp>
        <p:nvGrpSpPr>
          <p:cNvPr id="250" name="Group 249">
            <a:extLst>
              <a:ext uri="{FF2B5EF4-FFF2-40B4-BE49-F238E27FC236}">
                <a16:creationId xmlns:a16="http://schemas.microsoft.com/office/drawing/2014/main" id="{1E4FC16E-AA3F-53D3-D443-0836E5DF07A3}"/>
              </a:ext>
            </a:extLst>
          </p:cNvPr>
          <p:cNvGrpSpPr/>
          <p:nvPr/>
        </p:nvGrpSpPr>
        <p:grpSpPr>
          <a:xfrm>
            <a:off x="1928813" y="2228850"/>
            <a:ext cx="896920" cy="914400"/>
            <a:chOff x="1928813" y="2228850"/>
            <a:chExt cx="896920" cy="914400"/>
          </a:xfrm>
        </p:grpSpPr>
        <p:cxnSp>
          <p:nvCxnSpPr>
            <p:cNvPr id="120" name="Straight Arrow Connector 119">
              <a:extLst>
                <a:ext uri="{FF2B5EF4-FFF2-40B4-BE49-F238E27FC236}">
                  <a16:creationId xmlns:a16="http://schemas.microsoft.com/office/drawing/2014/main" id="{93EDDBB4-9D5F-C8F1-25E3-188E8B8BA717}"/>
                </a:ext>
              </a:extLst>
            </p:cNvPr>
            <p:cNvCxnSpPr/>
            <p:nvPr/>
          </p:nvCxnSpPr>
          <p:spPr>
            <a:xfrm>
              <a:off x="2351600" y="2691870"/>
              <a:ext cx="474133" cy="0"/>
            </a:xfrm>
            <a:prstGeom prst="straightConnector1">
              <a:avLst/>
            </a:prstGeom>
            <a:ln w="57150">
              <a:solidFill>
                <a:srgbClr val="FFC000"/>
              </a:solidFill>
              <a:tailEnd type="triangle"/>
            </a:ln>
          </p:spPr>
          <p:style>
            <a:lnRef idx="2">
              <a:schemeClr val="accent1"/>
            </a:lnRef>
            <a:fillRef idx="0">
              <a:schemeClr val="accent1"/>
            </a:fillRef>
            <a:effectRef idx="1">
              <a:schemeClr val="accent1"/>
            </a:effectRef>
            <a:fontRef idx="minor">
              <a:schemeClr val="tx1"/>
            </a:fontRef>
          </p:style>
        </p:cxnSp>
        <p:cxnSp>
          <p:nvCxnSpPr>
            <p:cNvPr id="233" name="Straight Arrow Connector 232">
              <a:extLst>
                <a:ext uri="{FF2B5EF4-FFF2-40B4-BE49-F238E27FC236}">
                  <a16:creationId xmlns:a16="http://schemas.microsoft.com/office/drawing/2014/main" id="{2DB0DE26-7D72-920E-0811-F6A77F303D8C}"/>
                </a:ext>
              </a:extLst>
            </p:cNvPr>
            <p:cNvCxnSpPr>
              <a:cxnSpLocks/>
            </p:cNvCxnSpPr>
            <p:nvPr/>
          </p:nvCxnSpPr>
          <p:spPr>
            <a:xfrm flipV="1">
              <a:off x="2373032" y="2278856"/>
              <a:ext cx="0" cy="413014"/>
            </a:xfrm>
            <a:prstGeom prst="straightConnector1">
              <a:avLst/>
            </a:prstGeom>
            <a:ln w="57150">
              <a:solidFill>
                <a:srgbClr val="FFC000"/>
              </a:solidFill>
              <a:tailEnd type="triangle"/>
            </a:ln>
          </p:spPr>
          <p:style>
            <a:lnRef idx="2">
              <a:schemeClr val="accent1"/>
            </a:lnRef>
            <a:fillRef idx="0">
              <a:schemeClr val="accent1"/>
            </a:fillRef>
            <a:effectRef idx="1">
              <a:schemeClr val="accent1"/>
            </a:effectRef>
            <a:fontRef idx="minor">
              <a:schemeClr val="tx1"/>
            </a:fontRef>
          </p:style>
        </p:cxnSp>
        <p:cxnSp>
          <p:nvCxnSpPr>
            <p:cNvPr id="234" name="Straight Arrow Connector 233">
              <a:extLst>
                <a:ext uri="{FF2B5EF4-FFF2-40B4-BE49-F238E27FC236}">
                  <a16:creationId xmlns:a16="http://schemas.microsoft.com/office/drawing/2014/main" id="{82ECFD0D-B4CD-EBC0-9803-1D2BBC30F829}"/>
                </a:ext>
              </a:extLst>
            </p:cNvPr>
            <p:cNvCxnSpPr>
              <a:cxnSpLocks/>
            </p:cNvCxnSpPr>
            <p:nvPr/>
          </p:nvCxnSpPr>
          <p:spPr>
            <a:xfrm flipH="1">
              <a:off x="1928813" y="2691870"/>
              <a:ext cx="422786" cy="0"/>
            </a:xfrm>
            <a:prstGeom prst="straightConnector1">
              <a:avLst/>
            </a:prstGeom>
            <a:ln w="57150">
              <a:solidFill>
                <a:srgbClr val="FFC000"/>
              </a:solidFill>
              <a:tailEnd type="triangle"/>
            </a:ln>
          </p:spPr>
          <p:style>
            <a:lnRef idx="2">
              <a:schemeClr val="accent1"/>
            </a:lnRef>
            <a:fillRef idx="0">
              <a:schemeClr val="accent1"/>
            </a:fillRef>
            <a:effectRef idx="1">
              <a:schemeClr val="accent1"/>
            </a:effectRef>
            <a:fontRef idx="minor">
              <a:schemeClr val="tx1"/>
            </a:fontRef>
          </p:style>
        </p:cxnSp>
        <p:cxnSp>
          <p:nvCxnSpPr>
            <p:cNvPr id="235" name="Straight Arrow Connector 234">
              <a:extLst>
                <a:ext uri="{FF2B5EF4-FFF2-40B4-BE49-F238E27FC236}">
                  <a16:creationId xmlns:a16="http://schemas.microsoft.com/office/drawing/2014/main" id="{96A41BE3-9E72-6543-D0F4-C95498A13647}"/>
                </a:ext>
              </a:extLst>
            </p:cNvPr>
            <p:cNvCxnSpPr>
              <a:cxnSpLocks/>
            </p:cNvCxnSpPr>
            <p:nvPr/>
          </p:nvCxnSpPr>
          <p:spPr>
            <a:xfrm flipV="1">
              <a:off x="2373032" y="2228850"/>
              <a:ext cx="391599" cy="463020"/>
            </a:xfrm>
            <a:prstGeom prst="straightConnector1">
              <a:avLst/>
            </a:prstGeom>
            <a:ln w="57150">
              <a:solidFill>
                <a:srgbClr val="FFC000"/>
              </a:solidFill>
              <a:tailEnd type="triangle"/>
            </a:ln>
          </p:spPr>
          <p:style>
            <a:lnRef idx="2">
              <a:schemeClr val="accent1"/>
            </a:lnRef>
            <a:fillRef idx="0">
              <a:schemeClr val="accent1"/>
            </a:fillRef>
            <a:effectRef idx="1">
              <a:schemeClr val="accent1"/>
            </a:effectRef>
            <a:fontRef idx="minor">
              <a:schemeClr val="tx1"/>
            </a:fontRef>
          </p:style>
        </p:cxnSp>
        <p:cxnSp>
          <p:nvCxnSpPr>
            <p:cNvPr id="236" name="Straight Arrow Connector 235">
              <a:extLst>
                <a:ext uri="{FF2B5EF4-FFF2-40B4-BE49-F238E27FC236}">
                  <a16:creationId xmlns:a16="http://schemas.microsoft.com/office/drawing/2014/main" id="{1F74C8A6-D058-FAEA-B9B1-8EFA947711C6}"/>
                </a:ext>
              </a:extLst>
            </p:cNvPr>
            <p:cNvCxnSpPr>
              <a:cxnSpLocks/>
            </p:cNvCxnSpPr>
            <p:nvPr/>
          </p:nvCxnSpPr>
          <p:spPr>
            <a:xfrm>
              <a:off x="2331764" y="2691870"/>
              <a:ext cx="474133" cy="451380"/>
            </a:xfrm>
            <a:prstGeom prst="straightConnector1">
              <a:avLst/>
            </a:prstGeom>
            <a:ln w="57150">
              <a:solidFill>
                <a:srgbClr val="FFC000"/>
              </a:solidFill>
              <a:tailEnd type="triangle"/>
            </a:ln>
          </p:spPr>
          <p:style>
            <a:lnRef idx="2">
              <a:schemeClr val="accent1"/>
            </a:lnRef>
            <a:fillRef idx="0">
              <a:schemeClr val="accent1"/>
            </a:fillRef>
            <a:effectRef idx="1">
              <a:schemeClr val="accent1"/>
            </a:effectRef>
            <a:fontRef idx="minor">
              <a:schemeClr val="tx1"/>
            </a:fontRef>
          </p:style>
        </p:cxnSp>
        <p:cxnSp>
          <p:nvCxnSpPr>
            <p:cNvPr id="237" name="Straight Arrow Connector 236">
              <a:extLst>
                <a:ext uri="{FF2B5EF4-FFF2-40B4-BE49-F238E27FC236}">
                  <a16:creationId xmlns:a16="http://schemas.microsoft.com/office/drawing/2014/main" id="{67FFDAEE-0DDD-DACA-F9CE-CC80D0AABD72}"/>
                </a:ext>
              </a:extLst>
            </p:cNvPr>
            <p:cNvCxnSpPr>
              <a:cxnSpLocks/>
            </p:cNvCxnSpPr>
            <p:nvPr/>
          </p:nvCxnSpPr>
          <p:spPr>
            <a:xfrm>
              <a:off x="2377531" y="2691870"/>
              <a:ext cx="0" cy="401374"/>
            </a:xfrm>
            <a:prstGeom prst="straightConnector1">
              <a:avLst/>
            </a:prstGeom>
            <a:ln w="57150">
              <a:solidFill>
                <a:srgbClr val="FFC000"/>
              </a:solidFill>
              <a:tailEnd type="triangle"/>
            </a:ln>
          </p:spPr>
          <p:style>
            <a:lnRef idx="2">
              <a:schemeClr val="accent1"/>
            </a:lnRef>
            <a:fillRef idx="0">
              <a:schemeClr val="accent1"/>
            </a:fillRef>
            <a:effectRef idx="1">
              <a:schemeClr val="accent1"/>
            </a:effectRef>
            <a:fontRef idx="minor">
              <a:schemeClr val="tx1"/>
            </a:fontRef>
          </p:style>
        </p:cxnSp>
        <p:cxnSp>
          <p:nvCxnSpPr>
            <p:cNvPr id="243" name="Straight Arrow Connector 242">
              <a:extLst>
                <a:ext uri="{FF2B5EF4-FFF2-40B4-BE49-F238E27FC236}">
                  <a16:creationId xmlns:a16="http://schemas.microsoft.com/office/drawing/2014/main" id="{992982F9-1718-0862-DED2-1C73FB29B3F7}"/>
                </a:ext>
              </a:extLst>
            </p:cNvPr>
            <p:cNvCxnSpPr>
              <a:cxnSpLocks/>
            </p:cNvCxnSpPr>
            <p:nvPr/>
          </p:nvCxnSpPr>
          <p:spPr>
            <a:xfrm flipH="1">
              <a:off x="1939365" y="2691869"/>
              <a:ext cx="433667" cy="413015"/>
            </a:xfrm>
            <a:prstGeom prst="straightConnector1">
              <a:avLst/>
            </a:prstGeom>
            <a:ln w="57150">
              <a:solidFill>
                <a:srgbClr val="FFC000"/>
              </a:solidFill>
              <a:tailEnd type="triangle"/>
            </a:ln>
          </p:spPr>
          <p:style>
            <a:lnRef idx="2">
              <a:schemeClr val="accent1"/>
            </a:lnRef>
            <a:fillRef idx="0">
              <a:schemeClr val="accent1"/>
            </a:fillRef>
            <a:effectRef idx="1">
              <a:schemeClr val="accent1"/>
            </a:effectRef>
            <a:fontRef idx="minor">
              <a:schemeClr val="tx1"/>
            </a:fontRef>
          </p:style>
        </p:cxnSp>
        <p:cxnSp>
          <p:nvCxnSpPr>
            <p:cNvPr id="247" name="Straight Arrow Connector 246">
              <a:extLst>
                <a:ext uri="{FF2B5EF4-FFF2-40B4-BE49-F238E27FC236}">
                  <a16:creationId xmlns:a16="http://schemas.microsoft.com/office/drawing/2014/main" id="{28650451-D146-04DC-6503-1A85354A6FDD}"/>
                </a:ext>
              </a:extLst>
            </p:cNvPr>
            <p:cNvCxnSpPr>
              <a:cxnSpLocks/>
            </p:cNvCxnSpPr>
            <p:nvPr/>
          </p:nvCxnSpPr>
          <p:spPr>
            <a:xfrm flipH="1" flipV="1">
              <a:off x="1939364" y="2240490"/>
              <a:ext cx="433267" cy="451378"/>
            </a:xfrm>
            <a:prstGeom prst="straightConnector1">
              <a:avLst/>
            </a:prstGeom>
            <a:ln w="57150">
              <a:solidFill>
                <a:srgbClr val="FFC000"/>
              </a:solidFill>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668514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C64F40-B2F6-B75D-39A7-8D95F4CBF0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B4DD26-EC4D-2ADD-98B6-B61576455608}"/>
              </a:ext>
            </a:extLst>
          </p:cNvPr>
          <p:cNvSpPr>
            <a:spLocks noGrp="1"/>
          </p:cNvSpPr>
          <p:nvPr>
            <p:ph type="title"/>
          </p:nvPr>
        </p:nvSpPr>
        <p:spPr/>
        <p:txBody>
          <a:bodyPr/>
          <a:lstStyle/>
          <a:p>
            <a:r>
              <a:rPr lang="nb-NO" dirty="0"/>
              <a:t>In </a:t>
            </a:r>
            <a:r>
              <a:rPr lang="nb-NO" dirty="0" err="1"/>
              <a:t>summary</a:t>
            </a:r>
            <a:endParaRPr lang="nb-NO" dirty="0"/>
          </a:p>
        </p:txBody>
      </p:sp>
      <p:sp>
        <p:nvSpPr>
          <p:cNvPr id="5" name="Content Placeholder 4">
            <a:extLst>
              <a:ext uri="{FF2B5EF4-FFF2-40B4-BE49-F238E27FC236}">
                <a16:creationId xmlns:a16="http://schemas.microsoft.com/office/drawing/2014/main" id="{16D5E96E-83CF-96C0-EFD5-105B7282E0C6}"/>
              </a:ext>
            </a:extLst>
          </p:cNvPr>
          <p:cNvSpPr>
            <a:spLocks noGrp="1"/>
          </p:cNvSpPr>
          <p:nvPr>
            <p:ph sz="half" idx="2"/>
          </p:nvPr>
        </p:nvSpPr>
        <p:spPr/>
        <p:txBody>
          <a:bodyPr/>
          <a:lstStyle/>
          <a:p>
            <a:pPr marL="0" indent="0">
              <a:buNone/>
            </a:pPr>
            <a:r>
              <a:rPr lang="nb-NO" dirty="0"/>
              <a:t>Network parameters</a:t>
            </a:r>
          </a:p>
          <a:p>
            <a:pPr marL="457200" indent="-457200">
              <a:buFont typeface="+mj-lt"/>
              <a:buAutoNum type="arabicPeriod"/>
            </a:pPr>
            <a:r>
              <a:rPr lang="nb-NO" dirty="0" err="1"/>
              <a:t>Quality</a:t>
            </a:r>
            <a:r>
              <a:rPr lang="nb-NO" dirty="0"/>
              <a:t> of </a:t>
            </a:r>
            <a:r>
              <a:rPr lang="nb-NO" dirty="0" err="1"/>
              <a:t>each</a:t>
            </a:r>
            <a:r>
              <a:rPr lang="nb-NO" dirty="0"/>
              <a:t> </a:t>
            </a:r>
            <a:r>
              <a:rPr lang="nb-NO" dirty="0" err="1"/>
              <a:t>pixel</a:t>
            </a:r>
            <a:endParaRPr lang="nb-NO" dirty="0"/>
          </a:p>
          <a:p>
            <a:pPr marL="457200" indent="-457200">
              <a:buFont typeface="+mj-lt"/>
              <a:buAutoNum type="arabicPeriod"/>
            </a:pPr>
            <a:r>
              <a:rPr lang="nb-NO" dirty="0" err="1"/>
              <a:t>Permeability</a:t>
            </a:r>
            <a:r>
              <a:rPr lang="nb-NO" dirty="0"/>
              <a:t> </a:t>
            </a:r>
            <a:r>
              <a:rPr lang="nb-NO" dirty="0" err="1"/>
              <a:t>between</a:t>
            </a:r>
            <a:r>
              <a:rPr lang="nb-NO" dirty="0"/>
              <a:t> </a:t>
            </a:r>
            <a:r>
              <a:rPr lang="nb-NO" dirty="0" err="1"/>
              <a:t>pixels</a:t>
            </a:r>
            <a:endParaRPr lang="nb-NO" dirty="0"/>
          </a:p>
          <a:p>
            <a:pPr lvl="1"/>
            <a:r>
              <a:rPr lang="nb-NO" dirty="0" err="1"/>
              <a:t>Likelihood</a:t>
            </a:r>
            <a:endParaRPr lang="nb-NO" dirty="0"/>
          </a:p>
          <a:p>
            <a:pPr lvl="1"/>
            <a:r>
              <a:rPr lang="nb-NO" dirty="0" err="1"/>
              <a:t>Cost</a:t>
            </a:r>
            <a:endParaRPr lang="nb-NO" dirty="0"/>
          </a:p>
          <a:p>
            <a:pPr marL="457200" indent="-457200">
              <a:buFont typeface="+mj-lt"/>
              <a:buAutoNum type="arabicPeriod"/>
            </a:pPr>
            <a:r>
              <a:rPr lang="nb-NO" dirty="0"/>
              <a:t>Movement </a:t>
            </a:r>
            <a:r>
              <a:rPr lang="nb-NO" dirty="0" err="1"/>
              <a:t>paths</a:t>
            </a:r>
            <a:endParaRPr lang="nb-NO" dirty="0"/>
          </a:p>
          <a:p>
            <a:pPr lvl="1"/>
            <a:r>
              <a:rPr lang="nb-NO" dirty="0"/>
              <a:t>Optimal</a:t>
            </a:r>
          </a:p>
          <a:p>
            <a:pPr lvl="1"/>
            <a:r>
              <a:rPr lang="nb-NO" dirty="0"/>
              <a:t>Random</a:t>
            </a:r>
          </a:p>
        </p:txBody>
      </p:sp>
      <p:pic>
        <p:nvPicPr>
          <p:cNvPr id="118" name="Picture 117">
            <a:extLst>
              <a:ext uri="{FF2B5EF4-FFF2-40B4-BE49-F238E27FC236}">
                <a16:creationId xmlns:a16="http://schemas.microsoft.com/office/drawing/2014/main" id="{9FBD41DE-9943-D967-41D4-95B2BD2DB74B}"/>
              </a:ext>
            </a:extLst>
          </p:cNvPr>
          <p:cNvPicPr>
            <a:picLocks noChangeAspect="1"/>
          </p:cNvPicPr>
          <p:nvPr/>
        </p:nvPicPr>
        <p:blipFill>
          <a:blip r:embed="rId2"/>
          <a:srcRect r="11055"/>
          <a:stretch/>
        </p:blipFill>
        <p:spPr>
          <a:xfrm rot="5400000">
            <a:off x="653801" y="1003550"/>
            <a:ext cx="3395598" cy="3788800"/>
          </a:xfrm>
          <a:prstGeom prst="rect">
            <a:avLst/>
          </a:prstGeom>
        </p:spPr>
      </p:pic>
      <p:sp>
        <p:nvSpPr>
          <p:cNvPr id="252" name="Freeform: Shape 251">
            <a:extLst>
              <a:ext uri="{FF2B5EF4-FFF2-40B4-BE49-F238E27FC236}">
                <a16:creationId xmlns:a16="http://schemas.microsoft.com/office/drawing/2014/main" id="{AA9B295C-1B1E-3219-8A5E-8D24304312B3}"/>
              </a:ext>
            </a:extLst>
          </p:cNvPr>
          <p:cNvSpPr/>
          <p:nvPr/>
        </p:nvSpPr>
        <p:spPr>
          <a:xfrm>
            <a:off x="1107281" y="1843088"/>
            <a:ext cx="2421732" cy="2085975"/>
          </a:xfrm>
          <a:custGeom>
            <a:avLst/>
            <a:gdLst>
              <a:gd name="connsiteX0" fmla="*/ 0 w 2421732"/>
              <a:gd name="connsiteY0" fmla="*/ 0 h 2085975"/>
              <a:gd name="connsiteX1" fmla="*/ 357188 w 2421732"/>
              <a:gd name="connsiteY1" fmla="*/ 328612 h 2085975"/>
              <a:gd name="connsiteX2" fmla="*/ 785813 w 2421732"/>
              <a:gd name="connsiteY2" fmla="*/ 378618 h 2085975"/>
              <a:gd name="connsiteX3" fmla="*/ 1193007 w 2421732"/>
              <a:gd name="connsiteY3" fmla="*/ 885825 h 2085975"/>
              <a:gd name="connsiteX4" fmla="*/ 1364457 w 2421732"/>
              <a:gd name="connsiteY4" fmla="*/ 1357312 h 2085975"/>
              <a:gd name="connsiteX5" fmla="*/ 1814513 w 2421732"/>
              <a:gd name="connsiteY5" fmla="*/ 1385887 h 2085975"/>
              <a:gd name="connsiteX6" fmla="*/ 2257425 w 2421732"/>
              <a:gd name="connsiteY6" fmla="*/ 1735931 h 2085975"/>
              <a:gd name="connsiteX7" fmla="*/ 2421732 w 2421732"/>
              <a:gd name="connsiteY7" fmla="*/ 2085975 h 2085975"/>
              <a:gd name="connsiteX8" fmla="*/ 2421732 w 2421732"/>
              <a:gd name="connsiteY8" fmla="*/ 2085975 h 2085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21732" h="2085975">
                <a:moveTo>
                  <a:pt x="0" y="0"/>
                </a:moveTo>
                <a:cubicBezTo>
                  <a:pt x="113109" y="132754"/>
                  <a:pt x="226219" y="265509"/>
                  <a:pt x="357188" y="328612"/>
                </a:cubicBezTo>
                <a:cubicBezTo>
                  <a:pt x="488157" y="391715"/>
                  <a:pt x="646510" y="285749"/>
                  <a:pt x="785813" y="378618"/>
                </a:cubicBezTo>
                <a:cubicBezTo>
                  <a:pt x="925116" y="471487"/>
                  <a:pt x="1096566" y="722709"/>
                  <a:pt x="1193007" y="885825"/>
                </a:cubicBezTo>
                <a:cubicBezTo>
                  <a:pt x="1289448" y="1048941"/>
                  <a:pt x="1260873" y="1273968"/>
                  <a:pt x="1364457" y="1357312"/>
                </a:cubicBezTo>
                <a:cubicBezTo>
                  <a:pt x="1468041" y="1440656"/>
                  <a:pt x="1665685" y="1322784"/>
                  <a:pt x="1814513" y="1385887"/>
                </a:cubicBezTo>
                <a:cubicBezTo>
                  <a:pt x="1963341" y="1448990"/>
                  <a:pt x="2156222" y="1619250"/>
                  <a:pt x="2257425" y="1735931"/>
                </a:cubicBezTo>
                <a:cubicBezTo>
                  <a:pt x="2358628" y="1852612"/>
                  <a:pt x="2421732" y="2085975"/>
                  <a:pt x="2421732" y="2085975"/>
                </a:cubicBezTo>
                <a:lnTo>
                  <a:pt x="2421732" y="2085975"/>
                </a:lnTo>
              </a:path>
            </a:pathLst>
          </a:custGeom>
          <a:noFill/>
          <a:ln w="57150">
            <a:solidFill>
              <a:srgbClr val="FFC000"/>
            </a:solidFill>
            <a:headEnd type="none" w="med" len="med"/>
            <a:tailEnd type="triangle" w="med" len="med"/>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nb-NO"/>
          </a:p>
        </p:txBody>
      </p:sp>
      <p:sp>
        <p:nvSpPr>
          <p:cNvPr id="253" name="Freeform: Shape 252">
            <a:extLst>
              <a:ext uri="{FF2B5EF4-FFF2-40B4-BE49-F238E27FC236}">
                <a16:creationId xmlns:a16="http://schemas.microsoft.com/office/drawing/2014/main" id="{C5D682EE-5A3C-D375-3517-DE1B06B2E66E}"/>
              </a:ext>
            </a:extLst>
          </p:cNvPr>
          <p:cNvSpPr/>
          <p:nvPr/>
        </p:nvSpPr>
        <p:spPr>
          <a:xfrm>
            <a:off x="1143000" y="1604525"/>
            <a:ext cx="2561597" cy="2915549"/>
          </a:xfrm>
          <a:custGeom>
            <a:avLst/>
            <a:gdLst>
              <a:gd name="connsiteX0" fmla="*/ 0 w 2561597"/>
              <a:gd name="connsiteY0" fmla="*/ 202844 h 2915549"/>
              <a:gd name="connsiteX1" fmla="*/ 585788 w 2561597"/>
              <a:gd name="connsiteY1" fmla="*/ 288569 h 2915549"/>
              <a:gd name="connsiteX2" fmla="*/ 1200150 w 2561597"/>
              <a:gd name="connsiteY2" fmla="*/ 2819 h 2915549"/>
              <a:gd name="connsiteX3" fmla="*/ 1721644 w 2561597"/>
              <a:gd name="connsiteY3" fmla="*/ 181413 h 2915549"/>
              <a:gd name="connsiteX4" fmla="*/ 1893094 w 2561597"/>
              <a:gd name="connsiteY4" fmla="*/ 774344 h 2915549"/>
              <a:gd name="connsiteX5" fmla="*/ 1650206 w 2561597"/>
              <a:gd name="connsiteY5" fmla="*/ 945794 h 2915549"/>
              <a:gd name="connsiteX6" fmla="*/ 1207294 w 2561597"/>
              <a:gd name="connsiteY6" fmla="*/ 867213 h 2915549"/>
              <a:gd name="connsiteX7" fmla="*/ 1100138 w 2561597"/>
              <a:gd name="connsiteY7" fmla="*/ 517169 h 2915549"/>
              <a:gd name="connsiteX8" fmla="*/ 1350169 w 2561597"/>
              <a:gd name="connsiteY8" fmla="*/ 245706 h 2915549"/>
              <a:gd name="connsiteX9" fmla="*/ 2286000 w 2561597"/>
              <a:gd name="connsiteY9" fmla="*/ 181413 h 2915549"/>
              <a:gd name="connsiteX10" fmla="*/ 2557463 w 2561597"/>
              <a:gd name="connsiteY10" fmla="*/ 802919 h 2915549"/>
              <a:gd name="connsiteX11" fmla="*/ 2378869 w 2561597"/>
              <a:gd name="connsiteY11" fmla="*/ 1410138 h 2915549"/>
              <a:gd name="connsiteX12" fmla="*/ 1521619 w 2561597"/>
              <a:gd name="connsiteY12" fmla="*/ 2045931 h 2915549"/>
              <a:gd name="connsiteX13" fmla="*/ 850106 w 2561597"/>
              <a:gd name="connsiteY13" fmla="*/ 2324538 h 2915549"/>
              <a:gd name="connsiteX14" fmla="*/ 728663 w 2561597"/>
              <a:gd name="connsiteY14" fmla="*/ 2910325 h 2915549"/>
              <a:gd name="connsiteX15" fmla="*/ 1614488 w 2561597"/>
              <a:gd name="connsiteY15" fmla="*/ 2596000 h 2915549"/>
              <a:gd name="connsiteX16" fmla="*/ 2000250 w 2561597"/>
              <a:gd name="connsiteY16" fmla="*/ 2317394 h 2915549"/>
              <a:gd name="connsiteX17" fmla="*/ 2371725 w 2561597"/>
              <a:gd name="connsiteY17" fmla="*/ 2445981 h 2915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61597" h="2915549">
                <a:moveTo>
                  <a:pt x="0" y="202844"/>
                </a:moveTo>
                <a:cubicBezTo>
                  <a:pt x="192881" y="262375"/>
                  <a:pt x="385763" y="321906"/>
                  <a:pt x="585788" y="288569"/>
                </a:cubicBezTo>
                <a:cubicBezTo>
                  <a:pt x="785813" y="255232"/>
                  <a:pt x="1010841" y="20678"/>
                  <a:pt x="1200150" y="2819"/>
                </a:cubicBezTo>
                <a:cubicBezTo>
                  <a:pt x="1389459" y="-15040"/>
                  <a:pt x="1606153" y="52825"/>
                  <a:pt x="1721644" y="181413"/>
                </a:cubicBezTo>
                <a:cubicBezTo>
                  <a:pt x="1837135" y="310001"/>
                  <a:pt x="1905000" y="646947"/>
                  <a:pt x="1893094" y="774344"/>
                </a:cubicBezTo>
                <a:cubicBezTo>
                  <a:pt x="1881188" y="901741"/>
                  <a:pt x="1764506" y="930316"/>
                  <a:pt x="1650206" y="945794"/>
                </a:cubicBezTo>
                <a:cubicBezTo>
                  <a:pt x="1535906" y="961272"/>
                  <a:pt x="1298972" y="938650"/>
                  <a:pt x="1207294" y="867213"/>
                </a:cubicBezTo>
                <a:cubicBezTo>
                  <a:pt x="1115616" y="795776"/>
                  <a:pt x="1076326" y="620753"/>
                  <a:pt x="1100138" y="517169"/>
                </a:cubicBezTo>
                <a:cubicBezTo>
                  <a:pt x="1123950" y="413585"/>
                  <a:pt x="1152525" y="301665"/>
                  <a:pt x="1350169" y="245706"/>
                </a:cubicBezTo>
                <a:cubicBezTo>
                  <a:pt x="1547813" y="189747"/>
                  <a:pt x="2084784" y="88544"/>
                  <a:pt x="2286000" y="181413"/>
                </a:cubicBezTo>
                <a:cubicBezTo>
                  <a:pt x="2487216" y="274282"/>
                  <a:pt x="2541985" y="598132"/>
                  <a:pt x="2557463" y="802919"/>
                </a:cubicBezTo>
                <a:cubicBezTo>
                  <a:pt x="2572941" y="1007706"/>
                  <a:pt x="2551510" y="1202969"/>
                  <a:pt x="2378869" y="1410138"/>
                </a:cubicBezTo>
                <a:cubicBezTo>
                  <a:pt x="2206228" y="1617307"/>
                  <a:pt x="1776413" y="1893531"/>
                  <a:pt x="1521619" y="2045931"/>
                </a:cubicBezTo>
                <a:cubicBezTo>
                  <a:pt x="1266825" y="2198331"/>
                  <a:pt x="982265" y="2180472"/>
                  <a:pt x="850106" y="2324538"/>
                </a:cubicBezTo>
                <a:cubicBezTo>
                  <a:pt x="717947" y="2468604"/>
                  <a:pt x="601266" y="2865081"/>
                  <a:pt x="728663" y="2910325"/>
                </a:cubicBezTo>
                <a:cubicBezTo>
                  <a:pt x="856060" y="2955569"/>
                  <a:pt x="1402557" y="2694822"/>
                  <a:pt x="1614488" y="2596000"/>
                </a:cubicBezTo>
                <a:cubicBezTo>
                  <a:pt x="1826419" y="2497178"/>
                  <a:pt x="1874044" y="2342397"/>
                  <a:pt x="2000250" y="2317394"/>
                </a:cubicBezTo>
                <a:cubicBezTo>
                  <a:pt x="2126456" y="2292391"/>
                  <a:pt x="2249090" y="2369186"/>
                  <a:pt x="2371725" y="2445981"/>
                </a:cubicBezTo>
              </a:path>
            </a:pathLst>
          </a:custGeom>
          <a:noFill/>
          <a:ln w="57150">
            <a:solidFill>
              <a:srgbClr val="FFC000"/>
            </a:solidFill>
            <a:headEnd type="none" w="med" len="med"/>
            <a:tailEnd type="triangle" w="med" len="med"/>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1441919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7" end="7"/>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3"/>
                                        </p:tgtEl>
                                        <p:attrNameLst>
                                          <p:attrName>style.visibility</p:attrName>
                                        </p:attrNameLst>
                                      </p:cBhvr>
                                      <p:to>
                                        <p:strVal val="visible"/>
                                      </p:to>
                                    </p:set>
                                  </p:childTnLst>
                                </p:cTn>
                              </p:par>
                              <p:par>
                                <p:cTn id="9" presetID="1" presetClass="exit" presetSubtype="0" fill="hold" grpId="0" nodeType="withEffect">
                                  <p:stCondLst>
                                    <p:cond delay="0"/>
                                  </p:stCondLst>
                                  <p:childTnLst>
                                    <p:set>
                                      <p:cBhvr>
                                        <p:cTn id="10" dur="1" fill="hold">
                                          <p:stCondLst>
                                            <p:cond delay="0"/>
                                          </p:stCondLst>
                                        </p:cTn>
                                        <p:tgtEl>
                                          <p:spTgt spid="25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2" grpId="0" animBg="1"/>
      <p:bldP spid="25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049730-B3DD-780B-0E73-B87C21090F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02710F-956B-A7B6-73AE-957A2CE949AD}"/>
              </a:ext>
            </a:extLst>
          </p:cNvPr>
          <p:cNvSpPr>
            <a:spLocks noGrp="1"/>
          </p:cNvSpPr>
          <p:nvPr>
            <p:ph type="title"/>
          </p:nvPr>
        </p:nvSpPr>
        <p:spPr/>
        <p:txBody>
          <a:bodyPr/>
          <a:lstStyle/>
          <a:p>
            <a:r>
              <a:rPr lang="nb-NO" dirty="0"/>
              <a:t>In </a:t>
            </a:r>
            <a:r>
              <a:rPr lang="nb-NO" dirty="0" err="1"/>
              <a:t>summary</a:t>
            </a:r>
            <a:endParaRPr lang="nb-NO" dirty="0"/>
          </a:p>
        </p:txBody>
      </p:sp>
      <p:sp>
        <p:nvSpPr>
          <p:cNvPr id="5" name="Content Placeholder 4">
            <a:extLst>
              <a:ext uri="{FF2B5EF4-FFF2-40B4-BE49-F238E27FC236}">
                <a16:creationId xmlns:a16="http://schemas.microsoft.com/office/drawing/2014/main" id="{0350B8D0-8DBA-052C-CE3C-BE8E69CA7880}"/>
              </a:ext>
            </a:extLst>
          </p:cNvPr>
          <p:cNvSpPr>
            <a:spLocks noGrp="1"/>
          </p:cNvSpPr>
          <p:nvPr>
            <p:ph sz="half" idx="2"/>
          </p:nvPr>
        </p:nvSpPr>
        <p:spPr/>
        <p:txBody>
          <a:bodyPr/>
          <a:lstStyle/>
          <a:p>
            <a:pPr marL="0" indent="0">
              <a:buNone/>
            </a:pPr>
            <a:r>
              <a:rPr lang="nb-NO" dirty="0"/>
              <a:t>Network parameters</a:t>
            </a:r>
          </a:p>
          <a:p>
            <a:pPr marL="457200" indent="-457200">
              <a:buFont typeface="+mj-lt"/>
              <a:buAutoNum type="arabicPeriod"/>
            </a:pPr>
            <a:r>
              <a:rPr lang="nb-NO" dirty="0" err="1"/>
              <a:t>Quality</a:t>
            </a:r>
            <a:r>
              <a:rPr lang="nb-NO" dirty="0"/>
              <a:t> of </a:t>
            </a:r>
            <a:r>
              <a:rPr lang="nb-NO" dirty="0" err="1"/>
              <a:t>each</a:t>
            </a:r>
            <a:r>
              <a:rPr lang="nb-NO" dirty="0"/>
              <a:t> </a:t>
            </a:r>
            <a:r>
              <a:rPr lang="nb-NO" dirty="0" err="1"/>
              <a:t>pixel</a:t>
            </a:r>
            <a:endParaRPr lang="nb-NO" dirty="0"/>
          </a:p>
          <a:p>
            <a:pPr marL="457200" indent="-457200">
              <a:buFont typeface="+mj-lt"/>
              <a:buAutoNum type="arabicPeriod"/>
            </a:pPr>
            <a:r>
              <a:rPr lang="nb-NO" dirty="0" err="1"/>
              <a:t>Permeability</a:t>
            </a:r>
            <a:r>
              <a:rPr lang="nb-NO" dirty="0"/>
              <a:t> </a:t>
            </a:r>
            <a:r>
              <a:rPr lang="nb-NO" dirty="0" err="1"/>
              <a:t>between</a:t>
            </a:r>
            <a:r>
              <a:rPr lang="nb-NO" dirty="0"/>
              <a:t> </a:t>
            </a:r>
            <a:r>
              <a:rPr lang="nb-NO" dirty="0" err="1"/>
              <a:t>pixels</a:t>
            </a:r>
            <a:endParaRPr lang="nb-NO" dirty="0"/>
          </a:p>
          <a:p>
            <a:pPr lvl="1"/>
            <a:r>
              <a:rPr lang="nb-NO" dirty="0" err="1"/>
              <a:t>Likelihood</a:t>
            </a:r>
            <a:endParaRPr lang="nb-NO" dirty="0"/>
          </a:p>
          <a:p>
            <a:pPr lvl="1"/>
            <a:r>
              <a:rPr lang="nb-NO" dirty="0" err="1"/>
              <a:t>Cost</a:t>
            </a:r>
            <a:endParaRPr lang="nb-NO" dirty="0"/>
          </a:p>
          <a:p>
            <a:pPr marL="457200" indent="-457200">
              <a:buFont typeface="+mj-lt"/>
              <a:buAutoNum type="arabicPeriod"/>
            </a:pPr>
            <a:r>
              <a:rPr lang="nb-NO" dirty="0"/>
              <a:t>Movement </a:t>
            </a:r>
            <a:r>
              <a:rPr lang="nb-NO" dirty="0" err="1"/>
              <a:t>paths</a:t>
            </a:r>
            <a:endParaRPr lang="nb-NO" dirty="0"/>
          </a:p>
          <a:p>
            <a:pPr lvl="1"/>
            <a:r>
              <a:rPr lang="nb-NO" dirty="0"/>
              <a:t>Optimal</a:t>
            </a:r>
          </a:p>
          <a:p>
            <a:pPr lvl="1"/>
            <a:r>
              <a:rPr lang="nb-NO" dirty="0"/>
              <a:t>Random</a:t>
            </a:r>
          </a:p>
          <a:p>
            <a:pPr marL="457200" indent="-457200">
              <a:buFont typeface="+mj-lt"/>
              <a:buAutoNum type="arabicPeriod"/>
            </a:pPr>
            <a:r>
              <a:rPr lang="nb-NO" dirty="0" err="1"/>
              <a:t>Distance-proximity</a:t>
            </a:r>
            <a:r>
              <a:rPr lang="nb-NO" dirty="0"/>
              <a:t> </a:t>
            </a:r>
            <a:r>
              <a:rPr lang="nb-NO" dirty="0" err="1"/>
              <a:t>relationship</a:t>
            </a:r>
            <a:endParaRPr lang="nb-NO" dirty="0"/>
          </a:p>
        </p:txBody>
      </p:sp>
      <p:cxnSp>
        <p:nvCxnSpPr>
          <p:cNvPr id="4" name="Straight Arrow Connector 3">
            <a:extLst>
              <a:ext uri="{FF2B5EF4-FFF2-40B4-BE49-F238E27FC236}">
                <a16:creationId xmlns:a16="http://schemas.microsoft.com/office/drawing/2014/main" id="{6A11DDC5-758E-6FBB-6996-2CEF5684CFCD}"/>
              </a:ext>
            </a:extLst>
          </p:cNvPr>
          <p:cNvCxnSpPr/>
          <p:nvPr/>
        </p:nvCxnSpPr>
        <p:spPr>
          <a:xfrm>
            <a:off x="871538" y="3600450"/>
            <a:ext cx="2964656" cy="0"/>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6" name="Straight Arrow Connector 5">
            <a:extLst>
              <a:ext uri="{FF2B5EF4-FFF2-40B4-BE49-F238E27FC236}">
                <a16:creationId xmlns:a16="http://schemas.microsoft.com/office/drawing/2014/main" id="{7D8DE1EA-4EC7-F270-074A-38CF7D597BE8}"/>
              </a:ext>
            </a:extLst>
          </p:cNvPr>
          <p:cNvCxnSpPr>
            <a:cxnSpLocks/>
          </p:cNvCxnSpPr>
          <p:nvPr/>
        </p:nvCxnSpPr>
        <p:spPr>
          <a:xfrm flipV="1">
            <a:off x="871538" y="1550194"/>
            <a:ext cx="0" cy="2071688"/>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sp>
        <p:nvSpPr>
          <p:cNvPr id="10" name="Freeform: Shape 9">
            <a:extLst>
              <a:ext uri="{FF2B5EF4-FFF2-40B4-BE49-F238E27FC236}">
                <a16:creationId xmlns:a16="http://schemas.microsoft.com/office/drawing/2014/main" id="{8725C178-6B0C-06F2-0BCC-CBCF5B91DC94}"/>
              </a:ext>
            </a:extLst>
          </p:cNvPr>
          <p:cNvSpPr/>
          <p:nvPr/>
        </p:nvSpPr>
        <p:spPr>
          <a:xfrm>
            <a:off x="907257" y="1957392"/>
            <a:ext cx="2543175" cy="1614487"/>
          </a:xfrm>
          <a:custGeom>
            <a:avLst/>
            <a:gdLst>
              <a:gd name="connsiteX0" fmla="*/ 0 w 2543175"/>
              <a:gd name="connsiteY0" fmla="*/ 0 h 1614487"/>
              <a:gd name="connsiteX1" fmla="*/ 242888 w 2543175"/>
              <a:gd name="connsiteY1" fmla="*/ 557212 h 1614487"/>
              <a:gd name="connsiteX2" fmla="*/ 464344 w 2543175"/>
              <a:gd name="connsiteY2" fmla="*/ 828675 h 1614487"/>
              <a:gd name="connsiteX3" fmla="*/ 828675 w 2543175"/>
              <a:gd name="connsiteY3" fmla="*/ 1071562 h 1614487"/>
              <a:gd name="connsiteX4" fmla="*/ 1250156 w 2543175"/>
              <a:gd name="connsiteY4" fmla="*/ 1264443 h 1614487"/>
              <a:gd name="connsiteX5" fmla="*/ 2000250 w 2543175"/>
              <a:gd name="connsiteY5" fmla="*/ 1500187 h 1614487"/>
              <a:gd name="connsiteX6" fmla="*/ 2543175 w 2543175"/>
              <a:gd name="connsiteY6" fmla="*/ 1614487 h 1614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43175" h="1614487">
                <a:moveTo>
                  <a:pt x="0" y="0"/>
                </a:moveTo>
                <a:cubicBezTo>
                  <a:pt x="82748" y="209550"/>
                  <a:pt x="165497" y="419100"/>
                  <a:pt x="242888" y="557212"/>
                </a:cubicBezTo>
                <a:cubicBezTo>
                  <a:pt x="320279" y="695324"/>
                  <a:pt x="366713" y="742950"/>
                  <a:pt x="464344" y="828675"/>
                </a:cubicBezTo>
                <a:cubicBezTo>
                  <a:pt x="561975" y="914400"/>
                  <a:pt x="697706" y="998934"/>
                  <a:pt x="828675" y="1071562"/>
                </a:cubicBezTo>
                <a:cubicBezTo>
                  <a:pt x="959644" y="1144190"/>
                  <a:pt x="1054894" y="1193006"/>
                  <a:pt x="1250156" y="1264443"/>
                </a:cubicBezTo>
                <a:cubicBezTo>
                  <a:pt x="1445418" y="1335880"/>
                  <a:pt x="1784747" y="1441846"/>
                  <a:pt x="2000250" y="1500187"/>
                </a:cubicBezTo>
                <a:cubicBezTo>
                  <a:pt x="2215753" y="1558528"/>
                  <a:pt x="2379464" y="1586507"/>
                  <a:pt x="2543175" y="1614487"/>
                </a:cubicBezTo>
              </a:path>
            </a:pathLst>
          </a:custGeom>
          <a:noFill/>
          <a:ln w="28575">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nb-NO"/>
          </a:p>
        </p:txBody>
      </p:sp>
      <p:sp>
        <p:nvSpPr>
          <p:cNvPr id="11" name="TextBox 10">
            <a:extLst>
              <a:ext uri="{FF2B5EF4-FFF2-40B4-BE49-F238E27FC236}">
                <a16:creationId xmlns:a16="http://schemas.microsoft.com/office/drawing/2014/main" id="{0AFB52E7-9392-98C5-CDA9-54FA12840B8A}"/>
              </a:ext>
            </a:extLst>
          </p:cNvPr>
          <p:cNvSpPr txBox="1"/>
          <p:nvPr/>
        </p:nvSpPr>
        <p:spPr>
          <a:xfrm>
            <a:off x="1128713" y="3629022"/>
            <a:ext cx="2214563" cy="523220"/>
          </a:xfrm>
          <a:prstGeom prst="rect">
            <a:avLst/>
          </a:prstGeom>
          <a:noFill/>
        </p:spPr>
        <p:txBody>
          <a:bodyPr wrap="square" rtlCol="0">
            <a:spAutoFit/>
          </a:bodyPr>
          <a:lstStyle/>
          <a:p>
            <a:pPr algn="ctr"/>
            <a:r>
              <a:rPr lang="nb-NO" sz="2800" dirty="0" err="1"/>
              <a:t>Distance</a:t>
            </a:r>
            <a:endParaRPr lang="nb-NO" sz="2800" dirty="0"/>
          </a:p>
        </p:txBody>
      </p:sp>
      <p:sp>
        <p:nvSpPr>
          <p:cNvPr id="12" name="TextBox 11">
            <a:extLst>
              <a:ext uri="{FF2B5EF4-FFF2-40B4-BE49-F238E27FC236}">
                <a16:creationId xmlns:a16="http://schemas.microsoft.com/office/drawing/2014/main" id="{98FEE214-C781-A410-60D1-BF410A192B6D}"/>
              </a:ext>
            </a:extLst>
          </p:cNvPr>
          <p:cNvSpPr txBox="1"/>
          <p:nvPr/>
        </p:nvSpPr>
        <p:spPr>
          <a:xfrm rot="16200000">
            <a:off x="-728668" y="2410153"/>
            <a:ext cx="1900240" cy="523220"/>
          </a:xfrm>
          <a:prstGeom prst="rect">
            <a:avLst/>
          </a:prstGeom>
          <a:noFill/>
        </p:spPr>
        <p:txBody>
          <a:bodyPr wrap="square" rtlCol="0">
            <a:spAutoFit/>
          </a:bodyPr>
          <a:lstStyle/>
          <a:p>
            <a:pPr algn="ctr"/>
            <a:r>
              <a:rPr lang="nb-NO" sz="2800" dirty="0" err="1"/>
              <a:t>Proximity</a:t>
            </a:r>
            <a:endParaRPr lang="nb-NO" sz="2800" dirty="0"/>
          </a:p>
        </p:txBody>
      </p:sp>
      <p:sp>
        <p:nvSpPr>
          <p:cNvPr id="13" name="TextBox 12">
            <a:extLst>
              <a:ext uri="{FF2B5EF4-FFF2-40B4-BE49-F238E27FC236}">
                <a16:creationId xmlns:a16="http://schemas.microsoft.com/office/drawing/2014/main" id="{BD16427F-6BF1-2592-FF50-B8FB9B6A9CB6}"/>
              </a:ext>
            </a:extLst>
          </p:cNvPr>
          <p:cNvSpPr txBox="1"/>
          <p:nvPr/>
        </p:nvSpPr>
        <p:spPr>
          <a:xfrm>
            <a:off x="469077" y="1825174"/>
            <a:ext cx="439344" cy="1815882"/>
          </a:xfrm>
          <a:prstGeom prst="rect">
            <a:avLst/>
          </a:prstGeom>
          <a:noFill/>
        </p:spPr>
        <p:txBody>
          <a:bodyPr wrap="square" rtlCol="0">
            <a:spAutoFit/>
          </a:bodyPr>
          <a:lstStyle/>
          <a:p>
            <a:pPr algn="ctr"/>
            <a:r>
              <a:rPr lang="nb-NO" sz="2800" dirty="0"/>
              <a:t>1</a:t>
            </a:r>
          </a:p>
          <a:p>
            <a:pPr algn="ctr"/>
            <a:endParaRPr lang="nb-NO" sz="2800" dirty="0"/>
          </a:p>
          <a:p>
            <a:pPr algn="ctr"/>
            <a:endParaRPr lang="nb-NO" sz="2800" dirty="0"/>
          </a:p>
          <a:p>
            <a:pPr algn="ctr"/>
            <a:r>
              <a:rPr lang="nb-NO" sz="2800" dirty="0"/>
              <a:t>0</a:t>
            </a:r>
          </a:p>
        </p:txBody>
      </p:sp>
    </p:spTree>
    <p:extLst>
      <p:ext uri="{BB962C8B-B14F-4D97-AF65-F5344CB8AC3E}">
        <p14:creationId xmlns:p14="http://schemas.microsoft.com/office/powerpoint/2010/main" val="9822058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41CCE4-B373-D8BF-DD45-C26E7C78A7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B433EA-D441-F3D1-D887-9011E616492B}"/>
              </a:ext>
            </a:extLst>
          </p:cNvPr>
          <p:cNvSpPr>
            <a:spLocks noGrp="1"/>
          </p:cNvSpPr>
          <p:nvPr>
            <p:ph type="title"/>
          </p:nvPr>
        </p:nvSpPr>
        <p:spPr>
          <a:xfrm>
            <a:off x="457200" y="1963351"/>
            <a:ext cx="8229600" cy="857250"/>
          </a:xfrm>
        </p:spPr>
        <p:txBody>
          <a:bodyPr/>
          <a:lstStyle/>
          <a:p>
            <a:r>
              <a:rPr lang="nb-NO" dirty="0" err="1"/>
              <a:t>Demonstration</a:t>
            </a:r>
            <a:endParaRPr lang="nb-NO" dirty="0"/>
          </a:p>
        </p:txBody>
      </p:sp>
    </p:spTree>
    <p:extLst>
      <p:ext uri="{BB962C8B-B14F-4D97-AF65-F5344CB8AC3E}">
        <p14:creationId xmlns:p14="http://schemas.microsoft.com/office/powerpoint/2010/main" val="32511656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50503"/>
            <a:ext cx="8229600" cy="1324987"/>
          </a:xfrm>
        </p:spPr>
        <p:txBody>
          <a:bodyPr>
            <a:noAutofit/>
          </a:bodyPr>
          <a:lstStyle/>
          <a:p>
            <a:pPr marL="0" indent="0">
              <a:buNone/>
            </a:pPr>
            <a:r>
              <a:rPr lang="en-US" sz="2000" dirty="0"/>
              <a:t>We install the </a:t>
            </a:r>
            <a:r>
              <a:rPr lang="en-US" sz="2000" dirty="0" err="1"/>
              <a:t>ConScape</a:t>
            </a:r>
            <a:r>
              <a:rPr lang="en-US" sz="2000" dirty="0"/>
              <a:t> library from the “demo” branch:</a:t>
            </a:r>
          </a:p>
          <a:p>
            <a:pPr indent="0">
              <a:buFont typeface="Arial"/>
              <a:buNone/>
            </a:pPr>
            <a:r>
              <a:rPr sz="2000" dirty="0">
                <a:latin typeface="Courier"/>
              </a:rPr>
              <a:t>]
add </a:t>
            </a:r>
            <a:r>
              <a:rPr sz="2000" dirty="0" err="1">
                <a:latin typeface="Courier"/>
              </a:rPr>
              <a:t>ConScape#demo</a:t>
            </a:r>
            <a:endParaRPr sz="2000" dirty="0">
              <a:latin typeface="Courier"/>
            </a:endParaRPr>
          </a:p>
        </p:txBody>
      </p:sp>
      <p:sp>
        <p:nvSpPr>
          <p:cNvPr id="5" name="Content Placeholder 2"/>
          <p:cNvSpPr txBox="1">
            <a:spLocks/>
          </p:cNvSpPr>
          <p:nvPr/>
        </p:nvSpPr>
        <p:spPr>
          <a:xfrm>
            <a:off x="457200" y="2707481"/>
            <a:ext cx="8229600" cy="1887142"/>
          </a:xfrm>
          <a:prstGeom prst="rect">
            <a:avLst/>
          </a:prstGeom>
        </p:spPr>
        <p:txBody>
          <a:bodyPr vert="horz" lIns="91440" tIns="45720" rIns="91440" bIns="45720" rtlCol="0">
            <a:normAutofit/>
          </a:bodyPr>
          <a:lstStyle>
            <a:lvl1pPr marL="342900" indent="-342900" algn="l" defTabSz="342900" rtl="0" eaLnBrk="1" latinLnBrk="0" hangingPunct="1">
              <a:spcBef>
                <a:spcPct val="20000"/>
              </a:spcBef>
              <a:buFont typeface="Arial"/>
              <a:buChar char="•"/>
              <a:defRPr sz="2400" kern="1200">
                <a:solidFill>
                  <a:schemeClr val="tx1"/>
                </a:solidFill>
                <a:latin typeface="+mn-lt"/>
                <a:ea typeface="+mn-ea"/>
                <a:cs typeface="+mn-cs"/>
              </a:defRPr>
            </a:lvl1pPr>
            <a:lvl2pPr marL="685800" indent="-342900" algn="l" defTabSz="342900" rtl="0" eaLnBrk="1" latinLnBrk="0" hangingPunct="1">
              <a:spcBef>
                <a:spcPct val="20000"/>
              </a:spcBef>
              <a:buFont typeface="Arial"/>
              <a:buChar char="–"/>
              <a:defRPr sz="2100" kern="1200">
                <a:solidFill>
                  <a:schemeClr val="tx1"/>
                </a:solidFill>
                <a:latin typeface="+mn-lt"/>
                <a:ea typeface="+mn-ea"/>
                <a:cs typeface="+mn-cs"/>
              </a:defRPr>
            </a:lvl2pPr>
            <a:lvl3pPr marL="1028700" indent="-34290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371600" indent="-34290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714500" indent="-342900" algn="l" defTabSz="342900" rtl="0" eaLnBrk="1" latinLnBrk="0" hangingPunct="1">
              <a:spcBef>
                <a:spcPct val="20000"/>
              </a:spcBef>
              <a:buFont typeface="Arial"/>
              <a:buChar char="»"/>
              <a:defRPr sz="1500" kern="1200">
                <a:solidFill>
                  <a:schemeClr val="tx1"/>
                </a:solidFill>
                <a:latin typeface="+mn-lt"/>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buFont typeface="Arial"/>
              <a:buNone/>
            </a:pPr>
            <a:r>
              <a:rPr lang="en-US" sz="2000" dirty="0"/>
              <a:t>Now we load the relevant libraries:</a:t>
            </a:r>
          </a:p>
          <a:p>
            <a:pPr indent="0">
              <a:buFont typeface="Arial"/>
              <a:buNone/>
            </a:pPr>
            <a:r>
              <a:rPr lang="en-US" sz="2000" b="1" dirty="0">
                <a:solidFill>
                  <a:srgbClr val="008000"/>
                </a:solidFill>
                <a:latin typeface="Courier"/>
              </a:rPr>
              <a:t>using</a:t>
            </a:r>
            <a:r>
              <a:rPr lang="en-US" sz="2000" dirty="0">
                <a:latin typeface="Courier"/>
              </a:rPr>
              <a:t> </a:t>
            </a:r>
            <a:r>
              <a:rPr lang="en-US" sz="2000" dirty="0" err="1">
                <a:solidFill>
                  <a:srgbClr val="008000"/>
                </a:solidFill>
                <a:latin typeface="Courier"/>
              </a:rPr>
              <a:t>ConScape</a:t>
            </a:r>
            <a:r>
              <a:rPr lang="en-US" sz="2000" dirty="0">
                <a:latin typeface="Courier"/>
              </a:rPr>
              <a:t>, </a:t>
            </a:r>
            <a:r>
              <a:rPr lang="en-US" sz="2000" dirty="0" err="1">
                <a:solidFill>
                  <a:srgbClr val="008000"/>
                </a:solidFill>
                <a:latin typeface="Courier"/>
              </a:rPr>
              <a:t>SparseArrays</a:t>
            </a:r>
            <a:r>
              <a:rPr lang="en-US" sz="2000" dirty="0">
                <a:latin typeface="Courier"/>
              </a:rPr>
              <a:t>, </a:t>
            </a:r>
            <a:r>
              <a:rPr lang="en-US" sz="2000" dirty="0" err="1">
                <a:solidFill>
                  <a:srgbClr val="008000"/>
                </a:solidFill>
                <a:latin typeface="Courier"/>
              </a:rPr>
              <a:t>LinearAlgebra</a:t>
            </a:r>
            <a:br>
              <a:rPr lang="en-US" sz="2000" dirty="0"/>
            </a:br>
            <a:r>
              <a:rPr lang="en-US" sz="2000" b="1" dirty="0">
                <a:solidFill>
                  <a:srgbClr val="008000"/>
                </a:solidFill>
                <a:latin typeface="Courier"/>
              </a:rPr>
              <a:t>using</a:t>
            </a:r>
            <a:r>
              <a:rPr lang="en-US" sz="2000" dirty="0">
                <a:latin typeface="Courier"/>
              </a:rPr>
              <a:t> </a:t>
            </a:r>
            <a:r>
              <a:rPr lang="en-US" sz="2000" dirty="0" err="1">
                <a:solidFill>
                  <a:srgbClr val="008000"/>
                </a:solidFill>
                <a:latin typeface="Courier"/>
              </a:rPr>
              <a:t>Rasters</a:t>
            </a:r>
            <a:r>
              <a:rPr lang="en-US" sz="2000" dirty="0">
                <a:latin typeface="Courier"/>
              </a:rPr>
              <a:t>, </a:t>
            </a:r>
            <a:r>
              <a:rPr lang="en-US" sz="2000" dirty="0" err="1">
                <a:solidFill>
                  <a:srgbClr val="008000"/>
                </a:solidFill>
                <a:latin typeface="Courier"/>
              </a:rPr>
              <a:t>ArchGDAL</a:t>
            </a:r>
            <a:br>
              <a:rPr lang="en-US" sz="2000" dirty="0"/>
            </a:br>
            <a:r>
              <a:rPr lang="en-US" sz="2000" b="1" dirty="0">
                <a:solidFill>
                  <a:srgbClr val="008000"/>
                </a:solidFill>
                <a:latin typeface="Courier"/>
              </a:rPr>
              <a:t>using</a:t>
            </a:r>
            <a:r>
              <a:rPr lang="en-US" sz="2000" dirty="0">
                <a:latin typeface="Courier"/>
              </a:rPr>
              <a:t> </a:t>
            </a:r>
            <a:r>
              <a:rPr lang="en-US" sz="2000" dirty="0" err="1">
                <a:solidFill>
                  <a:srgbClr val="008000"/>
                </a:solidFill>
                <a:latin typeface="Courier"/>
              </a:rPr>
              <a:t>ConScape.LinearSolve</a:t>
            </a:r>
            <a:br>
              <a:rPr lang="en-US" sz="2000" dirty="0"/>
            </a:br>
            <a:r>
              <a:rPr lang="en-US" sz="2000" b="1" dirty="0">
                <a:solidFill>
                  <a:srgbClr val="008000"/>
                </a:solidFill>
                <a:latin typeface="Courier"/>
              </a:rPr>
              <a:t>using</a:t>
            </a:r>
            <a:r>
              <a:rPr lang="en-US" sz="2000" dirty="0">
                <a:latin typeface="Courier"/>
              </a:rPr>
              <a:t> </a:t>
            </a:r>
            <a:r>
              <a:rPr lang="en-US" sz="2000" dirty="0" err="1">
                <a:solidFill>
                  <a:srgbClr val="008000"/>
                </a:solidFill>
                <a:latin typeface="Courier"/>
              </a:rPr>
              <a:t>CairoMakie</a:t>
            </a:r>
            <a:endParaRPr lang="en-US" sz="2000" dirty="0">
              <a:solidFill>
                <a:srgbClr val="008000"/>
              </a:solidFill>
              <a:latin typeface="Courie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DF13E-8167-EE43-AC2B-115F2180AC1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B7680A-58B7-DB29-E53C-CD6C04424681}"/>
              </a:ext>
            </a:extLst>
          </p:cNvPr>
          <p:cNvSpPr>
            <a:spLocks noGrp="1"/>
          </p:cNvSpPr>
          <p:nvPr>
            <p:ph idx="1"/>
          </p:nvPr>
        </p:nvSpPr>
        <p:spPr>
          <a:xfrm>
            <a:off x="457200" y="1200151"/>
            <a:ext cx="8229600" cy="714374"/>
          </a:xfrm>
        </p:spPr>
        <p:txBody>
          <a:bodyPr>
            <a:normAutofit/>
          </a:bodyPr>
          <a:lstStyle/>
          <a:p>
            <a:pPr marL="0" lvl="0" indent="0">
              <a:buNone/>
            </a:pPr>
            <a:r>
              <a:rPr sz="2000" dirty="0"/>
              <a:t>The first step is to load the raster data specifying the graph structure in terms of habitat quality and permeability.</a:t>
            </a:r>
          </a:p>
        </p:txBody>
      </p:sp>
      <p:sp>
        <p:nvSpPr>
          <p:cNvPr id="2" name="Title 1">
            <a:extLst>
              <a:ext uri="{FF2B5EF4-FFF2-40B4-BE49-F238E27FC236}">
                <a16:creationId xmlns:a16="http://schemas.microsoft.com/office/drawing/2014/main" id="{C2808A37-13AC-83F0-6F0D-B062917361ED}"/>
              </a:ext>
            </a:extLst>
          </p:cNvPr>
          <p:cNvSpPr>
            <a:spLocks noGrp="1"/>
          </p:cNvSpPr>
          <p:nvPr>
            <p:ph type="title"/>
          </p:nvPr>
        </p:nvSpPr>
        <p:spPr>
          <a:xfrm>
            <a:off x="457200" y="205979"/>
            <a:ext cx="8229600" cy="857250"/>
          </a:xfrm>
        </p:spPr>
        <p:txBody>
          <a:bodyPr>
            <a:normAutofit/>
          </a:bodyPr>
          <a:lstStyle/>
          <a:p>
            <a:pPr marL="0" lvl="0" indent="0">
              <a:buNone/>
            </a:pPr>
            <a:r>
              <a:rPr lang="en-US" dirty="0"/>
              <a:t>First: habitat quality and permeability</a:t>
            </a:r>
            <a:endParaRPr dirty="0"/>
          </a:p>
        </p:txBody>
      </p:sp>
      <p:sp>
        <p:nvSpPr>
          <p:cNvPr id="4" name="Content Placeholder 4">
            <a:extLst>
              <a:ext uri="{FF2B5EF4-FFF2-40B4-BE49-F238E27FC236}">
                <a16:creationId xmlns:a16="http://schemas.microsoft.com/office/drawing/2014/main" id="{589F2E65-9ED5-64E6-DDF2-B7B14D8D29F7}"/>
              </a:ext>
            </a:extLst>
          </p:cNvPr>
          <p:cNvSpPr txBox="1">
            <a:spLocks/>
          </p:cNvSpPr>
          <p:nvPr/>
        </p:nvSpPr>
        <p:spPr>
          <a:xfrm>
            <a:off x="3898106" y="2325240"/>
            <a:ext cx="3888581" cy="2355108"/>
          </a:xfrm>
          <a:prstGeom prst="rect">
            <a:avLst/>
          </a:prstGeom>
        </p:spPr>
        <p:txBody>
          <a:bodyPr/>
          <a:lstStyle>
            <a:lvl1pPr marL="342900" indent="-342900" algn="l" defTabSz="342900" rtl="0" eaLnBrk="1" latinLnBrk="0" hangingPunct="1">
              <a:spcBef>
                <a:spcPct val="20000"/>
              </a:spcBef>
              <a:buFont typeface="Arial"/>
              <a:buChar char="•"/>
              <a:defRPr sz="2400" kern="1200">
                <a:solidFill>
                  <a:schemeClr val="tx1"/>
                </a:solidFill>
                <a:latin typeface="+mn-lt"/>
                <a:ea typeface="+mn-ea"/>
                <a:cs typeface="+mn-cs"/>
              </a:defRPr>
            </a:lvl1pPr>
            <a:lvl2pPr marL="685800" indent="-342900" algn="l" defTabSz="342900" rtl="0" eaLnBrk="1" latinLnBrk="0" hangingPunct="1">
              <a:spcBef>
                <a:spcPct val="20000"/>
              </a:spcBef>
              <a:buFont typeface="Arial"/>
              <a:buChar char="–"/>
              <a:defRPr sz="2100" kern="1200">
                <a:solidFill>
                  <a:schemeClr val="tx1"/>
                </a:solidFill>
                <a:latin typeface="+mn-lt"/>
                <a:ea typeface="+mn-ea"/>
                <a:cs typeface="+mn-cs"/>
              </a:defRPr>
            </a:lvl2pPr>
            <a:lvl3pPr marL="1028700" indent="-34290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371600" indent="-34290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714500" indent="-342900" algn="l" defTabSz="342900" rtl="0" eaLnBrk="1" latinLnBrk="0" hangingPunct="1">
              <a:spcBef>
                <a:spcPct val="20000"/>
              </a:spcBef>
              <a:buFont typeface="Arial"/>
              <a:buChar char="»"/>
              <a:defRPr sz="1500" kern="1200">
                <a:solidFill>
                  <a:schemeClr val="tx1"/>
                </a:solidFill>
                <a:latin typeface="+mn-lt"/>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457200" indent="-457200">
              <a:buFont typeface="+mj-lt"/>
              <a:buAutoNum type="arabicPeriod"/>
            </a:pPr>
            <a:r>
              <a:rPr lang="nb-NO" dirty="0" err="1"/>
              <a:t>Quality</a:t>
            </a:r>
            <a:r>
              <a:rPr lang="nb-NO" dirty="0"/>
              <a:t> of </a:t>
            </a:r>
            <a:r>
              <a:rPr lang="nb-NO" dirty="0" err="1"/>
              <a:t>each</a:t>
            </a:r>
            <a:r>
              <a:rPr lang="nb-NO" dirty="0"/>
              <a:t> </a:t>
            </a:r>
            <a:r>
              <a:rPr lang="nb-NO" dirty="0" err="1"/>
              <a:t>pixel</a:t>
            </a:r>
            <a:endParaRPr lang="nb-NO" dirty="0"/>
          </a:p>
          <a:p>
            <a:pPr marL="457200" indent="-457200">
              <a:buFont typeface="+mj-lt"/>
              <a:buAutoNum type="arabicPeriod"/>
            </a:pPr>
            <a:r>
              <a:rPr lang="nb-NO" dirty="0" err="1"/>
              <a:t>Permeability</a:t>
            </a:r>
            <a:r>
              <a:rPr lang="nb-NO" dirty="0"/>
              <a:t> </a:t>
            </a:r>
            <a:r>
              <a:rPr lang="nb-NO" dirty="0" err="1"/>
              <a:t>between</a:t>
            </a:r>
            <a:r>
              <a:rPr lang="nb-NO" dirty="0"/>
              <a:t> </a:t>
            </a:r>
            <a:r>
              <a:rPr lang="nb-NO" dirty="0" err="1"/>
              <a:t>pixels</a:t>
            </a:r>
            <a:endParaRPr lang="nb-NO" dirty="0"/>
          </a:p>
          <a:p>
            <a:pPr lvl="1"/>
            <a:r>
              <a:rPr lang="nb-NO" dirty="0" err="1"/>
              <a:t>Likelihood</a:t>
            </a:r>
            <a:endParaRPr lang="nb-NO" dirty="0"/>
          </a:p>
          <a:p>
            <a:pPr lvl="1"/>
            <a:r>
              <a:rPr lang="nb-NO" dirty="0" err="1"/>
              <a:t>Cost</a:t>
            </a:r>
            <a:endParaRPr lang="nb-NO" dirty="0"/>
          </a:p>
          <a:p>
            <a:pPr marL="0" indent="0">
              <a:buFont typeface="Arial"/>
              <a:buNone/>
            </a:pPr>
            <a:endParaRPr lang="nb-NO" dirty="0"/>
          </a:p>
        </p:txBody>
      </p:sp>
      <p:pic>
        <p:nvPicPr>
          <p:cNvPr id="25" name="Picture 24">
            <a:extLst>
              <a:ext uri="{FF2B5EF4-FFF2-40B4-BE49-F238E27FC236}">
                <a16:creationId xmlns:a16="http://schemas.microsoft.com/office/drawing/2014/main" id="{2856D8B4-C71E-EEB4-3EB5-81A87D6B68C8}"/>
              </a:ext>
            </a:extLst>
          </p:cNvPr>
          <p:cNvPicPr>
            <a:picLocks noChangeAspect="1"/>
          </p:cNvPicPr>
          <p:nvPr/>
        </p:nvPicPr>
        <p:blipFill>
          <a:blip r:embed="rId2"/>
          <a:stretch>
            <a:fillRect/>
          </a:stretch>
        </p:blipFill>
        <p:spPr>
          <a:xfrm>
            <a:off x="811461" y="2239515"/>
            <a:ext cx="2629942" cy="2355108"/>
          </a:xfrm>
          <a:prstGeom prst="rect">
            <a:avLst/>
          </a:prstGeom>
        </p:spPr>
      </p:pic>
    </p:spTree>
    <p:extLst>
      <p:ext uri="{BB962C8B-B14F-4D97-AF65-F5344CB8AC3E}">
        <p14:creationId xmlns:p14="http://schemas.microsoft.com/office/powerpoint/2010/main" val="42295953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lvl="0" indent="0">
              <a:buNone/>
            </a:pPr>
            <a:r>
              <a:rPr sz="2000" dirty="0"/>
              <a:t>We set the data directory to the </a:t>
            </a:r>
            <a:r>
              <a:rPr sz="2000" dirty="0" err="1"/>
              <a:t>ConScape</a:t>
            </a:r>
            <a:r>
              <a:rPr sz="2000" dirty="0"/>
              <a:t> directory with the test data:</a:t>
            </a:r>
          </a:p>
          <a:p>
            <a:pPr lvl="0" indent="0">
              <a:buNone/>
            </a:pPr>
            <a:r>
              <a:rPr sz="2000" dirty="0" err="1">
                <a:latin typeface="Courier"/>
              </a:rPr>
              <a:t>datadir</a:t>
            </a:r>
            <a:r>
              <a:rPr sz="2000" dirty="0">
                <a:latin typeface="Courier"/>
              </a:rPr>
              <a:t> </a:t>
            </a:r>
            <a:r>
              <a:rPr sz="2000" dirty="0">
                <a:solidFill>
                  <a:srgbClr val="666666"/>
                </a:solidFill>
                <a:latin typeface="Courier"/>
              </a:rPr>
              <a:t>=</a:t>
            </a:r>
            <a:r>
              <a:rPr sz="2000" dirty="0">
                <a:latin typeface="Courier"/>
              </a:rPr>
              <a:t> </a:t>
            </a:r>
            <a:r>
              <a:rPr sz="2000" dirty="0" err="1">
                <a:solidFill>
                  <a:srgbClr val="06287E"/>
                </a:solidFill>
                <a:latin typeface="Courier"/>
              </a:rPr>
              <a:t>joinpath</a:t>
            </a:r>
            <a:r>
              <a:rPr sz="2000" dirty="0">
                <a:latin typeface="Courier"/>
              </a:rPr>
              <a:t>(</a:t>
            </a:r>
            <a:r>
              <a:rPr sz="2000" dirty="0" err="1">
                <a:solidFill>
                  <a:srgbClr val="06287E"/>
                </a:solidFill>
                <a:latin typeface="Courier"/>
              </a:rPr>
              <a:t>dirname</a:t>
            </a:r>
            <a:r>
              <a:rPr sz="2000" dirty="0">
                <a:latin typeface="Courier"/>
              </a:rPr>
              <a:t>(</a:t>
            </a:r>
            <a:r>
              <a:rPr sz="2000" dirty="0" err="1">
                <a:solidFill>
                  <a:srgbClr val="06287E"/>
                </a:solidFill>
                <a:latin typeface="Courier"/>
              </a:rPr>
              <a:t>pathof</a:t>
            </a:r>
            <a:r>
              <a:rPr sz="2000" dirty="0">
                <a:latin typeface="Courier"/>
              </a:rPr>
              <a:t>(</a:t>
            </a:r>
            <a:r>
              <a:rPr sz="2000" dirty="0" err="1">
                <a:latin typeface="Courier"/>
              </a:rPr>
              <a:t>ConScape</a:t>
            </a:r>
            <a:r>
              <a:rPr sz="2000" dirty="0">
                <a:latin typeface="Courier"/>
              </a:rPr>
              <a:t>)), </a:t>
            </a:r>
            <a:r>
              <a:rPr sz="2000" dirty="0">
                <a:solidFill>
                  <a:srgbClr val="4070A0"/>
                </a:solidFill>
                <a:latin typeface="Courier"/>
              </a:rPr>
              <a:t>".."</a:t>
            </a:r>
            <a:r>
              <a:rPr sz="2000" dirty="0">
                <a:latin typeface="Courier"/>
              </a:rPr>
              <a:t>, </a:t>
            </a:r>
            <a:r>
              <a:rPr sz="2000" dirty="0">
                <a:solidFill>
                  <a:srgbClr val="4070A0"/>
                </a:solidFill>
                <a:latin typeface="Courier"/>
              </a:rPr>
              <a:t>"data"</a:t>
            </a:r>
            <a:r>
              <a:rPr sz="2000" dirty="0">
                <a:latin typeface="Courier"/>
              </a:rPr>
              <a:t>)</a:t>
            </a:r>
            <a:br>
              <a:rPr sz="2000" dirty="0"/>
            </a:br>
            <a:r>
              <a:rPr sz="2000" dirty="0" err="1">
                <a:solidFill>
                  <a:srgbClr val="06287E"/>
                </a:solidFill>
                <a:latin typeface="Courier"/>
              </a:rPr>
              <a:t>readdir</a:t>
            </a:r>
            <a:r>
              <a:rPr sz="2000" dirty="0">
                <a:latin typeface="Courier"/>
              </a:rPr>
              <a:t>(</a:t>
            </a:r>
            <a:r>
              <a:rPr sz="2000" dirty="0" err="1">
                <a:latin typeface="Courier"/>
              </a:rPr>
              <a:t>datadir</a:t>
            </a:r>
            <a:r>
              <a:rPr sz="2000" dirty="0">
                <a:latin typeface="Courier"/>
              </a:rPr>
              <a:t>)</a:t>
            </a:r>
            <a:br>
              <a:rPr sz="2000" dirty="0"/>
            </a:br>
            <a:r>
              <a:rPr sz="2000" dirty="0">
                <a:latin typeface="Courier"/>
              </a:rPr>
              <a:t>_</a:t>
            </a:r>
            <a:r>
              <a:rPr sz="2000" dirty="0" err="1">
                <a:latin typeface="Courier"/>
              </a:rPr>
              <a:t>tempdir</a:t>
            </a:r>
            <a:r>
              <a:rPr sz="2000" dirty="0">
                <a:latin typeface="Courier"/>
              </a:rPr>
              <a:t> </a:t>
            </a:r>
            <a:r>
              <a:rPr sz="2000" dirty="0">
                <a:solidFill>
                  <a:srgbClr val="666666"/>
                </a:solidFill>
                <a:latin typeface="Courier"/>
              </a:rPr>
              <a:t>=</a:t>
            </a:r>
            <a:r>
              <a:rPr sz="2000" dirty="0">
                <a:latin typeface="Courier"/>
              </a:rPr>
              <a:t> </a:t>
            </a:r>
            <a:r>
              <a:rPr sz="2000" dirty="0" err="1">
                <a:solidFill>
                  <a:srgbClr val="06287E"/>
                </a:solidFill>
                <a:latin typeface="Courier"/>
              </a:rPr>
              <a:t>mkdir</a:t>
            </a:r>
            <a:r>
              <a:rPr sz="2000" dirty="0">
                <a:latin typeface="Courier"/>
              </a:rPr>
              <a:t>(</a:t>
            </a:r>
            <a:r>
              <a:rPr sz="2000" dirty="0" err="1">
                <a:solidFill>
                  <a:srgbClr val="06287E"/>
                </a:solidFill>
                <a:latin typeface="Courier"/>
              </a:rPr>
              <a:t>tempname</a:t>
            </a:r>
            <a:r>
              <a:rPr sz="2000" dirty="0">
                <a:latin typeface="Courier"/>
              </a:rPr>
              <a: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457201" y="1076326"/>
            <a:ext cx="8115299" cy="3518297"/>
          </a:xfrm>
        </p:spPr>
        <p:txBody>
          <a:bodyPr>
            <a:noAutofit/>
          </a:bodyPr>
          <a:lstStyle/>
          <a:p>
            <a:pPr marL="0" lvl="0" indent="0">
              <a:buNone/>
            </a:pPr>
            <a:r>
              <a:rPr sz="2000" dirty="0"/>
              <a:t>We load the habitat </a:t>
            </a:r>
            <a:r>
              <a:rPr sz="2000" dirty="0" err="1"/>
              <a:t>suitabilty</a:t>
            </a:r>
            <a:r>
              <a:rPr sz="2000" dirty="0"/>
              <a:t> data, note that the way the ascii is read in GDAL is reversed and rotated:</a:t>
            </a:r>
          </a:p>
          <a:p>
            <a:pPr lvl="0" indent="0">
              <a:buNone/>
            </a:pPr>
            <a:r>
              <a:rPr lang="nb-NO" sz="2000" dirty="0">
                <a:latin typeface="Courier"/>
              </a:rPr>
              <a:t>	</a:t>
            </a:r>
            <a:r>
              <a:rPr sz="2000" dirty="0">
                <a:latin typeface="Courier"/>
              </a:rPr>
              <a:t>qualities </a:t>
            </a:r>
            <a:r>
              <a:rPr sz="2000" dirty="0">
                <a:solidFill>
                  <a:srgbClr val="666666"/>
                </a:solidFill>
                <a:latin typeface="Courier"/>
              </a:rPr>
              <a:t>=</a:t>
            </a:r>
            <a:r>
              <a:rPr sz="2000" dirty="0">
                <a:latin typeface="Courier"/>
              </a:rPr>
              <a:t> </a:t>
            </a:r>
            <a:r>
              <a:rPr sz="2000" dirty="0">
                <a:solidFill>
                  <a:srgbClr val="06287E"/>
                </a:solidFill>
                <a:latin typeface="Courier"/>
              </a:rPr>
              <a:t>reverse</a:t>
            </a:r>
            <a:r>
              <a:rPr sz="2000" dirty="0">
                <a:latin typeface="Courier"/>
              </a:rPr>
              <a:t>(</a:t>
            </a:r>
            <a:r>
              <a:rPr sz="2000" dirty="0">
                <a:solidFill>
                  <a:srgbClr val="06287E"/>
                </a:solidFill>
                <a:latin typeface="Courier"/>
              </a:rPr>
              <a:t>rotr90</a:t>
            </a:r>
            <a:r>
              <a:rPr sz="2000" dirty="0">
                <a:latin typeface="Courier"/>
              </a:rPr>
              <a:t>(</a:t>
            </a:r>
            <a:r>
              <a:rPr sz="2000" dirty="0" err="1">
                <a:solidFill>
                  <a:srgbClr val="06287E"/>
                </a:solidFill>
                <a:latin typeface="Courier"/>
              </a:rPr>
              <a:t>replace_missing</a:t>
            </a:r>
            <a:r>
              <a:rPr sz="2000" dirty="0">
                <a:latin typeface="Courier"/>
              </a:rPr>
              <a:t>(</a:t>
            </a:r>
            <a:endParaRPr lang="nb-NO" sz="2000" dirty="0">
              <a:latin typeface="Courier"/>
            </a:endParaRPr>
          </a:p>
          <a:p>
            <a:pPr lvl="0" indent="0">
              <a:buNone/>
            </a:pPr>
            <a:r>
              <a:rPr lang="nb-NO" sz="2000" dirty="0">
                <a:solidFill>
                  <a:srgbClr val="06287E"/>
                </a:solidFill>
                <a:latin typeface="Courier"/>
              </a:rPr>
              <a:t>		</a:t>
            </a:r>
            <a:r>
              <a:rPr sz="2000" dirty="0">
                <a:solidFill>
                  <a:srgbClr val="06287E"/>
                </a:solidFill>
                <a:latin typeface="Courier"/>
              </a:rPr>
              <a:t>Raster</a:t>
            </a:r>
            <a:r>
              <a:rPr sz="2000" dirty="0">
                <a:latin typeface="Courier"/>
              </a:rPr>
              <a:t>(</a:t>
            </a:r>
            <a:r>
              <a:rPr sz="2000" dirty="0" err="1">
                <a:solidFill>
                  <a:srgbClr val="06287E"/>
                </a:solidFill>
                <a:latin typeface="Courier"/>
              </a:rPr>
              <a:t>joinpath</a:t>
            </a:r>
            <a:r>
              <a:rPr sz="2000" dirty="0">
                <a:latin typeface="Courier"/>
              </a:rPr>
              <a:t>(</a:t>
            </a:r>
            <a:r>
              <a:rPr sz="2000" dirty="0" err="1">
                <a:latin typeface="Courier"/>
              </a:rPr>
              <a:t>datadir</a:t>
            </a:r>
            <a:r>
              <a:rPr sz="2000" dirty="0">
                <a:latin typeface="Courier"/>
              </a:rPr>
              <a:t>, </a:t>
            </a:r>
            <a:r>
              <a:rPr sz="2000" dirty="0">
                <a:solidFill>
                  <a:srgbClr val="4070A0"/>
                </a:solidFill>
                <a:latin typeface="Courier"/>
              </a:rPr>
              <a:t>"hab_qual_200.asc"</a:t>
            </a:r>
            <a:r>
              <a:rPr sz="2000" dirty="0">
                <a:latin typeface="Courier"/>
              </a:rPr>
              <a:t>)),</a:t>
            </a:r>
            <a:endParaRPr lang="nb-NO" sz="2000" dirty="0">
              <a:latin typeface="Courier"/>
            </a:endParaRPr>
          </a:p>
          <a:p>
            <a:pPr lvl="0" indent="0">
              <a:buNone/>
            </a:pPr>
            <a:r>
              <a:rPr lang="nb-NO" sz="2000" dirty="0">
                <a:solidFill>
                  <a:srgbClr val="880000"/>
                </a:solidFill>
                <a:latin typeface="Courier"/>
              </a:rPr>
              <a:t>																</a:t>
            </a:r>
            <a:r>
              <a:rPr sz="2000" dirty="0" err="1">
                <a:solidFill>
                  <a:srgbClr val="880000"/>
                </a:solidFill>
                <a:latin typeface="Courier"/>
              </a:rPr>
              <a:t>NaN</a:t>
            </a:r>
            <a:r>
              <a:rPr sz="2000" dirty="0">
                <a:latin typeface="Courier"/>
              </a:rPr>
              <a:t>)); dims</a:t>
            </a:r>
            <a:r>
              <a:rPr sz="2000" dirty="0">
                <a:solidFill>
                  <a:srgbClr val="666666"/>
                </a:solidFill>
                <a:latin typeface="Courier"/>
              </a:rPr>
              <a:t>=</a:t>
            </a:r>
            <a:r>
              <a:rPr sz="2000" dirty="0">
                <a:latin typeface="Courier"/>
              </a:rPr>
              <a:t>X)</a:t>
            </a:r>
            <a:br>
              <a:rPr sz="2000" dirty="0"/>
            </a:br>
            <a:r>
              <a:rPr lang="nb-NO" sz="2000" dirty="0"/>
              <a:t>	</a:t>
            </a:r>
            <a:r>
              <a:rPr sz="2000" dirty="0" err="1">
                <a:latin typeface="Courier"/>
              </a:rPr>
              <a:t>Makie.</a:t>
            </a:r>
            <a:r>
              <a:rPr sz="2000" dirty="0" err="1">
                <a:solidFill>
                  <a:srgbClr val="06287E"/>
                </a:solidFill>
                <a:latin typeface="Courier"/>
              </a:rPr>
              <a:t>plot</a:t>
            </a:r>
            <a:r>
              <a:rPr sz="2000" dirty="0">
                <a:latin typeface="Courier"/>
              </a:rPr>
              <a:t>(qualities, </a:t>
            </a:r>
            <a:endParaRPr lang="nb-NO" sz="2000" dirty="0">
              <a:latin typeface="Courier"/>
            </a:endParaRPr>
          </a:p>
          <a:p>
            <a:pPr lvl="0" indent="0">
              <a:buNone/>
            </a:pPr>
            <a:r>
              <a:rPr lang="nb-NO" sz="2000" dirty="0">
                <a:latin typeface="Courier"/>
              </a:rPr>
              <a:t>					</a:t>
            </a:r>
            <a:r>
              <a:rPr sz="2000" dirty="0">
                <a:latin typeface="Courier"/>
              </a:rPr>
              <a:t>colormap</a:t>
            </a:r>
            <a:r>
              <a:rPr sz="2000" dirty="0">
                <a:solidFill>
                  <a:srgbClr val="666666"/>
                </a:solidFill>
                <a:latin typeface="Courier"/>
              </a:rPr>
              <a:t>=</a:t>
            </a:r>
            <a:r>
              <a:rPr sz="2000" dirty="0" err="1">
                <a:solidFill>
                  <a:srgbClr val="06287E"/>
                </a:solidFill>
                <a:latin typeface="Courier"/>
              </a:rPr>
              <a:t>cgrad</a:t>
            </a:r>
            <a:r>
              <a:rPr sz="2000" dirty="0">
                <a:latin typeface="Courier"/>
              </a:rPr>
              <a:t>([</a:t>
            </a:r>
            <a:r>
              <a:rPr sz="2000" dirty="0">
                <a:solidFill>
                  <a:srgbClr val="666666"/>
                </a:solidFill>
                <a:latin typeface="Courier"/>
              </a:rPr>
              <a:t>:</a:t>
            </a:r>
            <a:r>
              <a:rPr sz="2000" dirty="0" err="1">
                <a:latin typeface="Courier"/>
              </a:rPr>
              <a:t>lightgrey</a:t>
            </a:r>
            <a:r>
              <a:rPr sz="2000" dirty="0">
                <a:latin typeface="Courier"/>
              </a:rPr>
              <a:t>, </a:t>
            </a:r>
            <a:r>
              <a:rPr sz="2000" dirty="0">
                <a:solidFill>
                  <a:srgbClr val="666666"/>
                </a:solidFill>
                <a:latin typeface="Courier"/>
              </a:rPr>
              <a:t>:</a:t>
            </a:r>
            <a:r>
              <a:rPr sz="2000" dirty="0">
                <a:latin typeface="Courier"/>
              </a:rPr>
              <a:t>green]))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8B02A-1EA6-9E90-84C5-91FCB4C33F22}"/>
            </a:ext>
          </a:extLst>
        </p:cNvPr>
        <p:cNvGrpSpPr/>
        <p:nvPr/>
      </p:nvGrpSpPr>
      <p:grpSpPr>
        <a:xfrm>
          <a:off x="0" y="0"/>
          <a:ext cx="0" cy="0"/>
          <a:chOff x="0" y="0"/>
          <a:chExt cx="0" cy="0"/>
        </a:xfrm>
      </p:grpSpPr>
      <p:pic>
        <p:nvPicPr>
          <p:cNvPr id="2" name="Picture 1" descr="presentation_ppt_files/figure-pptx/cell-4-output-1.png">
            <a:extLst>
              <a:ext uri="{FF2B5EF4-FFF2-40B4-BE49-F238E27FC236}">
                <a16:creationId xmlns:a16="http://schemas.microsoft.com/office/drawing/2014/main" id="{AD0AB287-F304-2742-4349-D9997A9E2919}"/>
              </a:ext>
            </a:extLst>
          </p:cNvPr>
          <p:cNvPicPr>
            <a:picLocks noGrp="1" noChangeAspect="1"/>
          </p:cNvPicPr>
          <p:nvPr/>
        </p:nvPicPr>
        <p:blipFill>
          <a:blip r:embed="rId2"/>
          <a:stretch>
            <a:fillRect/>
          </a:stretch>
        </p:blipFill>
        <p:spPr bwMode="auto">
          <a:xfrm>
            <a:off x="1200945" y="496092"/>
            <a:ext cx="6364286" cy="4346473"/>
          </a:xfrm>
          <a:prstGeom prst="rect">
            <a:avLst/>
          </a:prstGeom>
          <a:noFill/>
          <a:ln w="9525">
            <a:noFill/>
            <a:headEnd/>
            <a:tailEnd/>
          </a:ln>
        </p:spPr>
      </p:pic>
    </p:spTree>
    <p:extLst>
      <p:ext uri="{BB962C8B-B14F-4D97-AF65-F5344CB8AC3E}">
        <p14:creationId xmlns:p14="http://schemas.microsoft.com/office/powerpoint/2010/main" val="24815342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B629B-5F73-4A41-DDA2-7C49971BECF3}"/>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9E802F23-E1B9-7911-1CA1-E24FC53DDFCD}"/>
              </a:ext>
            </a:extLst>
          </p:cNvPr>
          <p:cNvSpPr>
            <a:spLocks noGrp="1"/>
          </p:cNvSpPr>
          <p:nvPr>
            <p:ph type="body" sz="half" idx="2"/>
          </p:nvPr>
        </p:nvSpPr>
        <p:spPr>
          <a:xfrm>
            <a:off x="457201" y="1076326"/>
            <a:ext cx="8115299" cy="3518297"/>
          </a:xfrm>
        </p:spPr>
        <p:txBody>
          <a:bodyPr>
            <a:noAutofit/>
          </a:bodyPr>
          <a:lstStyle/>
          <a:p>
            <a:pPr marL="0" lvl="0" indent="0">
              <a:buNone/>
            </a:pPr>
            <a:r>
              <a:rPr lang="nb-NO" sz="2000" dirty="0" err="1"/>
              <a:t>Next</a:t>
            </a:r>
            <a:r>
              <a:rPr lang="nb-NO" sz="2000" dirty="0"/>
              <a:t> </a:t>
            </a:r>
            <a:r>
              <a:rPr lang="nb-NO" sz="2000" dirty="0" err="1"/>
              <a:t>we</a:t>
            </a:r>
            <a:r>
              <a:rPr lang="nb-NO" sz="2000" dirty="0"/>
              <a:t> </a:t>
            </a:r>
            <a:r>
              <a:rPr lang="nb-NO" sz="2000" dirty="0" err="1"/>
              <a:t>read</a:t>
            </a:r>
            <a:r>
              <a:rPr lang="nb-NO" sz="2000" dirty="0"/>
              <a:t> </a:t>
            </a:r>
            <a:r>
              <a:rPr lang="nb-NO" sz="2000" dirty="0" err="1"/>
              <a:t>the</a:t>
            </a:r>
            <a:r>
              <a:rPr lang="nb-NO" sz="2000" dirty="0"/>
              <a:t> habitat </a:t>
            </a:r>
            <a:r>
              <a:rPr lang="nb-NO" sz="2000" dirty="0" err="1"/>
              <a:t>permeability</a:t>
            </a:r>
            <a:r>
              <a:rPr lang="nb-NO" sz="2000" dirty="0"/>
              <a:t>:</a:t>
            </a:r>
          </a:p>
          <a:p>
            <a:pPr lvl="0" indent="0">
              <a:buNone/>
            </a:pPr>
            <a:r>
              <a:rPr lang="nb-NO" sz="2000" dirty="0">
                <a:latin typeface="Courier"/>
              </a:rPr>
              <a:t>	</a:t>
            </a:r>
            <a:r>
              <a:rPr lang="nb-NO" sz="2000" dirty="0" err="1">
                <a:latin typeface="Courier"/>
              </a:rPr>
              <a:t>affinities</a:t>
            </a:r>
            <a:r>
              <a:rPr lang="nb-NO" sz="2000" dirty="0">
                <a:latin typeface="Courier"/>
              </a:rPr>
              <a:t> </a:t>
            </a:r>
            <a:r>
              <a:rPr lang="nb-NO" sz="2000" dirty="0">
                <a:solidFill>
                  <a:srgbClr val="666666"/>
                </a:solidFill>
                <a:latin typeface="Courier"/>
              </a:rPr>
              <a:t>=</a:t>
            </a:r>
            <a:r>
              <a:rPr lang="nb-NO" sz="2000" dirty="0">
                <a:latin typeface="Courier"/>
              </a:rPr>
              <a:t> </a:t>
            </a:r>
            <a:r>
              <a:rPr lang="nb-NO" sz="2000" dirty="0" err="1">
                <a:solidFill>
                  <a:srgbClr val="06287E"/>
                </a:solidFill>
                <a:latin typeface="Courier"/>
              </a:rPr>
              <a:t>reverse</a:t>
            </a:r>
            <a:r>
              <a:rPr lang="nb-NO" sz="2000" dirty="0">
                <a:latin typeface="Courier"/>
              </a:rPr>
              <a:t>(</a:t>
            </a:r>
            <a:r>
              <a:rPr lang="nb-NO" sz="2000" dirty="0">
                <a:solidFill>
                  <a:srgbClr val="06287E"/>
                </a:solidFill>
                <a:latin typeface="Courier"/>
              </a:rPr>
              <a:t>rotr90</a:t>
            </a:r>
            <a:r>
              <a:rPr lang="nb-NO" sz="2000" dirty="0">
                <a:latin typeface="Courier"/>
              </a:rPr>
              <a:t>(</a:t>
            </a:r>
            <a:r>
              <a:rPr lang="nb-NO" sz="2000" dirty="0" err="1">
                <a:solidFill>
                  <a:srgbClr val="06287E"/>
                </a:solidFill>
                <a:latin typeface="Courier"/>
              </a:rPr>
              <a:t>replace_missing</a:t>
            </a:r>
            <a:r>
              <a:rPr lang="nb-NO" sz="2000" dirty="0">
                <a:latin typeface="Courier"/>
              </a:rPr>
              <a:t>(</a:t>
            </a:r>
          </a:p>
          <a:p>
            <a:pPr lvl="0" indent="0">
              <a:buNone/>
            </a:pPr>
            <a:r>
              <a:rPr lang="nb-NO" sz="2000" dirty="0">
                <a:solidFill>
                  <a:srgbClr val="06287E"/>
                </a:solidFill>
                <a:latin typeface="Courier"/>
              </a:rPr>
              <a:t>		Raster</a:t>
            </a:r>
            <a:r>
              <a:rPr lang="nb-NO" sz="2000" dirty="0">
                <a:latin typeface="Courier"/>
              </a:rPr>
              <a:t>(</a:t>
            </a:r>
            <a:r>
              <a:rPr lang="nb-NO" sz="2000" dirty="0" err="1">
                <a:solidFill>
                  <a:srgbClr val="06287E"/>
                </a:solidFill>
                <a:latin typeface="Courier"/>
              </a:rPr>
              <a:t>joinpath</a:t>
            </a:r>
            <a:r>
              <a:rPr lang="nb-NO" sz="2000" dirty="0">
                <a:latin typeface="Courier"/>
              </a:rPr>
              <a:t>(</a:t>
            </a:r>
            <a:r>
              <a:rPr lang="nb-NO" sz="2000" dirty="0" err="1">
                <a:latin typeface="Courier"/>
              </a:rPr>
              <a:t>datadir</a:t>
            </a:r>
            <a:r>
              <a:rPr lang="nb-NO" sz="2000" dirty="0">
                <a:latin typeface="Courier"/>
              </a:rPr>
              <a:t>, </a:t>
            </a:r>
            <a:r>
              <a:rPr lang="nb-NO" sz="2000" dirty="0">
                <a:solidFill>
                  <a:srgbClr val="4070A0"/>
                </a:solidFill>
                <a:latin typeface="Courier"/>
              </a:rPr>
              <a:t>"mov_prob_200.asc"</a:t>
            </a:r>
            <a:r>
              <a:rPr lang="nb-NO" sz="2000" dirty="0">
                <a:latin typeface="Courier"/>
              </a:rPr>
              <a:t>))</a:t>
            </a:r>
          </a:p>
          <a:p>
            <a:pPr lvl="0" indent="0">
              <a:buNone/>
            </a:pPr>
            <a:r>
              <a:rPr lang="nb-NO" sz="2000" dirty="0">
                <a:latin typeface="Courier"/>
              </a:rPr>
              <a:t>															, </a:t>
            </a:r>
            <a:r>
              <a:rPr lang="nb-NO" sz="2000" dirty="0" err="1">
                <a:solidFill>
                  <a:srgbClr val="880000"/>
                </a:solidFill>
                <a:latin typeface="Courier"/>
              </a:rPr>
              <a:t>NaN</a:t>
            </a:r>
            <a:r>
              <a:rPr lang="nb-NO" sz="2000" dirty="0">
                <a:latin typeface="Courier"/>
              </a:rPr>
              <a:t>)); dims</a:t>
            </a:r>
            <a:r>
              <a:rPr lang="nb-NO" sz="2000" dirty="0">
                <a:solidFill>
                  <a:srgbClr val="666666"/>
                </a:solidFill>
                <a:latin typeface="Courier"/>
              </a:rPr>
              <a:t>=</a:t>
            </a:r>
            <a:r>
              <a:rPr lang="nb-NO" sz="2000" dirty="0" err="1">
                <a:latin typeface="Courier"/>
              </a:rPr>
              <a:t>X</a:t>
            </a:r>
            <a:r>
              <a:rPr lang="nb-NO" sz="2000" dirty="0">
                <a:latin typeface="Courier"/>
              </a:rPr>
              <a:t>)</a:t>
            </a:r>
            <a:br>
              <a:rPr lang="nb-NO" sz="2000" dirty="0"/>
            </a:br>
            <a:r>
              <a:rPr lang="nb-NO" sz="2000" dirty="0"/>
              <a:t>	</a:t>
            </a:r>
            <a:r>
              <a:rPr lang="nb-NO" sz="2000" dirty="0" err="1">
                <a:latin typeface="Courier"/>
              </a:rPr>
              <a:t>Makie.</a:t>
            </a:r>
            <a:r>
              <a:rPr lang="nb-NO" sz="2000" dirty="0" err="1">
                <a:solidFill>
                  <a:srgbClr val="06287E"/>
                </a:solidFill>
                <a:latin typeface="Courier"/>
              </a:rPr>
              <a:t>plot</a:t>
            </a:r>
            <a:r>
              <a:rPr lang="nb-NO" sz="2000" dirty="0">
                <a:latin typeface="Courier"/>
              </a:rPr>
              <a:t>(</a:t>
            </a:r>
            <a:r>
              <a:rPr lang="nb-NO" sz="2000" dirty="0" err="1">
                <a:latin typeface="Courier"/>
              </a:rPr>
              <a:t>qualities</a:t>
            </a:r>
            <a:r>
              <a:rPr lang="nb-NO" sz="2000" dirty="0">
                <a:latin typeface="Courier"/>
              </a:rPr>
              <a:t>, </a:t>
            </a:r>
            <a:r>
              <a:rPr lang="nb-NO" sz="2000" dirty="0" err="1">
                <a:latin typeface="Courier"/>
              </a:rPr>
              <a:t>colormap</a:t>
            </a:r>
            <a:r>
              <a:rPr lang="nb-NO" sz="2000" dirty="0">
                <a:solidFill>
                  <a:srgbClr val="666666"/>
                </a:solidFill>
                <a:latin typeface="Courier"/>
              </a:rPr>
              <a:t>=</a:t>
            </a:r>
            <a:r>
              <a:rPr lang="nb-NO" sz="2000" dirty="0" err="1">
                <a:solidFill>
                  <a:srgbClr val="06287E"/>
                </a:solidFill>
                <a:latin typeface="Courier"/>
              </a:rPr>
              <a:t>cgrad</a:t>
            </a:r>
            <a:r>
              <a:rPr lang="nb-NO" sz="2000" dirty="0">
                <a:latin typeface="Courier"/>
              </a:rPr>
              <a:t>(</a:t>
            </a:r>
            <a:r>
              <a:rPr lang="nb-NO" sz="2000" dirty="0">
                <a:solidFill>
                  <a:srgbClr val="666666"/>
                </a:solidFill>
                <a:latin typeface="Courier"/>
              </a:rPr>
              <a:t>:</a:t>
            </a:r>
            <a:r>
              <a:rPr lang="nb-NO" sz="2000" dirty="0" err="1">
                <a:latin typeface="Courier"/>
              </a:rPr>
              <a:t>acton</a:t>
            </a:r>
            <a:r>
              <a:rPr lang="nb-NO" sz="2000" dirty="0">
                <a:latin typeface="Courier"/>
              </a:rPr>
              <a:t>))</a:t>
            </a:r>
          </a:p>
        </p:txBody>
      </p:sp>
    </p:spTree>
    <p:extLst>
      <p:ext uri="{BB962C8B-B14F-4D97-AF65-F5344CB8AC3E}">
        <p14:creationId xmlns:p14="http://schemas.microsoft.com/office/powerpoint/2010/main" val="33576760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presentation_ppt_files/figure-pptx/cell-5-output-1.png"/>
          <p:cNvPicPr>
            <a:picLocks noGrp="1" noChangeAspect="1"/>
          </p:cNvPicPr>
          <p:nvPr/>
        </p:nvPicPr>
        <p:blipFill>
          <a:blip r:embed="rId2"/>
          <a:stretch>
            <a:fillRect/>
          </a:stretch>
        </p:blipFill>
        <p:spPr bwMode="auto">
          <a:xfrm>
            <a:off x="1200945" y="496091"/>
            <a:ext cx="6364286" cy="4346473"/>
          </a:xfrm>
          <a:prstGeom prst="rect">
            <a:avLst/>
          </a:prstGeom>
          <a:noFill/>
          <a:ln w="9525">
            <a:noFill/>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7175" y="2071687"/>
            <a:ext cx="8358188" cy="2522935"/>
          </a:xfrm>
        </p:spPr>
        <p:txBody>
          <a:bodyPr>
            <a:normAutofit/>
          </a:bodyPr>
          <a:lstStyle/>
          <a:p>
            <a:pPr lvl="0" indent="0">
              <a:buNone/>
            </a:pPr>
            <a:r>
              <a:rPr sz="2000" dirty="0">
                <a:latin typeface="Courier"/>
              </a:rPr>
              <a:t>qualities[(affinities </a:t>
            </a:r>
            <a:r>
              <a:rPr sz="2000" dirty="0">
                <a:solidFill>
                  <a:srgbClr val="666666"/>
                </a:solidFill>
                <a:latin typeface="Courier"/>
              </a:rPr>
              <a:t>.&gt;</a:t>
            </a:r>
            <a:r>
              <a:rPr sz="2000" dirty="0">
                <a:latin typeface="Courier"/>
              </a:rPr>
              <a:t> </a:t>
            </a:r>
            <a:r>
              <a:rPr sz="2000" dirty="0">
                <a:solidFill>
                  <a:srgbClr val="40A070"/>
                </a:solidFill>
                <a:latin typeface="Courier"/>
              </a:rPr>
              <a:t>0</a:t>
            </a:r>
            <a:r>
              <a:rPr sz="2000" dirty="0">
                <a:latin typeface="Courier"/>
              </a:rPr>
              <a:t>) </a:t>
            </a:r>
            <a:r>
              <a:rPr sz="2000" dirty="0">
                <a:solidFill>
                  <a:srgbClr val="666666"/>
                </a:solidFill>
                <a:latin typeface="Courier"/>
              </a:rPr>
              <a:t>.&amp;</a:t>
            </a:r>
            <a:r>
              <a:rPr lang="nb-NO" sz="2000" dirty="0">
                <a:solidFill>
                  <a:srgbClr val="666666"/>
                </a:solidFill>
                <a:latin typeface="Courier"/>
              </a:rPr>
              <a:t> </a:t>
            </a:r>
            <a:r>
              <a:rPr sz="2000" dirty="0" err="1">
                <a:solidFill>
                  <a:srgbClr val="06287E"/>
                </a:solidFill>
                <a:latin typeface="Courier"/>
              </a:rPr>
              <a:t>isnan</a:t>
            </a:r>
            <a:r>
              <a:rPr sz="2000" dirty="0">
                <a:latin typeface="Courier"/>
              </a:rPr>
              <a:t>.(qualities)] </a:t>
            </a:r>
            <a:r>
              <a:rPr sz="2000" dirty="0">
                <a:solidFill>
                  <a:srgbClr val="666666"/>
                </a:solidFill>
                <a:latin typeface="Courier"/>
              </a:rPr>
              <a:t>.=</a:t>
            </a:r>
            <a:r>
              <a:rPr sz="2000" dirty="0">
                <a:latin typeface="Courier"/>
              </a:rPr>
              <a:t> </a:t>
            </a:r>
            <a:r>
              <a:rPr sz="2000" dirty="0">
                <a:solidFill>
                  <a:srgbClr val="40A070"/>
                </a:solidFill>
                <a:latin typeface="Courier"/>
              </a:rPr>
              <a:t>1e-20</a:t>
            </a:r>
            <a:r>
              <a:rPr sz="2000" dirty="0">
                <a:latin typeface="Courier"/>
              </a:rPr>
              <a:t>;</a:t>
            </a:r>
            <a:endParaRPr lang="nb-NO" sz="2000" dirty="0">
              <a:latin typeface="Courier"/>
            </a:endParaRPr>
          </a:p>
        </p:txBody>
      </p:sp>
      <p:sp>
        <p:nvSpPr>
          <p:cNvPr id="6" name="Rectangle: Rounded Corners 5">
            <a:extLst>
              <a:ext uri="{FF2B5EF4-FFF2-40B4-BE49-F238E27FC236}">
                <a16:creationId xmlns:a16="http://schemas.microsoft.com/office/drawing/2014/main" id="{F7FC2A75-4F67-1FB9-102C-9AD3C2262A81}"/>
              </a:ext>
            </a:extLst>
          </p:cNvPr>
          <p:cNvSpPr/>
          <p:nvPr/>
        </p:nvSpPr>
        <p:spPr>
          <a:xfrm>
            <a:off x="642938" y="685800"/>
            <a:ext cx="7786687" cy="978694"/>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r>
              <a:rPr lang="en-US" sz="2000" b="1" dirty="0">
                <a:solidFill>
                  <a:schemeClr val="tx1"/>
                </a:solidFill>
                <a:effectLst>
                  <a:outerShdw blurRad="38100" dist="38100" dir="2700000" algn="tl">
                    <a:srgbClr val="000000">
                      <a:alpha val="43137"/>
                    </a:srgbClr>
                  </a:outerShdw>
                </a:effectLst>
              </a:rPr>
              <a:t>Very important</a:t>
            </a:r>
          </a:p>
          <a:p>
            <a:r>
              <a:rPr lang="en-US" b="1" dirty="0">
                <a:solidFill>
                  <a:schemeClr val="tx1"/>
                </a:solidFill>
              </a:rPr>
              <a:t>Ensure that all the connected nodes have a value for the quality of the habitat.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734C55-44C9-52D1-4D71-82FAFABD83E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714686-1F29-B375-2A17-40F95FC875A6}"/>
              </a:ext>
            </a:extLst>
          </p:cNvPr>
          <p:cNvSpPr>
            <a:spLocks noGrp="1"/>
          </p:cNvSpPr>
          <p:nvPr>
            <p:ph idx="1"/>
          </p:nvPr>
        </p:nvSpPr>
        <p:spPr>
          <a:xfrm>
            <a:off x="457200" y="1214439"/>
            <a:ext cx="8229600" cy="3380184"/>
          </a:xfrm>
        </p:spPr>
        <p:txBody>
          <a:bodyPr>
            <a:normAutofit/>
          </a:bodyPr>
          <a:lstStyle/>
          <a:p>
            <a:pPr marL="0" lvl="0" indent="0">
              <a:buNone/>
            </a:pPr>
            <a:r>
              <a:rPr sz="2000" dirty="0"/>
              <a:t>The second step after parameterizing the graph nodes and edges is to determine the parameters of the paths. We first investigate the effect of path randomness, then we study how distance should be converted into proximity.</a:t>
            </a:r>
          </a:p>
        </p:txBody>
      </p:sp>
      <p:sp>
        <p:nvSpPr>
          <p:cNvPr id="2" name="Title 1">
            <a:extLst>
              <a:ext uri="{FF2B5EF4-FFF2-40B4-BE49-F238E27FC236}">
                <a16:creationId xmlns:a16="http://schemas.microsoft.com/office/drawing/2014/main" id="{0847109D-A296-9BB1-8283-C21C5A0AEE34}"/>
              </a:ext>
            </a:extLst>
          </p:cNvPr>
          <p:cNvSpPr>
            <a:spLocks noGrp="1"/>
          </p:cNvSpPr>
          <p:nvPr>
            <p:ph type="title"/>
          </p:nvPr>
        </p:nvSpPr>
        <p:spPr>
          <a:xfrm>
            <a:off x="457200" y="205979"/>
            <a:ext cx="8229600" cy="857250"/>
          </a:xfrm>
        </p:spPr>
        <p:txBody>
          <a:bodyPr>
            <a:normAutofit/>
          </a:bodyPr>
          <a:lstStyle/>
          <a:p>
            <a:pPr marL="0" lvl="0" indent="0">
              <a:buNone/>
            </a:pPr>
            <a:r>
              <a:rPr lang="en-US" dirty="0"/>
              <a:t>Second: determine path parameters</a:t>
            </a:r>
            <a:endParaRPr dirty="0"/>
          </a:p>
        </p:txBody>
      </p:sp>
      <p:pic>
        <p:nvPicPr>
          <p:cNvPr id="4" name="Picture 3">
            <a:extLst>
              <a:ext uri="{FF2B5EF4-FFF2-40B4-BE49-F238E27FC236}">
                <a16:creationId xmlns:a16="http://schemas.microsoft.com/office/drawing/2014/main" id="{3E23E440-9AF2-4AC0-9F1A-55DEC11CC0C2}"/>
              </a:ext>
            </a:extLst>
          </p:cNvPr>
          <p:cNvPicPr>
            <a:picLocks noChangeAspect="1"/>
          </p:cNvPicPr>
          <p:nvPr/>
        </p:nvPicPr>
        <p:blipFill>
          <a:blip r:embed="rId2"/>
          <a:stretch>
            <a:fillRect/>
          </a:stretch>
        </p:blipFill>
        <p:spPr>
          <a:xfrm>
            <a:off x="640012" y="2717766"/>
            <a:ext cx="1443744" cy="1299834"/>
          </a:xfrm>
          <a:prstGeom prst="rect">
            <a:avLst/>
          </a:prstGeom>
        </p:spPr>
      </p:pic>
      <p:pic>
        <p:nvPicPr>
          <p:cNvPr id="5" name="Picture 4">
            <a:extLst>
              <a:ext uri="{FF2B5EF4-FFF2-40B4-BE49-F238E27FC236}">
                <a16:creationId xmlns:a16="http://schemas.microsoft.com/office/drawing/2014/main" id="{95C7CC08-64BB-0973-7276-307689A21324}"/>
              </a:ext>
            </a:extLst>
          </p:cNvPr>
          <p:cNvPicPr>
            <a:picLocks noChangeAspect="1"/>
          </p:cNvPicPr>
          <p:nvPr/>
        </p:nvPicPr>
        <p:blipFill>
          <a:blip r:embed="rId3"/>
          <a:stretch>
            <a:fillRect/>
          </a:stretch>
        </p:blipFill>
        <p:spPr>
          <a:xfrm>
            <a:off x="2083756" y="3518893"/>
            <a:ext cx="2294275" cy="1636358"/>
          </a:xfrm>
          <a:prstGeom prst="rect">
            <a:avLst/>
          </a:prstGeom>
        </p:spPr>
      </p:pic>
      <p:sp>
        <p:nvSpPr>
          <p:cNvPr id="7" name="Content Placeholder 4">
            <a:extLst>
              <a:ext uri="{FF2B5EF4-FFF2-40B4-BE49-F238E27FC236}">
                <a16:creationId xmlns:a16="http://schemas.microsoft.com/office/drawing/2014/main" id="{6C0BFDC0-EED6-E018-71B5-341E13042024}"/>
              </a:ext>
            </a:extLst>
          </p:cNvPr>
          <p:cNvSpPr txBox="1">
            <a:spLocks/>
          </p:cNvSpPr>
          <p:nvPr/>
        </p:nvSpPr>
        <p:spPr>
          <a:xfrm>
            <a:off x="3122362" y="2599949"/>
            <a:ext cx="5145882" cy="1758554"/>
          </a:xfrm>
          <a:prstGeom prst="rect">
            <a:avLst/>
          </a:prstGeom>
        </p:spPr>
        <p:txBody>
          <a:bodyPr/>
          <a:lstStyle>
            <a:lvl1pPr marL="342900" indent="-342900" algn="l" defTabSz="342900" rtl="0" eaLnBrk="1" latinLnBrk="0" hangingPunct="1">
              <a:spcBef>
                <a:spcPct val="20000"/>
              </a:spcBef>
              <a:buFont typeface="Arial"/>
              <a:buChar char="•"/>
              <a:defRPr sz="2400" kern="1200">
                <a:solidFill>
                  <a:schemeClr val="tx1"/>
                </a:solidFill>
                <a:latin typeface="+mn-lt"/>
                <a:ea typeface="+mn-ea"/>
                <a:cs typeface="+mn-cs"/>
              </a:defRPr>
            </a:lvl1pPr>
            <a:lvl2pPr marL="685800" indent="-342900" algn="l" defTabSz="342900" rtl="0" eaLnBrk="1" latinLnBrk="0" hangingPunct="1">
              <a:spcBef>
                <a:spcPct val="20000"/>
              </a:spcBef>
              <a:buFont typeface="Arial"/>
              <a:buChar char="–"/>
              <a:defRPr sz="2100" kern="1200">
                <a:solidFill>
                  <a:schemeClr val="tx1"/>
                </a:solidFill>
                <a:latin typeface="+mn-lt"/>
                <a:ea typeface="+mn-ea"/>
                <a:cs typeface="+mn-cs"/>
              </a:defRPr>
            </a:lvl2pPr>
            <a:lvl3pPr marL="1028700" indent="-34290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371600" indent="-34290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714500" indent="-342900" algn="l" defTabSz="342900" rtl="0" eaLnBrk="1" latinLnBrk="0" hangingPunct="1">
              <a:spcBef>
                <a:spcPct val="20000"/>
              </a:spcBef>
              <a:buFont typeface="Arial"/>
              <a:buChar char="»"/>
              <a:defRPr sz="1500" kern="1200">
                <a:solidFill>
                  <a:schemeClr val="tx1"/>
                </a:solidFill>
                <a:latin typeface="+mn-lt"/>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buFont typeface="Arial"/>
              <a:buNone/>
            </a:pPr>
            <a:r>
              <a:rPr lang="nb-NO" dirty="0"/>
              <a:t>Network parameters</a:t>
            </a:r>
          </a:p>
          <a:p>
            <a:pPr marL="457200" indent="-457200">
              <a:buFont typeface="+mj-lt"/>
              <a:buAutoNum type="arabicPeriod" startAt="3"/>
            </a:pPr>
            <a:r>
              <a:rPr lang="nb-NO" dirty="0"/>
              <a:t>Movement </a:t>
            </a:r>
            <a:r>
              <a:rPr lang="nb-NO" dirty="0" err="1"/>
              <a:t>paths</a:t>
            </a:r>
            <a:r>
              <a:rPr lang="nb-NO" dirty="0"/>
              <a:t>: optimal-random</a:t>
            </a:r>
          </a:p>
          <a:p>
            <a:pPr marL="457200" indent="-457200">
              <a:buFont typeface="+mj-lt"/>
              <a:buAutoNum type="arabicPeriod" startAt="3"/>
            </a:pPr>
            <a:r>
              <a:rPr lang="nb-NO" dirty="0" err="1"/>
              <a:t>Distance-proximity</a:t>
            </a:r>
            <a:r>
              <a:rPr lang="nb-NO" dirty="0"/>
              <a:t> </a:t>
            </a:r>
            <a:r>
              <a:rPr lang="nb-NO" dirty="0" err="1"/>
              <a:t>relationship</a:t>
            </a:r>
            <a:endParaRPr lang="nb-NO" dirty="0"/>
          </a:p>
        </p:txBody>
      </p:sp>
    </p:spTree>
    <p:extLst>
      <p:ext uri="{BB962C8B-B14F-4D97-AF65-F5344CB8AC3E}">
        <p14:creationId xmlns:p14="http://schemas.microsoft.com/office/powerpoint/2010/main" val="33836923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marL="0" lvl="0" indent="0">
              <a:buNone/>
            </a:pPr>
            <a:r>
              <a:rPr sz="2000" dirty="0"/>
              <a:t>To investigate the effect of theta, we will investigate the path distribution between a single pixel as source and one as a target:</a:t>
            </a:r>
          </a:p>
          <a:p>
            <a:pPr lvl="0" indent="0">
              <a:buNone/>
            </a:pPr>
            <a:r>
              <a:rPr sz="2000" dirty="0" err="1">
                <a:latin typeface="Courier"/>
              </a:rPr>
              <a:t>source_qualities</a:t>
            </a:r>
            <a:r>
              <a:rPr sz="2000" dirty="0">
                <a:latin typeface="Courier"/>
              </a:rPr>
              <a:t> </a:t>
            </a:r>
            <a:r>
              <a:rPr sz="2000" dirty="0">
                <a:solidFill>
                  <a:srgbClr val="666666"/>
                </a:solidFill>
                <a:latin typeface="Courier"/>
              </a:rPr>
              <a:t>=</a:t>
            </a:r>
            <a:r>
              <a:rPr sz="2000" dirty="0">
                <a:latin typeface="Courier"/>
              </a:rPr>
              <a:t> </a:t>
            </a:r>
            <a:r>
              <a:rPr sz="2000" dirty="0">
                <a:solidFill>
                  <a:srgbClr val="06287E"/>
                </a:solidFill>
                <a:latin typeface="Courier"/>
              </a:rPr>
              <a:t>copy</a:t>
            </a:r>
            <a:r>
              <a:rPr sz="2000" dirty="0">
                <a:latin typeface="Courier"/>
              </a:rPr>
              <a:t>(qualities)</a:t>
            </a:r>
            <a:br>
              <a:rPr sz="2000" dirty="0"/>
            </a:br>
            <a:r>
              <a:rPr sz="2000" dirty="0" err="1">
                <a:latin typeface="Courier"/>
              </a:rPr>
              <a:t>source_qualities</a:t>
            </a:r>
            <a:r>
              <a:rPr sz="2000" dirty="0">
                <a:latin typeface="Courier"/>
              </a:rPr>
              <a:t>[</a:t>
            </a:r>
            <a:r>
              <a:rPr sz="2000" dirty="0">
                <a:solidFill>
                  <a:srgbClr val="666666"/>
                </a:solidFill>
                <a:latin typeface="Courier"/>
              </a:rPr>
              <a:t>:</a:t>
            </a:r>
            <a:r>
              <a:rPr sz="2000" dirty="0">
                <a:latin typeface="Courier"/>
              </a:rPr>
              <a:t>,</a:t>
            </a:r>
            <a:r>
              <a:rPr sz="2000" dirty="0">
                <a:solidFill>
                  <a:srgbClr val="666666"/>
                </a:solidFill>
                <a:latin typeface="Courier"/>
              </a:rPr>
              <a:t>:</a:t>
            </a:r>
            <a:r>
              <a:rPr sz="2000" dirty="0">
                <a:latin typeface="Courier"/>
              </a:rPr>
              <a:t>] </a:t>
            </a:r>
            <a:r>
              <a:rPr sz="2000" dirty="0">
                <a:solidFill>
                  <a:srgbClr val="666666"/>
                </a:solidFill>
                <a:latin typeface="Courier"/>
              </a:rPr>
              <a:t>.=</a:t>
            </a:r>
            <a:r>
              <a:rPr sz="2000" dirty="0">
                <a:latin typeface="Courier"/>
              </a:rPr>
              <a:t> </a:t>
            </a:r>
            <a:r>
              <a:rPr sz="2000" dirty="0">
                <a:solidFill>
                  <a:srgbClr val="40A070"/>
                </a:solidFill>
                <a:latin typeface="Courier"/>
              </a:rPr>
              <a:t>0</a:t>
            </a:r>
            <a:br>
              <a:rPr sz="2000" dirty="0"/>
            </a:br>
            <a:r>
              <a:rPr sz="2000" dirty="0" err="1">
                <a:latin typeface="Courier"/>
              </a:rPr>
              <a:t>source_qualities</a:t>
            </a:r>
            <a:r>
              <a:rPr sz="2000" dirty="0">
                <a:latin typeface="Courier"/>
              </a:rPr>
              <a:t>[</a:t>
            </a:r>
            <a:r>
              <a:rPr sz="2000" dirty="0">
                <a:solidFill>
                  <a:srgbClr val="40A070"/>
                </a:solidFill>
                <a:latin typeface="Courier"/>
              </a:rPr>
              <a:t>250</a:t>
            </a:r>
            <a:r>
              <a:rPr sz="2000" dirty="0">
                <a:latin typeface="Courier"/>
              </a:rPr>
              <a:t>, </a:t>
            </a:r>
            <a:r>
              <a:rPr sz="2000" dirty="0">
                <a:solidFill>
                  <a:srgbClr val="40A070"/>
                </a:solidFill>
                <a:latin typeface="Courier"/>
              </a:rPr>
              <a:t>500</a:t>
            </a:r>
            <a:r>
              <a:rPr sz="2000" dirty="0">
                <a:latin typeface="Courier"/>
              </a:rPr>
              <a:t>] </a:t>
            </a:r>
            <a:r>
              <a:rPr sz="2000" dirty="0">
                <a:solidFill>
                  <a:srgbClr val="666666"/>
                </a:solidFill>
                <a:latin typeface="Courier"/>
              </a:rPr>
              <a:t>=</a:t>
            </a:r>
            <a:r>
              <a:rPr sz="2000" dirty="0">
                <a:latin typeface="Courier"/>
              </a:rPr>
              <a:t> </a:t>
            </a:r>
            <a:r>
              <a:rPr sz="2000" dirty="0">
                <a:solidFill>
                  <a:srgbClr val="40A070"/>
                </a:solidFill>
                <a:latin typeface="Courier"/>
              </a:rPr>
              <a:t>1</a:t>
            </a:r>
            <a:br>
              <a:rPr sz="2000" dirty="0"/>
            </a:br>
            <a:br>
              <a:rPr sz="2000" dirty="0"/>
            </a:br>
            <a:r>
              <a:rPr sz="2000" dirty="0" err="1">
                <a:latin typeface="Courier"/>
              </a:rPr>
              <a:t>target_qualities</a:t>
            </a:r>
            <a:r>
              <a:rPr sz="2000" dirty="0">
                <a:latin typeface="Courier"/>
              </a:rPr>
              <a:t> </a:t>
            </a:r>
            <a:r>
              <a:rPr sz="2000" dirty="0">
                <a:solidFill>
                  <a:srgbClr val="666666"/>
                </a:solidFill>
                <a:latin typeface="Courier"/>
              </a:rPr>
              <a:t>=</a:t>
            </a:r>
            <a:r>
              <a:rPr sz="2000" dirty="0">
                <a:latin typeface="Courier"/>
              </a:rPr>
              <a:t> </a:t>
            </a:r>
            <a:r>
              <a:rPr sz="2000" dirty="0">
                <a:solidFill>
                  <a:srgbClr val="06287E"/>
                </a:solidFill>
                <a:latin typeface="Courier"/>
              </a:rPr>
              <a:t>copy</a:t>
            </a:r>
            <a:r>
              <a:rPr sz="2000" dirty="0">
                <a:latin typeface="Courier"/>
              </a:rPr>
              <a:t>(qualities)</a:t>
            </a:r>
            <a:br>
              <a:rPr sz="2000" dirty="0"/>
            </a:br>
            <a:r>
              <a:rPr sz="2000" dirty="0" err="1">
                <a:latin typeface="Courier"/>
              </a:rPr>
              <a:t>target_qualities</a:t>
            </a:r>
            <a:r>
              <a:rPr sz="2000" dirty="0">
                <a:latin typeface="Courier"/>
              </a:rPr>
              <a:t>[</a:t>
            </a:r>
            <a:r>
              <a:rPr sz="2000" dirty="0">
                <a:solidFill>
                  <a:srgbClr val="666666"/>
                </a:solidFill>
                <a:latin typeface="Courier"/>
              </a:rPr>
              <a:t>:</a:t>
            </a:r>
            <a:r>
              <a:rPr sz="2000" dirty="0">
                <a:latin typeface="Courier"/>
              </a:rPr>
              <a:t>,</a:t>
            </a:r>
            <a:r>
              <a:rPr sz="2000" dirty="0">
                <a:solidFill>
                  <a:srgbClr val="666666"/>
                </a:solidFill>
                <a:latin typeface="Courier"/>
              </a:rPr>
              <a:t>:</a:t>
            </a:r>
            <a:r>
              <a:rPr sz="2000" dirty="0">
                <a:latin typeface="Courier"/>
              </a:rPr>
              <a:t>] </a:t>
            </a:r>
            <a:r>
              <a:rPr sz="2000" dirty="0">
                <a:solidFill>
                  <a:srgbClr val="666666"/>
                </a:solidFill>
                <a:latin typeface="Courier"/>
              </a:rPr>
              <a:t>.=</a:t>
            </a:r>
            <a:r>
              <a:rPr sz="2000" dirty="0">
                <a:latin typeface="Courier"/>
              </a:rPr>
              <a:t> </a:t>
            </a:r>
            <a:r>
              <a:rPr sz="2000" dirty="0">
                <a:solidFill>
                  <a:srgbClr val="40A070"/>
                </a:solidFill>
                <a:latin typeface="Courier"/>
              </a:rPr>
              <a:t>0</a:t>
            </a:r>
            <a:br>
              <a:rPr sz="2000" dirty="0"/>
            </a:br>
            <a:r>
              <a:rPr sz="2000" dirty="0" err="1">
                <a:latin typeface="Courier"/>
              </a:rPr>
              <a:t>target_qualities</a:t>
            </a:r>
            <a:r>
              <a:rPr sz="2000" dirty="0">
                <a:latin typeface="Courier"/>
              </a:rPr>
              <a:t>[</a:t>
            </a:r>
            <a:r>
              <a:rPr sz="2000" dirty="0">
                <a:solidFill>
                  <a:srgbClr val="40A070"/>
                </a:solidFill>
                <a:latin typeface="Courier"/>
              </a:rPr>
              <a:t>350</a:t>
            </a:r>
            <a:r>
              <a:rPr sz="2000" dirty="0">
                <a:latin typeface="Courier"/>
              </a:rPr>
              <a:t>, </a:t>
            </a:r>
            <a:r>
              <a:rPr sz="2000" dirty="0">
                <a:solidFill>
                  <a:srgbClr val="40A070"/>
                </a:solidFill>
                <a:latin typeface="Courier"/>
              </a:rPr>
              <a:t>400</a:t>
            </a:r>
            <a:r>
              <a:rPr sz="2000" dirty="0">
                <a:latin typeface="Courier"/>
              </a:rPr>
              <a:t>] </a:t>
            </a:r>
            <a:r>
              <a:rPr sz="2000" dirty="0">
                <a:solidFill>
                  <a:srgbClr val="666666"/>
                </a:solidFill>
                <a:latin typeface="Courier"/>
              </a:rPr>
              <a:t>=</a:t>
            </a:r>
            <a:r>
              <a:rPr sz="2000" dirty="0">
                <a:latin typeface="Courier"/>
              </a:rPr>
              <a:t> </a:t>
            </a:r>
            <a:r>
              <a:rPr sz="2000" dirty="0">
                <a:solidFill>
                  <a:srgbClr val="40A070"/>
                </a:solidFill>
                <a:latin typeface="Courier"/>
              </a:rPr>
              <a:t>1</a:t>
            </a:r>
            <a:endParaRPr sz="2000" dirty="0">
              <a:latin typeface="Courier"/>
            </a:endParaRPr>
          </a:p>
        </p:txBody>
      </p:sp>
      <p:sp>
        <p:nvSpPr>
          <p:cNvPr id="2" name="Title 1">
            <a:extLst>
              <a:ext uri="{FF2B5EF4-FFF2-40B4-BE49-F238E27FC236}">
                <a16:creationId xmlns:a16="http://schemas.microsoft.com/office/drawing/2014/main" id="{AEBA2589-28FC-EE75-484F-964DDD0E9050}"/>
              </a:ext>
            </a:extLst>
          </p:cNvPr>
          <p:cNvSpPr>
            <a:spLocks noGrp="1"/>
          </p:cNvSpPr>
          <p:nvPr>
            <p:ph type="title"/>
          </p:nvPr>
        </p:nvSpPr>
        <p:spPr>
          <a:xfrm>
            <a:off x="457200" y="205979"/>
            <a:ext cx="8229600" cy="857250"/>
          </a:xfrm>
        </p:spPr>
        <p:txBody>
          <a:bodyPr>
            <a:normAutofit/>
          </a:bodyPr>
          <a:lstStyle/>
          <a:p>
            <a:pPr marL="0" lvl="0" indent="0">
              <a:buNone/>
            </a:pPr>
            <a:r>
              <a:rPr lang="en-US" dirty="0"/>
              <a:t>The effect of path randomness – theta</a:t>
            </a:r>
            <a:endParaRPr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70FE8-441C-949E-DC5E-AFBD9301D43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606A7DE-1840-011A-A77B-DF769FC11A40}"/>
              </a:ext>
            </a:extLst>
          </p:cNvPr>
          <p:cNvSpPr>
            <a:spLocks noGrp="1"/>
          </p:cNvSpPr>
          <p:nvPr>
            <p:ph idx="1"/>
          </p:nvPr>
        </p:nvSpPr>
        <p:spPr>
          <a:xfrm>
            <a:off x="457200" y="1200151"/>
            <a:ext cx="8686800" cy="3394472"/>
          </a:xfrm>
        </p:spPr>
        <p:txBody>
          <a:bodyPr>
            <a:noAutofit/>
          </a:bodyPr>
          <a:lstStyle/>
          <a:p>
            <a:pPr marL="0" lvl="0" indent="0">
              <a:buNone/>
            </a:pPr>
            <a:r>
              <a:rPr lang="en-US" sz="2000" dirty="0"/>
              <a:t>Make the </a:t>
            </a:r>
            <a:r>
              <a:rPr lang="en-US" sz="2000" dirty="0" err="1"/>
              <a:t>RasterStack</a:t>
            </a:r>
            <a:r>
              <a:rPr lang="en-US" sz="2000" dirty="0"/>
              <a:t>:</a:t>
            </a:r>
          </a:p>
          <a:p>
            <a:pPr lvl="0" indent="0">
              <a:buNone/>
            </a:pPr>
            <a:r>
              <a:rPr sz="2000" dirty="0" err="1">
                <a:latin typeface="Courier"/>
              </a:rPr>
              <a:t>rast</a:t>
            </a:r>
            <a:r>
              <a:rPr sz="2000" dirty="0">
                <a:latin typeface="Courier"/>
              </a:rPr>
              <a:t> </a:t>
            </a:r>
            <a:r>
              <a:rPr sz="2000" dirty="0">
                <a:solidFill>
                  <a:srgbClr val="666666"/>
                </a:solidFill>
                <a:latin typeface="Courier"/>
              </a:rPr>
              <a:t>=</a:t>
            </a:r>
            <a:r>
              <a:rPr sz="2000" dirty="0">
                <a:latin typeface="Courier"/>
              </a:rPr>
              <a:t> </a:t>
            </a:r>
            <a:r>
              <a:rPr sz="2000" dirty="0" err="1">
                <a:solidFill>
                  <a:srgbClr val="06287E"/>
                </a:solidFill>
                <a:latin typeface="Courier"/>
              </a:rPr>
              <a:t>RasterStack</a:t>
            </a:r>
            <a:r>
              <a:rPr sz="2000" dirty="0">
                <a:latin typeface="Courier"/>
              </a:rPr>
              <a:t>((; affinities, qualities</a:t>
            </a:r>
            <a:r>
              <a:rPr sz="2000" dirty="0">
                <a:solidFill>
                  <a:srgbClr val="666666"/>
                </a:solidFill>
                <a:latin typeface="Courier"/>
              </a:rPr>
              <a:t>=</a:t>
            </a:r>
            <a:r>
              <a:rPr sz="2000" dirty="0" err="1">
                <a:latin typeface="Courier"/>
              </a:rPr>
              <a:t>source_qualities</a:t>
            </a:r>
            <a:r>
              <a:rPr sz="2000" dirty="0">
                <a:latin typeface="Courier"/>
              </a:rPr>
              <a:t>, </a:t>
            </a:r>
            <a:r>
              <a:rPr sz="2000" dirty="0" err="1">
                <a:latin typeface="Courier"/>
              </a:rPr>
              <a:t>target_qualities</a:t>
            </a:r>
            <a:r>
              <a:rPr sz="2000" dirty="0">
                <a:solidFill>
                  <a:srgbClr val="666666"/>
                </a:solidFill>
                <a:latin typeface="Courier"/>
              </a:rPr>
              <a:t>=</a:t>
            </a:r>
            <a:r>
              <a:rPr sz="2000" dirty="0">
                <a:solidFill>
                  <a:srgbClr val="06287E"/>
                </a:solidFill>
                <a:latin typeface="Courier"/>
              </a:rPr>
              <a:t>modify</a:t>
            </a:r>
            <a:r>
              <a:rPr sz="2000" dirty="0">
                <a:latin typeface="Courier"/>
              </a:rPr>
              <a:t>(sparse, </a:t>
            </a:r>
            <a:r>
              <a:rPr sz="2000" dirty="0" err="1">
                <a:latin typeface="Courier"/>
              </a:rPr>
              <a:t>target_qualities</a:t>
            </a:r>
            <a:r>
              <a:rPr sz="2000" dirty="0">
                <a:latin typeface="Courier"/>
              </a:rPr>
              <a:t>)))</a:t>
            </a:r>
            <a:endParaRPr lang="nb-NO" sz="2000" dirty="0">
              <a:latin typeface="Courier"/>
            </a:endParaRPr>
          </a:p>
          <a:p>
            <a:pPr lvl="0" indent="0">
              <a:buNone/>
            </a:pPr>
            <a:endParaRPr sz="1400" dirty="0">
              <a:latin typeface="Courier"/>
            </a:endParaRPr>
          </a:p>
          <a:p>
            <a:pPr lvl="0" indent="0">
              <a:buNone/>
            </a:pPr>
            <a:r>
              <a:rPr sz="1400" dirty="0">
                <a:solidFill>
                  <a:schemeClr val="bg1">
                    <a:lumMod val="65000"/>
                  </a:schemeClr>
                </a:solidFill>
                <a:latin typeface="Courier"/>
              </a:rPr>
              <a:t>┌ 434×586 </a:t>
            </a:r>
            <a:r>
              <a:rPr sz="1400" dirty="0" err="1">
                <a:solidFill>
                  <a:schemeClr val="bg1">
                    <a:lumMod val="65000"/>
                  </a:schemeClr>
                </a:solidFill>
                <a:latin typeface="Courier"/>
              </a:rPr>
              <a:t>RasterStack</a:t>
            </a:r>
            <a:r>
              <a:rPr sz="1400" dirty="0">
                <a:solidFill>
                  <a:schemeClr val="bg1">
                    <a:lumMod val="65000"/>
                  </a:schemeClr>
                </a:solidFill>
                <a:latin typeface="Courier"/>
              </a:rPr>
              <a:t> ┐
├─────────────────────┴────────────────────────────────────────────────── dims ┐
  ↓ Y Projected{Float64} 6.98255e6:-200.0:6.89595e6 </a:t>
            </a:r>
            <a:r>
              <a:rPr sz="1400" dirty="0" err="1">
                <a:solidFill>
                  <a:schemeClr val="bg1">
                    <a:lumMod val="65000"/>
                  </a:schemeClr>
                </a:solidFill>
                <a:latin typeface="Courier"/>
              </a:rPr>
              <a:t>ReverseOrdered</a:t>
            </a:r>
            <a:r>
              <a:rPr sz="1400" dirty="0">
                <a:solidFill>
                  <a:schemeClr val="bg1">
                    <a:lumMod val="65000"/>
                  </a:schemeClr>
                </a:solidFill>
                <a:latin typeface="Courier"/>
              </a:rPr>
              <a:t> Regular Intervals{Start},
  → X Projected{Float64} 110250.0:200.0:227250.0 </a:t>
            </a:r>
            <a:r>
              <a:rPr sz="1400" dirty="0" err="1">
                <a:solidFill>
                  <a:schemeClr val="bg1">
                    <a:lumMod val="65000"/>
                  </a:schemeClr>
                </a:solidFill>
                <a:latin typeface="Courier"/>
              </a:rPr>
              <a:t>ForwardOrdered</a:t>
            </a:r>
            <a:r>
              <a:rPr sz="1400" dirty="0">
                <a:solidFill>
                  <a:schemeClr val="bg1">
                    <a:lumMod val="65000"/>
                  </a:schemeClr>
                </a:solidFill>
                <a:latin typeface="Courier"/>
              </a:rPr>
              <a:t> Regular Intervals{Start}
├────────────────────────────────────────────────────────────────────── layers ┤
  :affinities       </a:t>
            </a:r>
            <a:r>
              <a:rPr sz="1400" dirty="0" err="1">
                <a:solidFill>
                  <a:schemeClr val="bg1">
                    <a:lumMod val="65000"/>
                  </a:schemeClr>
                </a:solidFill>
                <a:latin typeface="Courier"/>
              </a:rPr>
              <a:t>eltype</a:t>
            </a:r>
            <a:r>
              <a:rPr sz="1400" dirty="0">
                <a:solidFill>
                  <a:schemeClr val="bg1">
                    <a:lumMod val="65000"/>
                  </a:schemeClr>
                </a:solidFill>
                <a:latin typeface="Courier"/>
              </a:rPr>
              <a:t>: Float64 dims: Y, X size: 434×586
  :qualities        </a:t>
            </a:r>
            <a:r>
              <a:rPr sz="1400" dirty="0" err="1">
                <a:solidFill>
                  <a:schemeClr val="bg1">
                    <a:lumMod val="65000"/>
                  </a:schemeClr>
                </a:solidFill>
                <a:latin typeface="Courier"/>
              </a:rPr>
              <a:t>eltype</a:t>
            </a:r>
            <a:r>
              <a:rPr sz="1400" dirty="0">
                <a:solidFill>
                  <a:schemeClr val="bg1">
                    <a:lumMod val="65000"/>
                  </a:schemeClr>
                </a:solidFill>
                <a:latin typeface="Courier"/>
              </a:rPr>
              <a:t>: Float64 dims: Y, X size: 434×586
  :</a:t>
            </a:r>
            <a:r>
              <a:rPr sz="1400" dirty="0" err="1">
                <a:solidFill>
                  <a:schemeClr val="bg1">
                    <a:lumMod val="65000"/>
                  </a:schemeClr>
                </a:solidFill>
                <a:latin typeface="Courier"/>
              </a:rPr>
              <a:t>target_qualities</a:t>
            </a:r>
            <a:r>
              <a:rPr sz="1400" dirty="0">
                <a:solidFill>
                  <a:schemeClr val="bg1">
                    <a:lumMod val="65000"/>
                  </a:schemeClr>
                </a:solidFill>
                <a:latin typeface="Courier"/>
              </a:rPr>
              <a:t> </a:t>
            </a:r>
            <a:r>
              <a:rPr sz="1400" dirty="0" err="1">
                <a:solidFill>
                  <a:schemeClr val="bg1">
                    <a:lumMod val="65000"/>
                  </a:schemeClr>
                </a:solidFill>
                <a:latin typeface="Courier"/>
              </a:rPr>
              <a:t>eltype</a:t>
            </a:r>
            <a:r>
              <a:rPr sz="1400" dirty="0">
                <a:solidFill>
                  <a:schemeClr val="bg1">
                    <a:lumMod val="65000"/>
                  </a:schemeClr>
                </a:solidFill>
                <a:latin typeface="Courier"/>
              </a:rPr>
              <a:t>: Float64 dims: Y, X size: 434×586
├────────────────────────────────────────────────────────────────────── raster ┤
  extent: Extent(Y = (6.89595e6, 6.98275e6), X = (110250.0, 227450.0))
  </a:t>
            </a:r>
            <a:r>
              <a:rPr sz="1400" dirty="0" err="1">
                <a:solidFill>
                  <a:schemeClr val="bg1">
                    <a:lumMod val="65000"/>
                  </a:schemeClr>
                </a:solidFill>
                <a:latin typeface="Courier"/>
              </a:rPr>
              <a:t>missingval</a:t>
            </a:r>
            <a:r>
              <a:rPr sz="1400" dirty="0">
                <a:solidFill>
                  <a:schemeClr val="bg1">
                    <a:lumMod val="65000"/>
                  </a:schemeClr>
                </a:solidFill>
                <a:latin typeface="Courier"/>
              </a:rPr>
              <a:t>: </a:t>
            </a:r>
            <a:r>
              <a:rPr sz="1400" dirty="0" err="1">
                <a:solidFill>
                  <a:schemeClr val="bg1">
                    <a:lumMod val="65000"/>
                  </a:schemeClr>
                </a:solidFill>
                <a:latin typeface="Courier"/>
              </a:rPr>
              <a:t>NaN</a:t>
            </a:r>
            <a:r>
              <a:rPr sz="1400" dirty="0">
                <a:solidFill>
                  <a:schemeClr val="bg1">
                    <a:lumMod val="65000"/>
                  </a:schemeClr>
                </a:solidFill>
                <a:latin typeface="Courier"/>
              </a:rPr>
              <a:t>
  </a:t>
            </a:r>
            <a:r>
              <a:rPr sz="1400" dirty="0" err="1">
                <a:solidFill>
                  <a:schemeClr val="bg1">
                    <a:lumMod val="65000"/>
                  </a:schemeClr>
                </a:solidFill>
                <a:latin typeface="Courier"/>
              </a:rPr>
              <a:t>crs</a:t>
            </a:r>
            <a:r>
              <a:rPr sz="1400" dirty="0">
                <a:solidFill>
                  <a:schemeClr val="bg1">
                    <a:lumMod val="65000"/>
                  </a:schemeClr>
                </a:solidFill>
                <a:latin typeface="Courier"/>
              </a:rPr>
              <a:t>: 
└──────────────────────────────────────────────────────────────────────────────┘</a:t>
            </a:r>
          </a:p>
        </p:txBody>
      </p:sp>
      <p:sp>
        <p:nvSpPr>
          <p:cNvPr id="2" name="Title 1">
            <a:extLst>
              <a:ext uri="{FF2B5EF4-FFF2-40B4-BE49-F238E27FC236}">
                <a16:creationId xmlns:a16="http://schemas.microsoft.com/office/drawing/2014/main" id="{F89962AC-453B-1EEE-4580-EFCF49AD3A20}"/>
              </a:ext>
            </a:extLst>
          </p:cNvPr>
          <p:cNvSpPr>
            <a:spLocks noGrp="1"/>
          </p:cNvSpPr>
          <p:nvPr>
            <p:ph type="title"/>
          </p:nvPr>
        </p:nvSpPr>
        <p:spPr>
          <a:xfrm>
            <a:off x="457200" y="205979"/>
            <a:ext cx="8229600" cy="857250"/>
          </a:xfrm>
        </p:spPr>
        <p:txBody>
          <a:bodyPr>
            <a:normAutofit/>
          </a:bodyPr>
          <a:lstStyle/>
          <a:p>
            <a:pPr marL="0" lvl="0" indent="0">
              <a:buNone/>
            </a:pPr>
            <a:r>
              <a:rPr lang="en-US" dirty="0"/>
              <a:t>The effect of path randomness – theta</a:t>
            </a:r>
            <a:endParaRPr dirty="0"/>
          </a:p>
        </p:txBody>
      </p:sp>
    </p:spTree>
    <p:extLst>
      <p:ext uri="{BB962C8B-B14F-4D97-AF65-F5344CB8AC3E}">
        <p14:creationId xmlns:p14="http://schemas.microsoft.com/office/powerpoint/2010/main" val="40583083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marL="0" lvl="0" indent="0">
              <a:buNone/>
            </a:pPr>
            <a:r>
              <a:rPr sz="2000" dirty="0"/>
              <a:t>We setup a </a:t>
            </a:r>
            <a:r>
              <a:rPr sz="2000" i="1" dirty="0"/>
              <a:t>problem</a:t>
            </a:r>
            <a:r>
              <a:rPr sz="2000" dirty="0"/>
              <a:t> to </a:t>
            </a:r>
            <a:r>
              <a:rPr sz="2000" i="1" dirty="0"/>
              <a:t>solve</a:t>
            </a:r>
            <a:r>
              <a:rPr sz="2000" dirty="0"/>
              <a:t> it – we loop over different optimality values:</a:t>
            </a:r>
          </a:p>
          <a:p>
            <a:pPr lvl="0" indent="0">
              <a:buNone/>
            </a:pPr>
            <a:r>
              <a:rPr sz="2000" dirty="0" err="1">
                <a:latin typeface="Courier"/>
              </a:rPr>
              <a:t>graph_measures</a:t>
            </a:r>
            <a:r>
              <a:rPr sz="2000" dirty="0">
                <a:latin typeface="Courier"/>
              </a:rPr>
              <a:t> </a:t>
            </a:r>
            <a:r>
              <a:rPr sz="2000" dirty="0">
                <a:solidFill>
                  <a:srgbClr val="666666"/>
                </a:solidFill>
                <a:latin typeface="Courier"/>
              </a:rPr>
              <a:t>=</a:t>
            </a:r>
            <a:r>
              <a:rPr sz="2000" dirty="0">
                <a:latin typeface="Courier"/>
              </a:rPr>
              <a:t> (; </a:t>
            </a:r>
            <a:r>
              <a:rPr lang="nb-NO" sz="2000" dirty="0">
                <a:latin typeface="Courier"/>
              </a:rPr>
              <a:t>						  			</a:t>
            </a:r>
            <a:r>
              <a:rPr sz="2000" dirty="0" err="1">
                <a:latin typeface="Courier"/>
              </a:rPr>
              <a:t>betw</a:t>
            </a:r>
            <a:r>
              <a:rPr sz="2000" dirty="0">
                <a:solidFill>
                  <a:srgbClr val="666666"/>
                </a:solidFill>
                <a:latin typeface="Courier"/>
              </a:rPr>
              <a:t>=</a:t>
            </a:r>
            <a:r>
              <a:rPr sz="2000" dirty="0" err="1">
                <a:latin typeface="Courier"/>
              </a:rPr>
              <a:t>ConScape.</a:t>
            </a:r>
            <a:r>
              <a:rPr sz="2000" dirty="0" err="1">
                <a:solidFill>
                  <a:srgbClr val="06287E"/>
                </a:solidFill>
                <a:latin typeface="Courier"/>
              </a:rPr>
              <a:t>BetweennessQweighted</a:t>
            </a:r>
            <a:r>
              <a:rPr sz="2000" dirty="0">
                <a:latin typeface="Courier"/>
              </a:rPr>
              <a:t>())</a:t>
            </a:r>
            <a:br>
              <a:rPr sz="2000" dirty="0"/>
            </a:br>
            <a:r>
              <a:rPr sz="2000" dirty="0" err="1">
                <a:latin typeface="Courier"/>
              </a:rPr>
              <a:t>distance_transformation</a:t>
            </a:r>
            <a:r>
              <a:rPr sz="2000" dirty="0">
                <a:latin typeface="Courier"/>
              </a:rPr>
              <a:t> </a:t>
            </a:r>
            <a:r>
              <a:rPr sz="2000" dirty="0">
                <a:solidFill>
                  <a:srgbClr val="666666"/>
                </a:solidFill>
                <a:latin typeface="Courier"/>
              </a:rPr>
              <a:t>=</a:t>
            </a:r>
            <a:r>
              <a:rPr sz="2000" dirty="0">
                <a:latin typeface="Courier"/>
              </a:rPr>
              <a:t> (</a:t>
            </a:r>
            <a:r>
              <a:rPr sz="2000" dirty="0" err="1">
                <a:latin typeface="Courier"/>
              </a:rPr>
              <a:t>nodist</a:t>
            </a:r>
            <a:r>
              <a:rPr sz="2000" dirty="0">
                <a:solidFill>
                  <a:srgbClr val="666666"/>
                </a:solidFill>
                <a:latin typeface="Courier"/>
              </a:rPr>
              <a:t>=</a:t>
            </a:r>
            <a:r>
              <a:rPr sz="2000" dirty="0">
                <a:solidFill>
                  <a:srgbClr val="880000"/>
                </a:solidFill>
                <a:latin typeface="Courier"/>
              </a:rPr>
              <a:t>nothing</a:t>
            </a:r>
            <a:r>
              <a:rPr sz="2000" dirty="0">
                <a:latin typeface="Courier"/>
              </a:rPr>
              <a:t>)</a:t>
            </a:r>
            <a:br>
              <a:rPr sz="2000" dirty="0"/>
            </a:br>
            <a:r>
              <a:rPr sz="2000" dirty="0">
                <a:latin typeface="Courier"/>
              </a:rPr>
              <a:t>solver </a:t>
            </a:r>
            <a:r>
              <a:rPr sz="2000" dirty="0">
                <a:solidFill>
                  <a:srgbClr val="666666"/>
                </a:solidFill>
                <a:latin typeface="Courier"/>
              </a:rPr>
              <a:t>=</a:t>
            </a:r>
            <a:r>
              <a:rPr sz="2000" dirty="0">
                <a:latin typeface="Courier"/>
              </a:rPr>
              <a:t> </a:t>
            </a:r>
            <a:r>
              <a:rPr sz="2000" dirty="0" err="1">
                <a:latin typeface="Courier"/>
              </a:rPr>
              <a:t>ConScape.</a:t>
            </a:r>
            <a:r>
              <a:rPr sz="2000" dirty="0" err="1">
                <a:solidFill>
                  <a:srgbClr val="06287E"/>
                </a:solidFill>
                <a:latin typeface="Courier"/>
              </a:rPr>
              <a:t>MatrixSolver</a:t>
            </a:r>
            <a:r>
              <a:rPr sz="2000" dirty="0">
                <a:latin typeface="Courier"/>
              </a:rPr>
              <a:t>()</a:t>
            </a:r>
          </a:p>
        </p:txBody>
      </p:sp>
      <p:sp>
        <p:nvSpPr>
          <p:cNvPr id="2" name="Title 1">
            <a:extLst>
              <a:ext uri="{FF2B5EF4-FFF2-40B4-BE49-F238E27FC236}">
                <a16:creationId xmlns:a16="http://schemas.microsoft.com/office/drawing/2014/main" id="{37B226D3-8FD8-7BAC-D41A-3F2CAEA6F616}"/>
              </a:ext>
            </a:extLst>
          </p:cNvPr>
          <p:cNvSpPr>
            <a:spLocks noGrp="1"/>
          </p:cNvSpPr>
          <p:nvPr>
            <p:ph type="title"/>
          </p:nvPr>
        </p:nvSpPr>
        <p:spPr>
          <a:xfrm>
            <a:off x="457200" y="205979"/>
            <a:ext cx="8229600" cy="857250"/>
          </a:xfrm>
        </p:spPr>
        <p:txBody>
          <a:bodyPr>
            <a:normAutofit/>
          </a:bodyPr>
          <a:lstStyle/>
          <a:p>
            <a:pPr marL="0" lvl="0" indent="0">
              <a:buNone/>
            </a:pPr>
            <a:r>
              <a:rPr lang="en-US" dirty="0"/>
              <a:t>The effect of path randomness – theta</a:t>
            </a:r>
            <a:endParaRPr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47C00-4186-8CCF-6185-48DD421A362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64B797-274A-BE8A-B218-236B2C87BA65}"/>
              </a:ext>
            </a:extLst>
          </p:cNvPr>
          <p:cNvSpPr>
            <a:spLocks noGrp="1"/>
          </p:cNvSpPr>
          <p:nvPr>
            <p:ph idx="1"/>
          </p:nvPr>
        </p:nvSpPr>
        <p:spPr/>
        <p:txBody>
          <a:bodyPr>
            <a:noAutofit/>
          </a:bodyPr>
          <a:lstStyle/>
          <a:p>
            <a:pPr marL="0" lvl="0" indent="0">
              <a:buNone/>
            </a:pPr>
            <a:r>
              <a:rPr sz="2000" dirty="0" err="1">
                <a:latin typeface="Courier"/>
              </a:rPr>
              <a:t>θs</a:t>
            </a:r>
            <a:r>
              <a:rPr sz="2000" dirty="0">
                <a:latin typeface="Courier"/>
              </a:rPr>
              <a:t> </a:t>
            </a:r>
            <a:r>
              <a:rPr sz="2000" dirty="0">
                <a:solidFill>
                  <a:srgbClr val="666666"/>
                </a:solidFill>
                <a:latin typeface="Courier"/>
              </a:rPr>
              <a:t>=</a:t>
            </a:r>
            <a:r>
              <a:rPr sz="2000" dirty="0">
                <a:latin typeface="Courier"/>
              </a:rPr>
              <a:t> [</a:t>
            </a:r>
            <a:r>
              <a:rPr sz="2000" dirty="0">
                <a:solidFill>
                  <a:srgbClr val="40A070"/>
                </a:solidFill>
                <a:latin typeface="Courier"/>
              </a:rPr>
              <a:t>1</a:t>
            </a:r>
            <a:r>
              <a:rPr sz="2000" dirty="0">
                <a:latin typeface="Courier"/>
              </a:rPr>
              <a:t>, </a:t>
            </a:r>
            <a:r>
              <a:rPr sz="2000" dirty="0">
                <a:solidFill>
                  <a:srgbClr val="40A070"/>
                </a:solidFill>
                <a:latin typeface="Courier"/>
              </a:rPr>
              <a:t>0.1</a:t>
            </a:r>
            <a:r>
              <a:rPr sz="2000" dirty="0">
                <a:latin typeface="Courier"/>
              </a:rPr>
              <a:t>, </a:t>
            </a:r>
            <a:r>
              <a:rPr sz="2000" dirty="0">
                <a:solidFill>
                  <a:srgbClr val="40A070"/>
                </a:solidFill>
                <a:latin typeface="Courier"/>
              </a:rPr>
              <a:t>0.01</a:t>
            </a:r>
            <a:r>
              <a:rPr sz="2000" dirty="0">
                <a:latin typeface="Courier"/>
              </a:rPr>
              <a:t>, </a:t>
            </a:r>
            <a:r>
              <a:rPr sz="2000" dirty="0">
                <a:solidFill>
                  <a:srgbClr val="40A070"/>
                </a:solidFill>
                <a:latin typeface="Courier"/>
              </a:rPr>
              <a:t>0.001</a:t>
            </a:r>
            <a:r>
              <a:rPr sz="2000" dirty="0">
                <a:latin typeface="Courier"/>
              </a:rPr>
              <a:t>, </a:t>
            </a:r>
            <a:r>
              <a:rPr sz="2000" dirty="0">
                <a:solidFill>
                  <a:srgbClr val="40A070"/>
                </a:solidFill>
                <a:latin typeface="Courier"/>
              </a:rPr>
              <a:t>0.0001</a:t>
            </a:r>
            <a:r>
              <a:rPr sz="2000" dirty="0">
                <a:latin typeface="Courier"/>
              </a:rPr>
              <a:t>, </a:t>
            </a:r>
            <a:r>
              <a:rPr sz="2000" dirty="0">
                <a:solidFill>
                  <a:srgbClr val="40A070"/>
                </a:solidFill>
                <a:latin typeface="Courier"/>
              </a:rPr>
              <a:t>0.00001</a:t>
            </a:r>
            <a:r>
              <a:rPr sz="2000" dirty="0">
                <a:latin typeface="Courier"/>
              </a:rPr>
              <a:t>]</a:t>
            </a:r>
            <a:br>
              <a:rPr sz="2000" dirty="0"/>
            </a:br>
            <a:br>
              <a:rPr sz="2000" dirty="0"/>
            </a:br>
            <a:r>
              <a:rPr sz="2000" dirty="0" err="1">
                <a:latin typeface="Courier"/>
              </a:rPr>
              <a:t>betw</a:t>
            </a:r>
            <a:r>
              <a:rPr sz="2000" dirty="0">
                <a:latin typeface="Courier"/>
              </a:rPr>
              <a:t> </a:t>
            </a:r>
            <a:r>
              <a:rPr sz="2000" dirty="0">
                <a:solidFill>
                  <a:srgbClr val="666666"/>
                </a:solidFill>
                <a:latin typeface="Courier"/>
              </a:rPr>
              <a:t>=</a:t>
            </a:r>
            <a:r>
              <a:rPr sz="2000" dirty="0">
                <a:latin typeface="Courier"/>
              </a:rPr>
              <a:t> </a:t>
            </a:r>
            <a:r>
              <a:rPr sz="2000" dirty="0">
                <a:solidFill>
                  <a:srgbClr val="06287E"/>
                </a:solidFill>
                <a:latin typeface="Courier"/>
              </a:rPr>
              <a:t>map</a:t>
            </a:r>
            <a:r>
              <a:rPr sz="2000" dirty="0">
                <a:latin typeface="Courier"/>
              </a:rPr>
              <a:t>(</a:t>
            </a:r>
            <a:r>
              <a:rPr sz="2000" dirty="0" err="1">
                <a:latin typeface="Courier"/>
              </a:rPr>
              <a:t>θs</a:t>
            </a:r>
            <a:r>
              <a:rPr sz="2000" dirty="0">
                <a:latin typeface="Courier"/>
              </a:rPr>
              <a:t>) </a:t>
            </a:r>
            <a:r>
              <a:rPr sz="2000" b="1" dirty="0">
                <a:solidFill>
                  <a:srgbClr val="007020"/>
                </a:solidFill>
                <a:latin typeface="Courier"/>
              </a:rPr>
              <a:t>do</a:t>
            </a:r>
            <a:r>
              <a:rPr sz="2000" dirty="0">
                <a:latin typeface="Courier"/>
              </a:rPr>
              <a:t> θ</a:t>
            </a:r>
            <a:br>
              <a:rPr sz="2000" dirty="0"/>
            </a:br>
            <a:r>
              <a:rPr sz="2000" dirty="0">
                <a:latin typeface="Courier"/>
              </a:rPr>
              <a:t>    </a:t>
            </a:r>
            <a:r>
              <a:rPr sz="2000" dirty="0" err="1">
                <a:latin typeface="Courier"/>
              </a:rPr>
              <a:t>connectivity_measure</a:t>
            </a:r>
            <a:r>
              <a:rPr sz="2000" dirty="0">
                <a:latin typeface="Courier"/>
              </a:rPr>
              <a:t> </a:t>
            </a:r>
            <a:r>
              <a:rPr sz="2000" dirty="0">
                <a:solidFill>
                  <a:srgbClr val="666666"/>
                </a:solidFill>
                <a:latin typeface="Courier"/>
              </a:rPr>
              <a:t>=</a:t>
            </a:r>
            <a:r>
              <a:rPr sz="2000" dirty="0">
                <a:latin typeface="Courier"/>
              </a:rPr>
              <a:t> </a:t>
            </a:r>
            <a:r>
              <a:rPr sz="2000" dirty="0" err="1">
                <a:latin typeface="Courier"/>
              </a:rPr>
              <a:t>ConScape.</a:t>
            </a:r>
            <a:r>
              <a:rPr sz="2000" dirty="0" err="1">
                <a:solidFill>
                  <a:srgbClr val="06287E"/>
                </a:solidFill>
                <a:latin typeface="Courier"/>
              </a:rPr>
              <a:t>ExpectedCost</a:t>
            </a:r>
            <a:r>
              <a:rPr sz="2000" dirty="0">
                <a:latin typeface="Courier"/>
              </a:rPr>
              <a:t>(; θ, </a:t>
            </a:r>
            <a:r>
              <a:rPr sz="2000" dirty="0" err="1">
                <a:latin typeface="Courier"/>
              </a:rPr>
              <a:t>distance_transformation</a:t>
            </a:r>
            <a:r>
              <a:rPr sz="2000" dirty="0">
                <a:latin typeface="Courier"/>
              </a:rPr>
              <a:t>)</a:t>
            </a:r>
            <a:br>
              <a:rPr sz="2000" dirty="0"/>
            </a:br>
            <a:r>
              <a:rPr sz="2000" dirty="0">
                <a:latin typeface="Courier"/>
              </a:rPr>
              <a:t>    problem </a:t>
            </a:r>
            <a:r>
              <a:rPr sz="2000" dirty="0">
                <a:solidFill>
                  <a:srgbClr val="666666"/>
                </a:solidFill>
                <a:latin typeface="Courier"/>
              </a:rPr>
              <a:t>=</a:t>
            </a:r>
            <a:r>
              <a:rPr sz="2000" dirty="0">
                <a:latin typeface="Courier"/>
              </a:rPr>
              <a:t> </a:t>
            </a:r>
            <a:r>
              <a:rPr sz="2000" dirty="0" err="1">
                <a:latin typeface="Courier"/>
              </a:rPr>
              <a:t>ConScape.</a:t>
            </a:r>
            <a:r>
              <a:rPr sz="2000" dirty="0" err="1">
                <a:solidFill>
                  <a:srgbClr val="06287E"/>
                </a:solidFill>
                <a:latin typeface="Courier"/>
              </a:rPr>
              <a:t>Problem</a:t>
            </a:r>
            <a:r>
              <a:rPr sz="2000" dirty="0">
                <a:latin typeface="Courier"/>
              </a:rPr>
              <a:t>(;</a:t>
            </a:r>
            <a:r>
              <a:rPr sz="2000" dirty="0" err="1">
                <a:latin typeface="Courier"/>
              </a:rPr>
              <a:t>graph_measures</a:t>
            </a:r>
            <a:r>
              <a:rPr sz="2000" dirty="0">
                <a:latin typeface="Courier"/>
              </a:rPr>
              <a:t>, </a:t>
            </a:r>
            <a:r>
              <a:rPr sz="2000" dirty="0" err="1">
                <a:latin typeface="Courier"/>
              </a:rPr>
              <a:t>connectivity_measure</a:t>
            </a:r>
            <a:r>
              <a:rPr sz="2000" dirty="0">
                <a:latin typeface="Courier"/>
              </a:rPr>
              <a:t>, solver)</a:t>
            </a:r>
            <a:br>
              <a:rPr sz="2000" dirty="0"/>
            </a:br>
            <a:r>
              <a:rPr sz="2000" dirty="0">
                <a:latin typeface="Courier"/>
              </a:rPr>
              <a:t>    </a:t>
            </a:r>
            <a:r>
              <a:rPr sz="2000" dirty="0" err="1">
                <a:latin typeface="Courier"/>
              </a:rPr>
              <a:t>ConScape.</a:t>
            </a:r>
            <a:r>
              <a:rPr sz="2000" dirty="0" err="1">
                <a:solidFill>
                  <a:srgbClr val="06287E"/>
                </a:solidFill>
                <a:latin typeface="Courier"/>
              </a:rPr>
              <a:t>solve</a:t>
            </a:r>
            <a:r>
              <a:rPr sz="2000" dirty="0">
                <a:latin typeface="Courier"/>
              </a:rPr>
              <a:t>(problem, </a:t>
            </a:r>
            <a:r>
              <a:rPr sz="2000" dirty="0" err="1">
                <a:latin typeface="Courier"/>
              </a:rPr>
              <a:t>rast</a:t>
            </a:r>
            <a:r>
              <a:rPr sz="2000" dirty="0">
                <a:latin typeface="Courier"/>
              </a:rPr>
              <a:t>).</a:t>
            </a:r>
            <a:r>
              <a:rPr sz="2000" dirty="0" err="1">
                <a:latin typeface="Courier"/>
              </a:rPr>
              <a:t>betw</a:t>
            </a:r>
            <a:br>
              <a:rPr sz="2000" dirty="0"/>
            </a:br>
            <a:r>
              <a:rPr sz="2000" b="1" dirty="0">
                <a:solidFill>
                  <a:srgbClr val="007020"/>
                </a:solidFill>
                <a:latin typeface="Courier"/>
              </a:rPr>
              <a:t>end</a:t>
            </a:r>
            <a:br>
              <a:rPr sz="2000" dirty="0"/>
            </a:br>
            <a:br>
              <a:rPr sz="2000" dirty="0"/>
            </a:br>
            <a:r>
              <a:rPr sz="2000" dirty="0" err="1">
                <a:latin typeface="Courier"/>
              </a:rPr>
              <a:t>betw</a:t>
            </a:r>
            <a:r>
              <a:rPr sz="2000" dirty="0">
                <a:latin typeface="Courier"/>
              </a:rPr>
              <a:t> </a:t>
            </a:r>
            <a:r>
              <a:rPr sz="2000" dirty="0">
                <a:solidFill>
                  <a:srgbClr val="666666"/>
                </a:solidFill>
                <a:latin typeface="Courier"/>
              </a:rPr>
              <a:t>=</a:t>
            </a:r>
            <a:r>
              <a:rPr sz="2000" dirty="0">
                <a:latin typeface="Courier"/>
              </a:rPr>
              <a:t> </a:t>
            </a:r>
            <a:r>
              <a:rPr sz="2000" dirty="0">
                <a:solidFill>
                  <a:srgbClr val="06287E"/>
                </a:solidFill>
                <a:latin typeface="Courier"/>
              </a:rPr>
              <a:t>cat</a:t>
            </a:r>
            <a:r>
              <a:rPr sz="2000" dirty="0">
                <a:latin typeface="Courier"/>
              </a:rPr>
              <a:t>(</a:t>
            </a:r>
            <a:r>
              <a:rPr sz="2000" dirty="0" err="1">
                <a:latin typeface="Courier"/>
              </a:rPr>
              <a:t>betw</a:t>
            </a:r>
            <a:r>
              <a:rPr sz="2000" dirty="0">
                <a:solidFill>
                  <a:srgbClr val="666666"/>
                </a:solidFill>
                <a:latin typeface="Courier"/>
              </a:rPr>
              <a:t>...</a:t>
            </a:r>
            <a:r>
              <a:rPr sz="2000" dirty="0">
                <a:latin typeface="Courier"/>
              </a:rPr>
              <a:t>; dims</a:t>
            </a:r>
            <a:r>
              <a:rPr sz="2000" dirty="0">
                <a:solidFill>
                  <a:srgbClr val="666666"/>
                </a:solidFill>
                <a:latin typeface="Courier"/>
              </a:rPr>
              <a:t>=</a:t>
            </a:r>
            <a:r>
              <a:rPr sz="2000" dirty="0">
                <a:solidFill>
                  <a:srgbClr val="06287E"/>
                </a:solidFill>
                <a:latin typeface="Courier"/>
              </a:rPr>
              <a:t>Dim</a:t>
            </a:r>
            <a:r>
              <a:rPr sz="2000" dirty="0">
                <a:solidFill>
                  <a:srgbClr val="902000"/>
                </a:solidFill>
                <a:latin typeface="Courier"/>
              </a:rPr>
              <a:t>{:theta}</a:t>
            </a:r>
            <a:r>
              <a:rPr sz="2000" dirty="0">
                <a:latin typeface="Courier"/>
              </a:rPr>
              <a:t>(</a:t>
            </a:r>
            <a:r>
              <a:rPr sz="2000" dirty="0" err="1">
                <a:latin typeface="Courier"/>
              </a:rPr>
              <a:t>θs</a:t>
            </a:r>
            <a:r>
              <a:rPr sz="2000" dirty="0">
                <a:latin typeface="Courier"/>
              </a:rPr>
              <a:t>))</a:t>
            </a:r>
          </a:p>
        </p:txBody>
      </p:sp>
      <p:sp>
        <p:nvSpPr>
          <p:cNvPr id="2" name="Title 1">
            <a:extLst>
              <a:ext uri="{FF2B5EF4-FFF2-40B4-BE49-F238E27FC236}">
                <a16:creationId xmlns:a16="http://schemas.microsoft.com/office/drawing/2014/main" id="{5D49730D-758B-9E1C-2EFE-E962147AA1A0}"/>
              </a:ext>
            </a:extLst>
          </p:cNvPr>
          <p:cNvSpPr>
            <a:spLocks noGrp="1"/>
          </p:cNvSpPr>
          <p:nvPr>
            <p:ph type="title"/>
          </p:nvPr>
        </p:nvSpPr>
        <p:spPr>
          <a:xfrm>
            <a:off x="457200" y="205979"/>
            <a:ext cx="8229600" cy="857250"/>
          </a:xfrm>
        </p:spPr>
        <p:txBody>
          <a:bodyPr>
            <a:normAutofit/>
          </a:bodyPr>
          <a:lstStyle/>
          <a:p>
            <a:pPr marL="0" lvl="0" indent="0">
              <a:buNone/>
            </a:pPr>
            <a:r>
              <a:rPr lang="en-US" dirty="0"/>
              <a:t>The effect of path randomness – theta</a:t>
            </a:r>
            <a:endParaRPr dirty="0"/>
          </a:p>
        </p:txBody>
      </p:sp>
    </p:spTree>
    <p:extLst>
      <p:ext uri="{BB962C8B-B14F-4D97-AF65-F5344CB8AC3E}">
        <p14:creationId xmlns:p14="http://schemas.microsoft.com/office/powerpoint/2010/main" val="37511196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97221A-CA43-C962-0B9C-C990B48B248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9BC6A85-2B47-FF71-606F-0154F53C0370}"/>
              </a:ext>
            </a:extLst>
          </p:cNvPr>
          <p:cNvSpPr>
            <a:spLocks noGrp="1"/>
          </p:cNvSpPr>
          <p:nvPr>
            <p:ph idx="1"/>
          </p:nvPr>
        </p:nvSpPr>
        <p:spPr/>
        <p:txBody>
          <a:bodyPr>
            <a:noAutofit/>
          </a:bodyPr>
          <a:lstStyle/>
          <a:p>
            <a:pPr marL="0" lvl="0" indent="0">
              <a:buNone/>
            </a:pPr>
            <a:r>
              <a:rPr lang="nb-NO" sz="2000" dirty="0"/>
              <a:t>Plot:</a:t>
            </a:r>
          </a:p>
          <a:p>
            <a:pPr marL="0" lvl="0" indent="0">
              <a:buNone/>
            </a:pPr>
            <a:r>
              <a:rPr lang="nb-NO" sz="2000" dirty="0">
                <a:latin typeface="Courier"/>
              </a:rPr>
              <a:t>	</a:t>
            </a:r>
            <a:r>
              <a:rPr lang="nb-NO" sz="2000" dirty="0" err="1">
                <a:latin typeface="Courier"/>
              </a:rPr>
              <a:t>Rasters.</a:t>
            </a:r>
            <a:r>
              <a:rPr lang="nb-NO" sz="2000" dirty="0" err="1">
                <a:solidFill>
                  <a:srgbClr val="06287E"/>
                </a:solidFill>
                <a:latin typeface="Courier"/>
              </a:rPr>
              <a:t>rplot</a:t>
            </a:r>
            <a:r>
              <a:rPr lang="nb-NO" sz="2000" dirty="0">
                <a:latin typeface="Courier"/>
              </a:rPr>
              <a:t>(</a:t>
            </a:r>
            <a:r>
              <a:rPr lang="nb-NO" sz="2000" dirty="0" err="1">
                <a:latin typeface="Courier"/>
              </a:rPr>
              <a:t>betw</a:t>
            </a:r>
            <a:r>
              <a:rPr lang="nb-NO" sz="2000" dirty="0">
                <a:latin typeface="Courier"/>
              </a:rPr>
              <a:t>[</a:t>
            </a:r>
            <a:r>
              <a:rPr lang="nb-NO" sz="2000" dirty="0">
                <a:solidFill>
                  <a:srgbClr val="06287E"/>
                </a:solidFill>
                <a:latin typeface="Courier"/>
              </a:rPr>
              <a:t>Y</a:t>
            </a:r>
            <a:r>
              <a:rPr lang="nb-NO" sz="2000" dirty="0">
                <a:latin typeface="Courier"/>
              </a:rPr>
              <a:t>(</a:t>
            </a:r>
            <a:r>
              <a:rPr lang="nb-NO" sz="2000" dirty="0">
                <a:solidFill>
                  <a:srgbClr val="40A070"/>
                </a:solidFill>
                <a:latin typeface="Courier"/>
              </a:rPr>
              <a:t>6.90e6</a:t>
            </a:r>
            <a:r>
              <a:rPr lang="nb-NO" sz="2000" dirty="0">
                <a:latin typeface="Courier"/>
              </a:rPr>
              <a:t> </a:t>
            </a:r>
            <a:r>
              <a:rPr lang="nb-NO" sz="2000" dirty="0">
                <a:solidFill>
                  <a:srgbClr val="666666"/>
                </a:solidFill>
                <a:latin typeface="Courier"/>
              </a:rPr>
              <a:t>..</a:t>
            </a:r>
            <a:r>
              <a:rPr lang="nb-NO" sz="2000" dirty="0">
                <a:latin typeface="Courier"/>
              </a:rPr>
              <a:t> </a:t>
            </a:r>
            <a:r>
              <a:rPr lang="nb-NO" sz="2000" dirty="0">
                <a:solidFill>
                  <a:srgbClr val="40A070"/>
                </a:solidFill>
                <a:latin typeface="Courier"/>
              </a:rPr>
              <a:t>6.94e6</a:t>
            </a:r>
            <a:r>
              <a:rPr lang="nb-NO" sz="2000" dirty="0">
                <a:latin typeface="Courier"/>
              </a:rPr>
              <a:t>), </a:t>
            </a:r>
            <a:r>
              <a:rPr lang="nb-NO" sz="2000" dirty="0" err="1">
                <a:solidFill>
                  <a:srgbClr val="06287E"/>
                </a:solidFill>
                <a:latin typeface="Courier"/>
              </a:rPr>
              <a:t>X</a:t>
            </a:r>
            <a:r>
              <a:rPr lang="nb-NO" sz="2000" dirty="0">
                <a:latin typeface="Courier"/>
              </a:rPr>
              <a:t>(</a:t>
            </a:r>
            <a:r>
              <a:rPr lang="nb-NO" sz="2000" dirty="0">
                <a:solidFill>
                  <a:srgbClr val="40A070"/>
                </a:solidFill>
                <a:latin typeface="Courier"/>
              </a:rPr>
              <a:t>175000</a:t>
            </a:r>
            <a:r>
              <a:rPr lang="nb-NO" sz="2000" dirty="0">
                <a:latin typeface="Courier"/>
              </a:rPr>
              <a:t> 			</a:t>
            </a:r>
            <a:r>
              <a:rPr lang="nb-NO" sz="2000" dirty="0">
                <a:solidFill>
                  <a:srgbClr val="666666"/>
                </a:solidFill>
                <a:latin typeface="Courier"/>
              </a:rPr>
              <a:t>..</a:t>
            </a:r>
            <a:r>
              <a:rPr lang="nb-NO" sz="2000" dirty="0">
                <a:latin typeface="Courier"/>
              </a:rPr>
              <a:t> </a:t>
            </a:r>
            <a:r>
              <a:rPr lang="nb-NO" sz="2000" dirty="0">
                <a:solidFill>
                  <a:srgbClr val="40A070"/>
                </a:solidFill>
                <a:latin typeface="Courier"/>
              </a:rPr>
              <a:t>220000</a:t>
            </a:r>
            <a:r>
              <a:rPr lang="nb-NO" sz="2000" dirty="0">
                <a:latin typeface="Courier"/>
              </a:rPr>
              <a:t>)], </a:t>
            </a:r>
            <a:r>
              <a:rPr lang="nb-NO" sz="2000" dirty="0" err="1">
                <a:latin typeface="Courier"/>
              </a:rPr>
              <a:t>colormap</a:t>
            </a:r>
            <a:r>
              <a:rPr lang="nb-NO" sz="2000" dirty="0">
                <a:solidFill>
                  <a:srgbClr val="666666"/>
                </a:solidFill>
                <a:latin typeface="Courier"/>
              </a:rPr>
              <a:t>=</a:t>
            </a:r>
            <a:r>
              <a:rPr lang="nb-NO" sz="2000" dirty="0" err="1">
                <a:solidFill>
                  <a:srgbClr val="06287E"/>
                </a:solidFill>
                <a:latin typeface="Courier"/>
              </a:rPr>
              <a:t>cgrad</a:t>
            </a:r>
            <a:r>
              <a:rPr lang="nb-NO" sz="2000" dirty="0">
                <a:latin typeface="Courier"/>
              </a:rPr>
              <a:t>(</a:t>
            </a:r>
            <a:r>
              <a:rPr lang="nb-NO" sz="2000" dirty="0">
                <a:solidFill>
                  <a:srgbClr val="666666"/>
                </a:solidFill>
                <a:latin typeface="Courier"/>
              </a:rPr>
              <a:t>:</a:t>
            </a:r>
            <a:r>
              <a:rPr lang="nb-NO" sz="2000" dirty="0">
                <a:latin typeface="Courier"/>
              </a:rPr>
              <a:t>magma), </a:t>
            </a:r>
            <a:r>
              <a:rPr lang="nb-NO" sz="2000" dirty="0" err="1">
                <a:latin typeface="Courier"/>
              </a:rPr>
              <a:t>width</a:t>
            </a:r>
            <a:r>
              <a:rPr lang="nb-NO" sz="2000" dirty="0">
                <a:solidFill>
                  <a:srgbClr val="666666"/>
                </a:solidFill>
                <a:latin typeface="Courier"/>
              </a:rPr>
              <a:t>=</a:t>
            </a:r>
            <a:r>
              <a:rPr lang="nb-NO" sz="2000" dirty="0">
                <a:solidFill>
                  <a:srgbClr val="40A070"/>
                </a:solidFill>
                <a:latin typeface="Courier"/>
              </a:rPr>
              <a:t>1500</a:t>
            </a:r>
            <a:r>
              <a:rPr lang="nb-NO" sz="2000" dirty="0">
                <a:latin typeface="Courier"/>
              </a:rPr>
              <a:t>, 		</a:t>
            </a:r>
            <a:r>
              <a:rPr lang="nb-NO" sz="2000" dirty="0" err="1">
                <a:latin typeface="Courier"/>
              </a:rPr>
              <a:t>height</a:t>
            </a:r>
            <a:r>
              <a:rPr lang="nb-NO" sz="2000" dirty="0">
                <a:solidFill>
                  <a:srgbClr val="666666"/>
                </a:solidFill>
                <a:latin typeface="Courier"/>
              </a:rPr>
              <a:t>=</a:t>
            </a:r>
            <a:r>
              <a:rPr lang="nb-NO" sz="2000" dirty="0">
                <a:solidFill>
                  <a:srgbClr val="40A070"/>
                </a:solidFill>
                <a:latin typeface="Courier"/>
              </a:rPr>
              <a:t>500</a:t>
            </a:r>
            <a:r>
              <a:rPr lang="nb-NO" sz="2000" dirty="0">
                <a:latin typeface="Courier"/>
              </a:rPr>
              <a:t>)</a:t>
            </a:r>
          </a:p>
          <a:p>
            <a:pPr marL="0" lvl="0" indent="0">
              <a:buNone/>
            </a:pPr>
            <a:endParaRPr sz="2000" dirty="0">
              <a:latin typeface="Courier"/>
            </a:endParaRPr>
          </a:p>
        </p:txBody>
      </p:sp>
      <p:sp>
        <p:nvSpPr>
          <p:cNvPr id="2" name="Title 1">
            <a:extLst>
              <a:ext uri="{FF2B5EF4-FFF2-40B4-BE49-F238E27FC236}">
                <a16:creationId xmlns:a16="http://schemas.microsoft.com/office/drawing/2014/main" id="{9D4F93E6-67E5-BF43-1EFA-9C0942A9F5C2}"/>
              </a:ext>
            </a:extLst>
          </p:cNvPr>
          <p:cNvSpPr>
            <a:spLocks noGrp="1"/>
          </p:cNvSpPr>
          <p:nvPr>
            <p:ph type="title"/>
          </p:nvPr>
        </p:nvSpPr>
        <p:spPr>
          <a:xfrm>
            <a:off x="457200" y="205979"/>
            <a:ext cx="8229600" cy="857250"/>
          </a:xfrm>
        </p:spPr>
        <p:txBody>
          <a:bodyPr>
            <a:normAutofit/>
          </a:bodyPr>
          <a:lstStyle/>
          <a:p>
            <a:pPr marL="0" lvl="0" indent="0">
              <a:buNone/>
            </a:pPr>
            <a:r>
              <a:rPr lang="en-US" dirty="0"/>
              <a:t>The effect of path randomness – theta</a:t>
            </a:r>
            <a:endParaRPr dirty="0"/>
          </a:p>
        </p:txBody>
      </p:sp>
    </p:spTree>
    <p:extLst>
      <p:ext uri="{BB962C8B-B14F-4D97-AF65-F5344CB8AC3E}">
        <p14:creationId xmlns:p14="http://schemas.microsoft.com/office/powerpoint/2010/main" val="14650280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DB025-D8C7-3997-158F-75B6C34599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1D6079-7729-3401-3A64-FA967FDDFD62}"/>
              </a:ext>
            </a:extLst>
          </p:cNvPr>
          <p:cNvSpPr>
            <a:spLocks noGrp="1"/>
          </p:cNvSpPr>
          <p:nvPr>
            <p:ph type="title"/>
          </p:nvPr>
        </p:nvSpPr>
        <p:spPr>
          <a:xfrm>
            <a:off x="457200" y="205979"/>
            <a:ext cx="8229600" cy="857250"/>
          </a:xfrm>
        </p:spPr>
        <p:txBody>
          <a:bodyPr>
            <a:normAutofit/>
          </a:bodyPr>
          <a:lstStyle/>
          <a:p>
            <a:pPr marL="0" lvl="0" indent="0">
              <a:buNone/>
            </a:pPr>
            <a:r>
              <a:rPr lang="en-US" dirty="0"/>
              <a:t>The effect of path randomness – theta</a:t>
            </a:r>
            <a:endParaRPr dirty="0"/>
          </a:p>
        </p:txBody>
      </p:sp>
      <p:sp>
        <p:nvSpPr>
          <p:cNvPr id="5" name="Content Placeholder 4">
            <a:extLst>
              <a:ext uri="{FF2B5EF4-FFF2-40B4-BE49-F238E27FC236}">
                <a16:creationId xmlns:a16="http://schemas.microsoft.com/office/drawing/2014/main" id="{F7DB3D84-15D8-EDC4-341E-59032923E020}"/>
              </a:ext>
            </a:extLst>
          </p:cNvPr>
          <p:cNvSpPr>
            <a:spLocks noGrp="1"/>
          </p:cNvSpPr>
          <p:nvPr>
            <p:ph idx="1"/>
          </p:nvPr>
        </p:nvSpPr>
        <p:spPr/>
        <p:txBody>
          <a:bodyPr/>
          <a:lstStyle/>
          <a:p>
            <a:endParaRPr lang="nb-NO" dirty="0"/>
          </a:p>
        </p:txBody>
      </p:sp>
      <p:pic>
        <p:nvPicPr>
          <p:cNvPr id="6" name="Picture 5" descr="presentation_ppt_files/figure-pptx/cell-9-output-1.png">
            <a:extLst>
              <a:ext uri="{FF2B5EF4-FFF2-40B4-BE49-F238E27FC236}">
                <a16:creationId xmlns:a16="http://schemas.microsoft.com/office/drawing/2014/main" id="{E786705F-480E-59B0-89E8-3283D179FEF9}"/>
              </a:ext>
            </a:extLst>
          </p:cNvPr>
          <p:cNvPicPr>
            <a:picLocks noGrp="1" noChangeAspect="1"/>
          </p:cNvPicPr>
          <p:nvPr/>
        </p:nvPicPr>
        <p:blipFill>
          <a:blip r:embed="rId2"/>
          <a:srcRect l="10309" b="10806"/>
          <a:stretch/>
        </p:blipFill>
        <p:spPr bwMode="auto">
          <a:xfrm>
            <a:off x="60133" y="271296"/>
            <a:ext cx="9043349" cy="4496650"/>
          </a:xfrm>
          <a:prstGeom prst="rect">
            <a:avLst/>
          </a:prstGeom>
          <a:noFill/>
          <a:ln w="9525">
            <a:noFill/>
            <a:headEnd/>
            <a:tailEnd/>
          </a:ln>
        </p:spPr>
      </p:pic>
    </p:spTree>
    <p:extLst>
      <p:ext uri="{BB962C8B-B14F-4D97-AF65-F5344CB8AC3E}">
        <p14:creationId xmlns:p14="http://schemas.microsoft.com/office/powerpoint/2010/main" val="16451299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D4D833-57F0-A8B5-93F5-AD133860FA1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B570A2-755B-5D66-5699-A17BB7920138}"/>
              </a:ext>
            </a:extLst>
          </p:cNvPr>
          <p:cNvSpPr>
            <a:spLocks noGrp="1"/>
          </p:cNvSpPr>
          <p:nvPr>
            <p:ph idx="1"/>
          </p:nvPr>
        </p:nvSpPr>
        <p:spPr/>
        <p:txBody>
          <a:bodyPr>
            <a:noAutofit/>
          </a:bodyPr>
          <a:lstStyle/>
          <a:p>
            <a:pPr marL="0" lvl="0" indent="0">
              <a:buNone/>
            </a:pPr>
            <a:r>
              <a:rPr lang="en-US" sz="2000" dirty="0"/>
              <a:t>We setup a </a:t>
            </a:r>
            <a:r>
              <a:rPr lang="en-US" sz="2000" i="1" dirty="0"/>
              <a:t>problem</a:t>
            </a:r>
            <a:r>
              <a:rPr lang="en-US" sz="2000" dirty="0"/>
              <a:t> and </a:t>
            </a:r>
            <a:r>
              <a:rPr lang="en-US" sz="2000" i="1" dirty="0"/>
              <a:t>initialize</a:t>
            </a:r>
            <a:r>
              <a:rPr lang="en-US" sz="2000" dirty="0"/>
              <a:t> it to look at the effect of the distance decay:</a:t>
            </a:r>
          </a:p>
          <a:p>
            <a:pPr lvl="0" indent="0">
              <a:buNone/>
            </a:pPr>
            <a:r>
              <a:rPr lang="en-US" sz="2000" dirty="0">
                <a:latin typeface="Courier"/>
              </a:rPr>
              <a:t>θ </a:t>
            </a:r>
            <a:r>
              <a:rPr lang="en-US" sz="2000" dirty="0">
                <a:solidFill>
                  <a:srgbClr val="666666"/>
                </a:solidFill>
                <a:latin typeface="Courier"/>
              </a:rPr>
              <a:t>=</a:t>
            </a:r>
            <a:r>
              <a:rPr lang="en-US" sz="2000" dirty="0">
                <a:latin typeface="Courier"/>
              </a:rPr>
              <a:t> </a:t>
            </a:r>
            <a:r>
              <a:rPr lang="en-US" sz="2000" dirty="0">
                <a:solidFill>
                  <a:srgbClr val="40A070"/>
                </a:solidFill>
                <a:latin typeface="Courier"/>
              </a:rPr>
              <a:t>0.1</a:t>
            </a:r>
            <a:br>
              <a:rPr lang="en-US" sz="2000" dirty="0"/>
            </a:br>
            <a:r>
              <a:rPr lang="en-US" sz="2000" dirty="0" err="1">
                <a:latin typeface="Courier"/>
              </a:rPr>
              <a:t>graph_measures</a:t>
            </a:r>
            <a:r>
              <a:rPr lang="en-US" sz="2000" dirty="0">
                <a:latin typeface="Courier"/>
              </a:rPr>
              <a:t> </a:t>
            </a:r>
            <a:r>
              <a:rPr lang="en-US" sz="2000" dirty="0">
                <a:solidFill>
                  <a:srgbClr val="666666"/>
                </a:solidFill>
                <a:latin typeface="Courier"/>
              </a:rPr>
              <a:t>=</a:t>
            </a:r>
            <a:r>
              <a:rPr lang="en-US" sz="2000" dirty="0">
                <a:latin typeface="Courier"/>
              </a:rPr>
              <a:t> (; 	</a:t>
            </a:r>
            <a:r>
              <a:rPr lang="en-US" sz="2000" dirty="0" err="1">
                <a:latin typeface="Courier"/>
              </a:rPr>
              <a:t>betq</a:t>
            </a:r>
            <a:r>
              <a:rPr lang="en-US" sz="2000" dirty="0">
                <a:solidFill>
                  <a:srgbClr val="666666"/>
                </a:solidFill>
                <a:latin typeface="Courier"/>
              </a:rPr>
              <a:t>=</a:t>
            </a:r>
            <a:r>
              <a:rPr lang="en-US" sz="2000" dirty="0" err="1">
                <a:latin typeface="Courier"/>
              </a:rPr>
              <a:t>ConScape.</a:t>
            </a:r>
            <a:r>
              <a:rPr lang="en-US" sz="2000" dirty="0" err="1">
                <a:solidFill>
                  <a:srgbClr val="06287E"/>
                </a:solidFill>
                <a:latin typeface="Courier"/>
              </a:rPr>
              <a:t>BetweennessQweighted</a:t>
            </a:r>
            <a:r>
              <a:rPr lang="en-US" sz="2000" dirty="0">
                <a:latin typeface="Courier"/>
              </a:rPr>
              <a:t>())</a:t>
            </a:r>
            <a:br>
              <a:rPr lang="en-US" sz="2000" dirty="0"/>
            </a:br>
            <a:r>
              <a:rPr lang="en-US" sz="2000" dirty="0" err="1">
                <a:latin typeface="Courier"/>
              </a:rPr>
              <a:t>distance_transformation</a:t>
            </a:r>
            <a:r>
              <a:rPr lang="en-US" sz="2000" dirty="0">
                <a:latin typeface="Courier"/>
              </a:rPr>
              <a:t> </a:t>
            </a:r>
            <a:r>
              <a:rPr lang="en-US" sz="2000" dirty="0">
                <a:solidFill>
                  <a:srgbClr val="666666"/>
                </a:solidFill>
                <a:latin typeface="Courier"/>
              </a:rPr>
              <a:t>=</a:t>
            </a:r>
            <a:r>
              <a:rPr lang="en-US" sz="2000" dirty="0">
                <a:latin typeface="Courier"/>
              </a:rPr>
              <a:t> </a:t>
            </a:r>
            <a:r>
              <a:rPr lang="en-US" sz="2000" dirty="0">
                <a:solidFill>
                  <a:srgbClr val="880000"/>
                </a:solidFill>
                <a:latin typeface="Courier"/>
              </a:rPr>
              <a:t>nothing</a:t>
            </a:r>
            <a:br>
              <a:rPr lang="en-US" sz="2000" dirty="0"/>
            </a:br>
            <a:r>
              <a:rPr lang="en-US" sz="2000" dirty="0" err="1">
                <a:latin typeface="Courier"/>
              </a:rPr>
              <a:t>connectivity_measure</a:t>
            </a:r>
            <a:r>
              <a:rPr lang="en-US" sz="2000" dirty="0">
                <a:latin typeface="Courier"/>
              </a:rPr>
              <a:t> </a:t>
            </a:r>
            <a:r>
              <a:rPr lang="en-US" sz="2000" dirty="0">
                <a:solidFill>
                  <a:srgbClr val="666666"/>
                </a:solidFill>
                <a:latin typeface="Courier"/>
              </a:rPr>
              <a:t>=</a:t>
            </a:r>
            <a:r>
              <a:rPr lang="en-US" sz="2000" dirty="0">
                <a:latin typeface="Courier"/>
              </a:rPr>
              <a:t> </a:t>
            </a:r>
            <a:r>
              <a:rPr lang="en-US" sz="2000" dirty="0" err="1">
                <a:latin typeface="Courier"/>
              </a:rPr>
              <a:t>ConScape.</a:t>
            </a:r>
            <a:r>
              <a:rPr lang="en-US" sz="2000" dirty="0" err="1">
                <a:solidFill>
                  <a:srgbClr val="06287E"/>
                </a:solidFill>
                <a:latin typeface="Courier"/>
              </a:rPr>
              <a:t>ExpectedCost</a:t>
            </a:r>
            <a:r>
              <a:rPr lang="en-US" sz="2000" dirty="0">
                <a:latin typeface="Courier"/>
              </a:rPr>
              <a:t>(; θ, 	</a:t>
            </a:r>
            <a:r>
              <a:rPr lang="en-US" sz="2000" dirty="0" err="1">
                <a:latin typeface="Courier"/>
              </a:rPr>
              <a:t>distance_transformation</a:t>
            </a:r>
            <a:r>
              <a:rPr lang="en-US" sz="2000" dirty="0">
                <a:latin typeface="Courier"/>
              </a:rPr>
              <a:t>)</a:t>
            </a:r>
            <a:br>
              <a:rPr lang="en-US" sz="2000" dirty="0"/>
            </a:br>
            <a:r>
              <a:rPr lang="en-US" sz="2000" dirty="0">
                <a:latin typeface="Courier"/>
              </a:rPr>
              <a:t>problem </a:t>
            </a:r>
            <a:r>
              <a:rPr lang="en-US" sz="2000" dirty="0">
                <a:solidFill>
                  <a:srgbClr val="666666"/>
                </a:solidFill>
                <a:latin typeface="Courier"/>
              </a:rPr>
              <a:t>=</a:t>
            </a:r>
            <a:r>
              <a:rPr lang="en-US" sz="2000" dirty="0">
                <a:latin typeface="Courier"/>
              </a:rPr>
              <a:t> </a:t>
            </a:r>
            <a:r>
              <a:rPr lang="en-US" sz="2000" dirty="0" err="1">
                <a:latin typeface="Courier"/>
              </a:rPr>
              <a:t>ConScape.</a:t>
            </a:r>
            <a:r>
              <a:rPr lang="en-US" sz="2000" dirty="0" err="1">
                <a:solidFill>
                  <a:srgbClr val="06287E"/>
                </a:solidFill>
                <a:latin typeface="Courier"/>
              </a:rPr>
              <a:t>Problem</a:t>
            </a:r>
            <a:r>
              <a:rPr lang="en-US" sz="2000" dirty="0">
                <a:latin typeface="Courier"/>
              </a:rPr>
              <a:t>(;</a:t>
            </a:r>
            <a:r>
              <a:rPr lang="en-US" sz="2000" dirty="0" err="1">
                <a:latin typeface="Courier"/>
              </a:rPr>
              <a:t>graph_measures</a:t>
            </a:r>
            <a:r>
              <a:rPr lang="en-US" sz="2000" dirty="0">
                <a:latin typeface="Courier"/>
              </a:rPr>
              <a:t>, 	</a:t>
            </a:r>
            <a:r>
              <a:rPr lang="en-US" sz="2000" dirty="0" err="1">
                <a:latin typeface="Courier"/>
              </a:rPr>
              <a:t>connectivity_measure</a:t>
            </a:r>
            <a:r>
              <a:rPr lang="en-US" sz="2000" dirty="0">
                <a:latin typeface="Courier"/>
              </a:rPr>
              <a:t>, solver)</a:t>
            </a:r>
            <a:br>
              <a:rPr lang="en-US" sz="2000" dirty="0"/>
            </a:br>
            <a:r>
              <a:rPr lang="en-US" sz="2000" dirty="0">
                <a:latin typeface="Courier"/>
              </a:rPr>
              <a:t>workspace </a:t>
            </a:r>
            <a:r>
              <a:rPr lang="en-US" sz="2000" dirty="0">
                <a:solidFill>
                  <a:srgbClr val="666666"/>
                </a:solidFill>
                <a:latin typeface="Courier"/>
              </a:rPr>
              <a:t>=</a:t>
            </a:r>
            <a:r>
              <a:rPr lang="en-US" sz="2000" dirty="0">
                <a:latin typeface="Courier"/>
              </a:rPr>
              <a:t> </a:t>
            </a:r>
            <a:r>
              <a:rPr lang="en-US" sz="2000" dirty="0" err="1">
                <a:solidFill>
                  <a:srgbClr val="06287E"/>
                </a:solidFill>
                <a:latin typeface="Courier"/>
              </a:rPr>
              <a:t>init</a:t>
            </a:r>
            <a:r>
              <a:rPr lang="en-US" sz="2000" dirty="0">
                <a:latin typeface="Courier"/>
              </a:rPr>
              <a:t>(problem, </a:t>
            </a:r>
            <a:r>
              <a:rPr lang="en-US" sz="2000" dirty="0" err="1">
                <a:latin typeface="Courier"/>
              </a:rPr>
              <a:t>rast</a:t>
            </a:r>
            <a:r>
              <a:rPr lang="en-US" sz="2000" dirty="0">
                <a:latin typeface="Courier"/>
              </a:rPr>
              <a:t>);</a:t>
            </a:r>
          </a:p>
        </p:txBody>
      </p:sp>
      <p:sp>
        <p:nvSpPr>
          <p:cNvPr id="2" name="Title 1">
            <a:extLst>
              <a:ext uri="{FF2B5EF4-FFF2-40B4-BE49-F238E27FC236}">
                <a16:creationId xmlns:a16="http://schemas.microsoft.com/office/drawing/2014/main" id="{736F4D7B-9F05-273D-11C0-AD28F5BAF3EA}"/>
              </a:ext>
            </a:extLst>
          </p:cNvPr>
          <p:cNvSpPr>
            <a:spLocks noGrp="1"/>
          </p:cNvSpPr>
          <p:nvPr>
            <p:ph type="title"/>
          </p:nvPr>
        </p:nvSpPr>
        <p:spPr>
          <a:xfrm>
            <a:off x="457200" y="205979"/>
            <a:ext cx="8229600" cy="857250"/>
          </a:xfrm>
        </p:spPr>
        <p:txBody>
          <a:bodyPr>
            <a:normAutofit/>
          </a:bodyPr>
          <a:lstStyle/>
          <a:p>
            <a:pPr marL="0" lvl="0" indent="0">
              <a:buNone/>
            </a:pPr>
            <a:r>
              <a:rPr lang="en-US" dirty="0"/>
              <a:t>The effect of distance decay – alpha</a:t>
            </a:r>
            <a:endParaRPr dirty="0"/>
          </a:p>
        </p:txBody>
      </p:sp>
    </p:spTree>
    <p:extLst>
      <p:ext uri="{BB962C8B-B14F-4D97-AF65-F5344CB8AC3E}">
        <p14:creationId xmlns:p14="http://schemas.microsoft.com/office/powerpoint/2010/main" val="19446735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6DF2D-8B68-967E-0BA3-3B6302CD519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4D4433D-4B8C-82C5-5B4A-BBD91A2D9F43}"/>
              </a:ext>
            </a:extLst>
          </p:cNvPr>
          <p:cNvSpPr>
            <a:spLocks noGrp="1"/>
          </p:cNvSpPr>
          <p:nvPr>
            <p:ph idx="1"/>
          </p:nvPr>
        </p:nvSpPr>
        <p:spPr/>
        <p:txBody>
          <a:bodyPr>
            <a:noAutofit/>
          </a:bodyPr>
          <a:lstStyle/>
          <a:p>
            <a:pPr marL="0" lvl="0" indent="0">
              <a:buNone/>
            </a:pPr>
            <a:r>
              <a:rPr lang="en-US" sz="2000" dirty="0"/>
              <a:t>The distance towards a target pixel:</a:t>
            </a:r>
          </a:p>
          <a:p>
            <a:pPr lvl="0" indent="0">
              <a:buNone/>
            </a:pPr>
            <a:r>
              <a:rPr lang="en-US" sz="2000" dirty="0" err="1">
                <a:latin typeface="Courier"/>
              </a:rPr>
              <a:t>dists</a:t>
            </a:r>
            <a:r>
              <a:rPr lang="en-US" sz="2000" dirty="0">
                <a:latin typeface="Courier"/>
              </a:rPr>
              <a:t> </a:t>
            </a:r>
            <a:r>
              <a:rPr lang="en-US" sz="2000" dirty="0">
                <a:solidFill>
                  <a:srgbClr val="666666"/>
                </a:solidFill>
                <a:latin typeface="Courier"/>
              </a:rPr>
              <a:t>= </a:t>
            </a:r>
            <a:r>
              <a:rPr lang="en-US" sz="2000" dirty="0" err="1">
                <a:latin typeface="Courier"/>
              </a:rPr>
              <a:t>ConScape.</a:t>
            </a:r>
            <a:r>
              <a:rPr lang="en-US" sz="2000" dirty="0" err="1">
                <a:solidFill>
                  <a:srgbClr val="06287E"/>
                </a:solidFill>
                <a:latin typeface="Courier"/>
              </a:rPr>
              <a:t>Raster</a:t>
            </a:r>
            <a:r>
              <a:rPr lang="en-US" sz="2000" dirty="0">
                <a:latin typeface="Courier"/>
              </a:rPr>
              <a:t>(</a:t>
            </a:r>
          </a:p>
          <a:p>
            <a:pPr lvl="0" indent="0">
              <a:buNone/>
            </a:pPr>
            <a:r>
              <a:rPr lang="en-US" sz="2000" dirty="0">
                <a:latin typeface="Courier"/>
              </a:rPr>
              <a:t>					</a:t>
            </a:r>
            <a:r>
              <a:rPr lang="en-US" sz="2000" dirty="0" err="1">
                <a:latin typeface="Courier"/>
              </a:rPr>
              <a:t>workspace.expected_costs</a:t>
            </a:r>
            <a:r>
              <a:rPr lang="en-US" sz="2000" dirty="0">
                <a:latin typeface="Courier"/>
              </a:rPr>
              <a:t>[</a:t>
            </a:r>
            <a:r>
              <a:rPr lang="en-US" sz="2000" dirty="0">
                <a:solidFill>
                  <a:srgbClr val="666666"/>
                </a:solidFill>
                <a:latin typeface="Courier"/>
              </a:rPr>
              <a:t>:</a:t>
            </a:r>
            <a:r>
              <a:rPr lang="en-US" sz="2000" dirty="0">
                <a:latin typeface="Courier"/>
              </a:rPr>
              <a:t>,</a:t>
            </a:r>
            <a:r>
              <a:rPr lang="en-US" sz="2000" dirty="0">
                <a:solidFill>
                  <a:srgbClr val="40A070"/>
                </a:solidFill>
                <a:latin typeface="Courier"/>
              </a:rPr>
              <a:t>1</a:t>
            </a:r>
            <a:r>
              <a:rPr lang="en-US" sz="2000" dirty="0">
                <a:latin typeface="Courier"/>
              </a:rPr>
              <a:t>], 																	</a:t>
            </a:r>
            <a:r>
              <a:rPr lang="en-US" sz="2000" dirty="0" err="1">
                <a:latin typeface="Courier"/>
              </a:rPr>
              <a:t>workspace.grid</a:t>
            </a:r>
            <a:r>
              <a:rPr lang="en-US" sz="2000" dirty="0">
                <a:latin typeface="Courier"/>
              </a:rPr>
              <a:t>)</a:t>
            </a:r>
            <a:br>
              <a:rPr lang="en-US" sz="2000" dirty="0"/>
            </a:br>
            <a:r>
              <a:rPr lang="en-US" sz="2000" dirty="0" err="1">
                <a:latin typeface="Courier"/>
              </a:rPr>
              <a:t>Makie.</a:t>
            </a:r>
            <a:r>
              <a:rPr lang="en-US" sz="2000" dirty="0" err="1">
                <a:solidFill>
                  <a:srgbClr val="06287E"/>
                </a:solidFill>
                <a:latin typeface="Courier"/>
              </a:rPr>
              <a:t>plot</a:t>
            </a:r>
            <a:r>
              <a:rPr lang="en-US" sz="2000" dirty="0">
                <a:latin typeface="Courier"/>
              </a:rPr>
              <a:t>(</a:t>
            </a:r>
            <a:r>
              <a:rPr lang="en-US" sz="2000" dirty="0" err="1">
                <a:latin typeface="Courier"/>
              </a:rPr>
              <a:t>dists</a:t>
            </a:r>
            <a:r>
              <a:rPr lang="en-US" sz="2000" dirty="0">
                <a:latin typeface="Courier"/>
              </a:rPr>
              <a:t>)</a:t>
            </a:r>
          </a:p>
        </p:txBody>
      </p:sp>
      <p:sp>
        <p:nvSpPr>
          <p:cNvPr id="2" name="Title 1">
            <a:extLst>
              <a:ext uri="{FF2B5EF4-FFF2-40B4-BE49-F238E27FC236}">
                <a16:creationId xmlns:a16="http://schemas.microsoft.com/office/drawing/2014/main" id="{F255208E-8A1A-E291-2702-1B95FEC1E0F1}"/>
              </a:ext>
            </a:extLst>
          </p:cNvPr>
          <p:cNvSpPr>
            <a:spLocks noGrp="1"/>
          </p:cNvSpPr>
          <p:nvPr>
            <p:ph type="title"/>
          </p:nvPr>
        </p:nvSpPr>
        <p:spPr>
          <a:xfrm>
            <a:off x="457200" y="205979"/>
            <a:ext cx="8229600" cy="857250"/>
          </a:xfrm>
        </p:spPr>
        <p:txBody>
          <a:bodyPr>
            <a:normAutofit/>
          </a:bodyPr>
          <a:lstStyle/>
          <a:p>
            <a:pPr marL="0" lvl="0" indent="0">
              <a:buNone/>
            </a:pPr>
            <a:r>
              <a:rPr lang="en-US" dirty="0"/>
              <a:t>The effect of distance decay – alpha</a:t>
            </a:r>
            <a:endParaRPr dirty="0"/>
          </a:p>
        </p:txBody>
      </p:sp>
    </p:spTree>
    <p:extLst>
      <p:ext uri="{BB962C8B-B14F-4D97-AF65-F5344CB8AC3E}">
        <p14:creationId xmlns:p14="http://schemas.microsoft.com/office/powerpoint/2010/main" val="9665998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928DF-50F7-C8E5-52C1-C8045DFE4EBA}"/>
            </a:ext>
          </a:extLst>
        </p:cNvPr>
        <p:cNvGrpSpPr/>
        <p:nvPr/>
      </p:nvGrpSpPr>
      <p:grpSpPr>
        <a:xfrm>
          <a:off x="0" y="0"/>
          <a:ext cx="0" cy="0"/>
          <a:chOff x="0" y="0"/>
          <a:chExt cx="0" cy="0"/>
        </a:xfrm>
      </p:grpSpPr>
      <p:pic>
        <p:nvPicPr>
          <p:cNvPr id="2" name="Picture 1" descr="presentation_ppt_files/figure-pptx/cell-11-output-1.png"/>
          <p:cNvPicPr>
            <a:picLocks noGrp="1" noChangeAspect="1"/>
          </p:cNvPicPr>
          <p:nvPr/>
        </p:nvPicPr>
        <p:blipFill>
          <a:blip r:embed="rId2"/>
          <a:stretch>
            <a:fillRect/>
          </a:stretch>
        </p:blipFill>
        <p:spPr bwMode="auto">
          <a:xfrm>
            <a:off x="1201573" y="684472"/>
            <a:ext cx="6363658" cy="4151319"/>
          </a:xfrm>
          <a:prstGeom prst="rect">
            <a:avLst/>
          </a:prstGeom>
          <a:noFill/>
          <a:ln w="9525">
            <a:noFill/>
            <a:headEnd/>
            <a:tailEnd/>
          </a:ln>
        </p:spPr>
      </p:pic>
    </p:spTree>
    <p:extLst>
      <p:ext uri="{BB962C8B-B14F-4D97-AF65-F5344CB8AC3E}">
        <p14:creationId xmlns:p14="http://schemas.microsoft.com/office/powerpoint/2010/main" val="18463511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6866D5-9C79-600A-2134-388485B069F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891035-EB0E-60FB-E852-E3671DA65A02}"/>
              </a:ext>
            </a:extLst>
          </p:cNvPr>
          <p:cNvSpPr>
            <a:spLocks noGrp="1"/>
          </p:cNvSpPr>
          <p:nvPr>
            <p:ph idx="1"/>
          </p:nvPr>
        </p:nvSpPr>
        <p:spPr/>
        <p:txBody>
          <a:bodyPr>
            <a:noAutofit/>
          </a:bodyPr>
          <a:lstStyle/>
          <a:p>
            <a:pPr marL="0" lvl="0" indent="0">
              <a:buNone/>
            </a:pPr>
            <a:r>
              <a:rPr lang="nb-NO" sz="2000" dirty="0" err="1"/>
              <a:t>We</a:t>
            </a:r>
            <a:r>
              <a:rPr lang="nb-NO" sz="2000" dirty="0"/>
              <a:t> loop over different </a:t>
            </a:r>
            <a:r>
              <a:rPr lang="nb-NO" sz="2000" dirty="0" err="1"/>
              <a:t>distance</a:t>
            </a:r>
            <a:r>
              <a:rPr lang="nb-NO" sz="2000" dirty="0"/>
              <a:t> </a:t>
            </a:r>
            <a:r>
              <a:rPr lang="nb-NO" sz="2000" dirty="0" err="1"/>
              <a:t>decay</a:t>
            </a:r>
            <a:r>
              <a:rPr lang="nb-NO" sz="2000" dirty="0"/>
              <a:t> </a:t>
            </a:r>
            <a:r>
              <a:rPr lang="nb-NO" sz="2000" dirty="0" err="1"/>
              <a:t>values</a:t>
            </a:r>
            <a:r>
              <a:rPr lang="nb-NO" sz="2000" dirty="0"/>
              <a:t> – </a:t>
            </a:r>
            <a:r>
              <a:rPr lang="nb-NO" sz="2000" dirty="0" err="1"/>
              <a:t>alpha</a:t>
            </a:r>
            <a:r>
              <a:rPr lang="nb-NO" sz="2000" dirty="0"/>
              <a:t>:</a:t>
            </a:r>
          </a:p>
          <a:p>
            <a:pPr lvl="0" indent="0">
              <a:buNone/>
            </a:pPr>
            <a:r>
              <a:rPr lang="el-GR" sz="2000" dirty="0">
                <a:latin typeface="Courier"/>
              </a:rPr>
              <a:t>α</a:t>
            </a:r>
            <a:r>
              <a:rPr lang="nb-NO" sz="2000" dirty="0">
                <a:latin typeface="Courier"/>
              </a:rPr>
              <a:t>s </a:t>
            </a:r>
            <a:r>
              <a:rPr lang="nb-NO" sz="2000" dirty="0">
                <a:solidFill>
                  <a:srgbClr val="666666"/>
                </a:solidFill>
                <a:latin typeface="Courier"/>
              </a:rPr>
              <a:t>=</a:t>
            </a:r>
            <a:r>
              <a:rPr lang="nb-NO" sz="2000" dirty="0">
                <a:latin typeface="Courier"/>
              </a:rPr>
              <a:t> </a:t>
            </a:r>
            <a:r>
              <a:rPr lang="nb-NO" sz="2000" dirty="0">
                <a:solidFill>
                  <a:srgbClr val="40A070"/>
                </a:solidFill>
                <a:latin typeface="Courier"/>
              </a:rPr>
              <a:t>1</a:t>
            </a:r>
            <a:r>
              <a:rPr lang="nb-NO" sz="2000" dirty="0">
                <a:latin typeface="Courier"/>
              </a:rPr>
              <a:t> </a:t>
            </a:r>
            <a:r>
              <a:rPr lang="nb-NO" sz="2000" dirty="0">
                <a:solidFill>
                  <a:srgbClr val="666666"/>
                </a:solidFill>
                <a:latin typeface="Courier"/>
              </a:rPr>
              <a:t>./</a:t>
            </a:r>
            <a:r>
              <a:rPr lang="nb-NO" sz="2000" dirty="0">
                <a:latin typeface="Courier"/>
              </a:rPr>
              <a:t> [</a:t>
            </a:r>
            <a:r>
              <a:rPr lang="nb-NO" sz="2000" dirty="0">
                <a:solidFill>
                  <a:srgbClr val="40A070"/>
                </a:solidFill>
                <a:latin typeface="Courier"/>
              </a:rPr>
              <a:t>1</a:t>
            </a:r>
            <a:r>
              <a:rPr lang="nb-NO" sz="2000" dirty="0">
                <a:latin typeface="Courier"/>
              </a:rPr>
              <a:t>, </a:t>
            </a:r>
            <a:r>
              <a:rPr lang="nb-NO" sz="2000" dirty="0">
                <a:solidFill>
                  <a:srgbClr val="40A070"/>
                </a:solidFill>
                <a:latin typeface="Courier"/>
              </a:rPr>
              <a:t>100</a:t>
            </a:r>
            <a:r>
              <a:rPr lang="nb-NO" sz="2000" dirty="0">
                <a:latin typeface="Courier"/>
              </a:rPr>
              <a:t>, </a:t>
            </a:r>
            <a:r>
              <a:rPr lang="nb-NO" sz="2000" dirty="0">
                <a:solidFill>
                  <a:srgbClr val="40A070"/>
                </a:solidFill>
                <a:latin typeface="Courier"/>
              </a:rPr>
              <a:t>250</a:t>
            </a:r>
            <a:r>
              <a:rPr lang="nb-NO" sz="2000" dirty="0">
                <a:latin typeface="Courier"/>
              </a:rPr>
              <a:t>, </a:t>
            </a:r>
            <a:r>
              <a:rPr lang="nb-NO" sz="2000" dirty="0">
                <a:solidFill>
                  <a:srgbClr val="40A070"/>
                </a:solidFill>
                <a:latin typeface="Courier"/>
              </a:rPr>
              <a:t>500</a:t>
            </a:r>
            <a:r>
              <a:rPr lang="nb-NO" sz="2000" dirty="0">
                <a:latin typeface="Courier"/>
              </a:rPr>
              <a:t>]</a:t>
            </a:r>
            <a:br>
              <a:rPr lang="nb-NO" sz="2000" dirty="0"/>
            </a:br>
            <a:br>
              <a:rPr lang="nb-NO" sz="2000" dirty="0"/>
            </a:br>
            <a:r>
              <a:rPr lang="nb-NO" sz="2000" dirty="0" err="1">
                <a:latin typeface="Courier"/>
              </a:rPr>
              <a:t>proxs</a:t>
            </a:r>
            <a:r>
              <a:rPr lang="nb-NO" sz="2000" dirty="0">
                <a:latin typeface="Courier"/>
              </a:rPr>
              <a:t> </a:t>
            </a:r>
            <a:r>
              <a:rPr lang="nb-NO" sz="2000" dirty="0">
                <a:solidFill>
                  <a:srgbClr val="666666"/>
                </a:solidFill>
                <a:latin typeface="Courier"/>
              </a:rPr>
              <a:t>=</a:t>
            </a:r>
            <a:r>
              <a:rPr lang="nb-NO" sz="2000" dirty="0">
                <a:latin typeface="Courier"/>
              </a:rPr>
              <a:t> </a:t>
            </a:r>
            <a:r>
              <a:rPr lang="nb-NO" sz="2000" dirty="0" err="1">
                <a:solidFill>
                  <a:srgbClr val="06287E"/>
                </a:solidFill>
                <a:latin typeface="Courier"/>
              </a:rPr>
              <a:t>map</a:t>
            </a:r>
            <a:r>
              <a:rPr lang="nb-NO" sz="2000" dirty="0">
                <a:latin typeface="Courier"/>
              </a:rPr>
              <a:t>(</a:t>
            </a:r>
            <a:r>
              <a:rPr lang="el-GR" sz="2000" dirty="0">
                <a:latin typeface="Courier"/>
              </a:rPr>
              <a:t>α</a:t>
            </a:r>
            <a:r>
              <a:rPr lang="nb-NO" sz="2000" dirty="0">
                <a:latin typeface="Courier"/>
              </a:rPr>
              <a:t>s) </a:t>
            </a:r>
            <a:r>
              <a:rPr lang="nb-NO" sz="2000" b="1" dirty="0">
                <a:solidFill>
                  <a:srgbClr val="007020"/>
                </a:solidFill>
                <a:latin typeface="Courier"/>
              </a:rPr>
              <a:t>do</a:t>
            </a:r>
            <a:r>
              <a:rPr lang="nb-NO" sz="2000" dirty="0">
                <a:latin typeface="Courier"/>
              </a:rPr>
              <a:t> </a:t>
            </a:r>
            <a:r>
              <a:rPr lang="el-GR" sz="2000" dirty="0">
                <a:latin typeface="Courier"/>
              </a:rPr>
              <a:t>α</a:t>
            </a:r>
            <a:br>
              <a:rPr lang="el-GR" sz="2000" dirty="0"/>
            </a:br>
            <a:r>
              <a:rPr lang="el-GR" sz="2000" dirty="0">
                <a:latin typeface="Courier"/>
              </a:rPr>
              <a:t>    </a:t>
            </a:r>
            <a:r>
              <a:rPr lang="nb-NO" sz="2000" dirty="0" err="1">
                <a:latin typeface="Courier"/>
              </a:rPr>
              <a:t>ConScape.</a:t>
            </a:r>
            <a:r>
              <a:rPr lang="nb-NO" sz="2000" dirty="0" err="1">
                <a:solidFill>
                  <a:srgbClr val="06287E"/>
                </a:solidFill>
                <a:latin typeface="Courier"/>
              </a:rPr>
              <a:t>Raster</a:t>
            </a:r>
            <a:r>
              <a:rPr lang="nb-NO" sz="2000" dirty="0">
                <a:latin typeface="Courier"/>
              </a:rPr>
              <a:t>(</a:t>
            </a:r>
            <a:r>
              <a:rPr lang="nb-NO" sz="2000" dirty="0" err="1">
                <a:solidFill>
                  <a:srgbClr val="06287E"/>
                </a:solidFill>
                <a:latin typeface="Courier"/>
              </a:rPr>
              <a:t>map</a:t>
            </a:r>
            <a:r>
              <a:rPr lang="nb-NO" sz="2000" dirty="0">
                <a:latin typeface="Courier"/>
              </a:rPr>
              <a:t>(x </a:t>
            </a:r>
            <a:r>
              <a:rPr lang="nb-NO" sz="2000" dirty="0">
                <a:solidFill>
                  <a:srgbClr val="666666"/>
                </a:solidFill>
                <a:latin typeface="Courier"/>
              </a:rPr>
              <a:t>-&gt;</a:t>
            </a:r>
            <a:r>
              <a:rPr lang="nb-NO" sz="2000" dirty="0">
                <a:latin typeface="Courier"/>
              </a:rPr>
              <a:t> </a:t>
            </a:r>
            <a:r>
              <a:rPr lang="nb-NO" sz="2000" dirty="0" err="1">
                <a:solidFill>
                  <a:srgbClr val="06287E"/>
                </a:solidFill>
                <a:latin typeface="Courier"/>
              </a:rPr>
              <a:t>exp</a:t>
            </a:r>
            <a:r>
              <a:rPr lang="nb-NO" sz="2000" dirty="0">
                <a:latin typeface="Courier"/>
              </a:rPr>
              <a:t>(</a:t>
            </a:r>
            <a:r>
              <a:rPr lang="nb-NO" sz="2000" dirty="0">
                <a:solidFill>
                  <a:srgbClr val="666666"/>
                </a:solidFill>
                <a:latin typeface="Courier"/>
              </a:rPr>
              <a:t>-</a:t>
            </a:r>
            <a:r>
              <a:rPr lang="el-GR" sz="2000" dirty="0">
                <a:latin typeface="Courier"/>
              </a:rPr>
              <a:t>α</a:t>
            </a:r>
            <a:r>
              <a:rPr lang="el-GR" sz="2000" dirty="0">
                <a:solidFill>
                  <a:srgbClr val="666666"/>
                </a:solidFill>
                <a:latin typeface="Courier"/>
              </a:rPr>
              <a:t>*</a:t>
            </a:r>
            <a:r>
              <a:rPr lang="nb-NO" sz="2000" dirty="0">
                <a:latin typeface="Courier"/>
              </a:rPr>
              <a:t>x), </a:t>
            </a:r>
            <a:r>
              <a:rPr lang="nb-NO" sz="2000" dirty="0" err="1">
                <a:latin typeface="Courier"/>
              </a:rPr>
              <a:t>workspace.expected_costs</a:t>
            </a:r>
            <a:r>
              <a:rPr lang="nb-NO" sz="2000" dirty="0">
                <a:latin typeface="Courier"/>
              </a:rPr>
              <a:t>[</a:t>
            </a:r>
            <a:r>
              <a:rPr lang="nb-NO" sz="2000" dirty="0">
                <a:solidFill>
                  <a:srgbClr val="666666"/>
                </a:solidFill>
                <a:latin typeface="Courier"/>
              </a:rPr>
              <a:t>:</a:t>
            </a:r>
            <a:r>
              <a:rPr lang="nb-NO" sz="2000" dirty="0">
                <a:latin typeface="Courier"/>
              </a:rPr>
              <a:t>,</a:t>
            </a:r>
            <a:r>
              <a:rPr lang="nb-NO" sz="2000" dirty="0">
                <a:solidFill>
                  <a:srgbClr val="40A070"/>
                </a:solidFill>
                <a:latin typeface="Courier"/>
              </a:rPr>
              <a:t>1</a:t>
            </a:r>
            <a:r>
              <a:rPr lang="nb-NO" sz="2000" dirty="0">
                <a:latin typeface="Courier"/>
              </a:rPr>
              <a:t>]), </a:t>
            </a:r>
            <a:r>
              <a:rPr lang="nb-NO" sz="2000" dirty="0" err="1">
                <a:latin typeface="Courier"/>
              </a:rPr>
              <a:t>workspace.grid</a:t>
            </a:r>
            <a:r>
              <a:rPr lang="nb-NO" sz="2000" dirty="0">
                <a:latin typeface="Courier"/>
              </a:rPr>
              <a:t>)</a:t>
            </a:r>
            <a:br>
              <a:rPr lang="nb-NO" sz="2000" dirty="0"/>
            </a:br>
            <a:r>
              <a:rPr lang="nb-NO" sz="2000" b="1" dirty="0">
                <a:solidFill>
                  <a:srgbClr val="007020"/>
                </a:solidFill>
                <a:latin typeface="Courier"/>
              </a:rPr>
              <a:t>end</a:t>
            </a:r>
          </a:p>
          <a:p>
            <a:pPr lvl="0" indent="0">
              <a:buNone/>
            </a:pPr>
            <a:br>
              <a:rPr lang="nb-NO" sz="2000" dirty="0"/>
            </a:br>
            <a:r>
              <a:rPr lang="nb-NO" sz="2000" dirty="0" err="1">
                <a:latin typeface="Courier"/>
              </a:rPr>
              <a:t>proxs</a:t>
            </a:r>
            <a:r>
              <a:rPr lang="nb-NO" sz="2000" dirty="0">
                <a:latin typeface="Courier"/>
              </a:rPr>
              <a:t> </a:t>
            </a:r>
            <a:r>
              <a:rPr lang="nb-NO" sz="2000" dirty="0">
                <a:solidFill>
                  <a:srgbClr val="666666"/>
                </a:solidFill>
                <a:latin typeface="Courier"/>
              </a:rPr>
              <a:t>=</a:t>
            </a:r>
            <a:r>
              <a:rPr lang="nb-NO" sz="2000" dirty="0">
                <a:latin typeface="Courier"/>
              </a:rPr>
              <a:t> </a:t>
            </a:r>
            <a:r>
              <a:rPr lang="nb-NO" sz="2000" dirty="0" err="1">
                <a:solidFill>
                  <a:srgbClr val="06287E"/>
                </a:solidFill>
                <a:latin typeface="Courier"/>
              </a:rPr>
              <a:t>cat</a:t>
            </a:r>
            <a:r>
              <a:rPr lang="nb-NO" sz="2000" dirty="0">
                <a:latin typeface="Courier"/>
              </a:rPr>
              <a:t>(</a:t>
            </a:r>
            <a:r>
              <a:rPr lang="nb-NO" sz="2000" dirty="0" err="1">
                <a:latin typeface="Courier"/>
              </a:rPr>
              <a:t>proxs</a:t>
            </a:r>
            <a:r>
              <a:rPr lang="nb-NO" sz="2000" dirty="0">
                <a:solidFill>
                  <a:srgbClr val="666666"/>
                </a:solidFill>
                <a:latin typeface="Courier"/>
              </a:rPr>
              <a:t>...</a:t>
            </a:r>
            <a:r>
              <a:rPr lang="nb-NO" sz="2000" dirty="0">
                <a:latin typeface="Courier"/>
              </a:rPr>
              <a:t>; dims</a:t>
            </a:r>
            <a:r>
              <a:rPr lang="nb-NO" sz="2000" dirty="0">
                <a:solidFill>
                  <a:srgbClr val="666666"/>
                </a:solidFill>
                <a:latin typeface="Courier"/>
              </a:rPr>
              <a:t>=</a:t>
            </a:r>
            <a:r>
              <a:rPr lang="nb-NO" sz="2000" dirty="0">
                <a:solidFill>
                  <a:srgbClr val="06287E"/>
                </a:solidFill>
                <a:latin typeface="Courier"/>
              </a:rPr>
              <a:t>Dim</a:t>
            </a:r>
            <a:r>
              <a:rPr lang="nb-NO" sz="2000" dirty="0">
                <a:solidFill>
                  <a:srgbClr val="902000"/>
                </a:solidFill>
                <a:latin typeface="Courier"/>
              </a:rPr>
              <a:t>{:</a:t>
            </a:r>
            <a:r>
              <a:rPr lang="nb-NO" sz="2000" dirty="0" err="1">
                <a:solidFill>
                  <a:srgbClr val="902000"/>
                </a:solidFill>
                <a:latin typeface="Courier"/>
              </a:rPr>
              <a:t>alpha</a:t>
            </a:r>
            <a:r>
              <a:rPr lang="nb-NO" sz="2000" dirty="0">
                <a:solidFill>
                  <a:srgbClr val="902000"/>
                </a:solidFill>
                <a:latin typeface="Courier"/>
              </a:rPr>
              <a:t>}</a:t>
            </a:r>
            <a:r>
              <a:rPr lang="nb-NO" sz="2000" dirty="0">
                <a:latin typeface="Courier"/>
              </a:rPr>
              <a:t>(</a:t>
            </a:r>
            <a:r>
              <a:rPr lang="el-GR" sz="2000" dirty="0">
                <a:latin typeface="Courier"/>
              </a:rPr>
              <a:t>α</a:t>
            </a:r>
            <a:r>
              <a:rPr lang="nb-NO" sz="2000" dirty="0">
                <a:latin typeface="Courier"/>
              </a:rPr>
              <a:t>s))</a:t>
            </a:r>
          </a:p>
        </p:txBody>
      </p:sp>
      <p:sp>
        <p:nvSpPr>
          <p:cNvPr id="2" name="Title 1">
            <a:extLst>
              <a:ext uri="{FF2B5EF4-FFF2-40B4-BE49-F238E27FC236}">
                <a16:creationId xmlns:a16="http://schemas.microsoft.com/office/drawing/2014/main" id="{3A1EF6A2-7FA7-F84A-DECA-E373340AE532}"/>
              </a:ext>
            </a:extLst>
          </p:cNvPr>
          <p:cNvSpPr>
            <a:spLocks noGrp="1"/>
          </p:cNvSpPr>
          <p:nvPr>
            <p:ph type="title"/>
          </p:nvPr>
        </p:nvSpPr>
        <p:spPr>
          <a:xfrm>
            <a:off x="457200" y="205979"/>
            <a:ext cx="8229600" cy="857250"/>
          </a:xfrm>
        </p:spPr>
        <p:txBody>
          <a:bodyPr>
            <a:normAutofit/>
          </a:bodyPr>
          <a:lstStyle/>
          <a:p>
            <a:pPr marL="0" lvl="0" indent="0">
              <a:buNone/>
            </a:pPr>
            <a:r>
              <a:rPr lang="en-US" dirty="0"/>
              <a:t>The effect of distance decay – alpha</a:t>
            </a:r>
            <a:endParaRPr dirty="0"/>
          </a:p>
        </p:txBody>
      </p:sp>
    </p:spTree>
    <p:extLst>
      <p:ext uri="{BB962C8B-B14F-4D97-AF65-F5344CB8AC3E}">
        <p14:creationId xmlns:p14="http://schemas.microsoft.com/office/powerpoint/2010/main" val="16579325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0877EC-EA2C-554E-F3E3-E488ACB243C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DC80D06-7692-6D27-7231-98303B6CD875}"/>
              </a:ext>
            </a:extLst>
          </p:cNvPr>
          <p:cNvSpPr>
            <a:spLocks noGrp="1"/>
          </p:cNvSpPr>
          <p:nvPr>
            <p:ph idx="1"/>
          </p:nvPr>
        </p:nvSpPr>
        <p:spPr/>
        <p:txBody>
          <a:bodyPr>
            <a:noAutofit/>
          </a:bodyPr>
          <a:lstStyle/>
          <a:p>
            <a:pPr marL="0" lvl="0" indent="0">
              <a:buNone/>
            </a:pPr>
            <a:r>
              <a:rPr lang="nb-NO" sz="2000" dirty="0"/>
              <a:t>Plot:</a:t>
            </a:r>
          </a:p>
          <a:p>
            <a:pPr lvl="0" indent="0">
              <a:buNone/>
            </a:pPr>
            <a:r>
              <a:rPr lang="nb-NO" sz="2000" dirty="0" err="1">
                <a:latin typeface="Courier"/>
              </a:rPr>
              <a:t>Rasters.</a:t>
            </a:r>
            <a:r>
              <a:rPr lang="nb-NO" sz="2000" dirty="0" err="1">
                <a:solidFill>
                  <a:srgbClr val="06287E"/>
                </a:solidFill>
                <a:latin typeface="Courier"/>
              </a:rPr>
              <a:t>rplot</a:t>
            </a:r>
            <a:r>
              <a:rPr lang="nb-NO" sz="2000" dirty="0">
                <a:latin typeface="Courier"/>
              </a:rPr>
              <a:t>(</a:t>
            </a:r>
            <a:r>
              <a:rPr lang="nb-NO" sz="2000" dirty="0" err="1">
                <a:latin typeface="Courier"/>
              </a:rPr>
              <a:t>proxs</a:t>
            </a:r>
            <a:r>
              <a:rPr lang="nb-NO" sz="2000" dirty="0">
                <a:latin typeface="Courier"/>
              </a:rPr>
              <a:t>[</a:t>
            </a:r>
            <a:r>
              <a:rPr lang="nb-NO" sz="2000" dirty="0">
                <a:solidFill>
                  <a:srgbClr val="06287E"/>
                </a:solidFill>
                <a:latin typeface="Courier"/>
              </a:rPr>
              <a:t>Y</a:t>
            </a:r>
            <a:r>
              <a:rPr lang="nb-NO" sz="2000" dirty="0">
                <a:latin typeface="Courier"/>
              </a:rPr>
              <a:t>(</a:t>
            </a:r>
            <a:r>
              <a:rPr lang="nb-NO" sz="2000" dirty="0">
                <a:solidFill>
                  <a:srgbClr val="40A070"/>
                </a:solidFill>
                <a:latin typeface="Courier"/>
              </a:rPr>
              <a:t>6.90e6</a:t>
            </a:r>
            <a:r>
              <a:rPr lang="nb-NO" sz="2000" dirty="0">
                <a:latin typeface="Courier"/>
              </a:rPr>
              <a:t> </a:t>
            </a:r>
            <a:r>
              <a:rPr lang="nb-NO" sz="2000" dirty="0">
                <a:solidFill>
                  <a:srgbClr val="666666"/>
                </a:solidFill>
                <a:latin typeface="Courier"/>
              </a:rPr>
              <a:t>..</a:t>
            </a:r>
            <a:r>
              <a:rPr lang="nb-NO" sz="2000" dirty="0">
                <a:latin typeface="Courier"/>
              </a:rPr>
              <a:t> </a:t>
            </a:r>
            <a:r>
              <a:rPr lang="nb-NO" sz="2000" dirty="0">
                <a:solidFill>
                  <a:srgbClr val="40A070"/>
                </a:solidFill>
                <a:latin typeface="Courier"/>
              </a:rPr>
              <a:t>6.94e6</a:t>
            </a:r>
            <a:r>
              <a:rPr lang="nb-NO" sz="2000" dirty="0">
                <a:latin typeface="Courier"/>
              </a:rPr>
              <a:t>), </a:t>
            </a:r>
          </a:p>
          <a:p>
            <a:pPr lvl="0" indent="0">
              <a:buNone/>
            </a:pPr>
            <a:r>
              <a:rPr lang="nb-NO" sz="2000" dirty="0">
                <a:solidFill>
                  <a:srgbClr val="06287E"/>
                </a:solidFill>
                <a:latin typeface="Courier"/>
              </a:rPr>
              <a:t>		</a:t>
            </a:r>
            <a:r>
              <a:rPr lang="nb-NO" sz="2000" dirty="0" err="1">
                <a:solidFill>
                  <a:srgbClr val="06287E"/>
                </a:solidFill>
                <a:latin typeface="Courier"/>
              </a:rPr>
              <a:t>X</a:t>
            </a:r>
            <a:r>
              <a:rPr lang="nb-NO" sz="2000" dirty="0">
                <a:latin typeface="Courier"/>
              </a:rPr>
              <a:t>(</a:t>
            </a:r>
            <a:r>
              <a:rPr lang="nb-NO" sz="2000" dirty="0">
                <a:solidFill>
                  <a:srgbClr val="40A070"/>
                </a:solidFill>
                <a:latin typeface="Courier"/>
              </a:rPr>
              <a:t>175000</a:t>
            </a:r>
            <a:r>
              <a:rPr lang="nb-NO" sz="2000" dirty="0">
                <a:latin typeface="Courier"/>
              </a:rPr>
              <a:t> </a:t>
            </a:r>
            <a:r>
              <a:rPr lang="nb-NO" sz="2000" dirty="0">
                <a:solidFill>
                  <a:srgbClr val="666666"/>
                </a:solidFill>
                <a:latin typeface="Courier"/>
              </a:rPr>
              <a:t>..</a:t>
            </a:r>
            <a:r>
              <a:rPr lang="nb-NO" sz="2000" dirty="0">
                <a:latin typeface="Courier"/>
              </a:rPr>
              <a:t> </a:t>
            </a:r>
            <a:r>
              <a:rPr lang="nb-NO" sz="2000" dirty="0">
                <a:solidFill>
                  <a:srgbClr val="40A070"/>
                </a:solidFill>
                <a:latin typeface="Courier"/>
              </a:rPr>
              <a:t>220000</a:t>
            </a:r>
            <a:r>
              <a:rPr lang="nb-NO" sz="2000" dirty="0">
                <a:latin typeface="Courier"/>
              </a:rPr>
              <a:t>)], </a:t>
            </a:r>
            <a:r>
              <a:rPr lang="nb-NO" sz="2000" dirty="0" err="1">
                <a:latin typeface="Courier"/>
              </a:rPr>
              <a:t>colormap</a:t>
            </a:r>
            <a:r>
              <a:rPr lang="nb-NO" sz="2000" dirty="0">
                <a:solidFill>
                  <a:srgbClr val="666666"/>
                </a:solidFill>
                <a:latin typeface="Courier"/>
              </a:rPr>
              <a:t>=</a:t>
            </a:r>
            <a:r>
              <a:rPr lang="nb-NO" sz="2000" dirty="0" err="1">
                <a:solidFill>
                  <a:srgbClr val="06287E"/>
                </a:solidFill>
                <a:latin typeface="Courier"/>
              </a:rPr>
              <a:t>cgrad</a:t>
            </a:r>
            <a:r>
              <a:rPr lang="nb-NO" sz="2000" dirty="0">
                <a:latin typeface="Courier"/>
              </a:rPr>
              <a:t>(</a:t>
            </a:r>
            <a:r>
              <a:rPr lang="nb-NO" sz="2000" dirty="0">
                <a:solidFill>
                  <a:srgbClr val="666666"/>
                </a:solidFill>
                <a:latin typeface="Courier"/>
              </a:rPr>
              <a:t>:</a:t>
            </a:r>
            <a:r>
              <a:rPr lang="nb-NO" sz="2000" dirty="0">
                <a:latin typeface="Courier"/>
              </a:rPr>
              <a:t>magma))</a:t>
            </a:r>
          </a:p>
        </p:txBody>
      </p:sp>
      <p:sp>
        <p:nvSpPr>
          <p:cNvPr id="2" name="Title 1">
            <a:extLst>
              <a:ext uri="{FF2B5EF4-FFF2-40B4-BE49-F238E27FC236}">
                <a16:creationId xmlns:a16="http://schemas.microsoft.com/office/drawing/2014/main" id="{E2AC67F6-7FF4-E83C-E510-A391B5EB24B6}"/>
              </a:ext>
            </a:extLst>
          </p:cNvPr>
          <p:cNvSpPr>
            <a:spLocks noGrp="1"/>
          </p:cNvSpPr>
          <p:nvPr>
            <p:ph type="title"/>
          </p:nvPr>
        </p:nvSpPr>
        <p:spPr>
          <a:xfrm>
            <a:off x="457200" y="205979"/>
            <a:ext cx="8229600" cy="857250"/>
          </a:xfrm>
        </p:spPr>
        <p:txBody>
          <a:bodyPr>
            <a:normAutofit/>
          </a:bodyPr>
          <a:lstStyle/>
          <a:p>
            <a:pPr marL="0" lvl="0" indent="0">
              <a:buNone/>
            </a:pPr>
            <a:r>
              <a:rPr lang="en-US" dirty="0"/>
              <a:t>The effect of distance decay – alpha</a:t>
            </a:r>
            <a:endParaRPr dirty="0"/>
          </a:p>
        </p:txBody>
      </p:sp>
    </p:spTree>
    <p:extLst>
      <p:ext uri="{BB962C8B-B14F-4D97-AF65-F5344CB8AC3E}">
        <p14:creationId xmlns:p14="http://schemas.microsoft.com/office/powerpoint/2010/main" val="424392654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6476CE-43B2-B608-4EA5-A64927713F6C}"/>
            </a:ext>
          </a:extLst>
        </p:cNvPr>
        <p:cNvGrpSpPr/>
        <p:nvPr/>
      </p:nvGrpSpPr>
      <p:grpSpPr>
        <a:xfrm>
          <a:off x="0" y="0"/>
          <a:ext cx="0" cy="0"/>
          <a:chOff x="0" y="0"/>
          <a:chExt cx="0" cy="0"/>
        </a:xfrm>
      </p:grpSpPr>
      <p:pic>
        <p:nvPicPr>
          <p:cNvPr id="4" name="Picture 3" descr="presentation_ppt_files/figure-pptx/cell-13-output-1.png">
            <a:extLst>
              <a:ext uri="{FF2B5EF4-FFF2-40B4-BE49-F238E27FC236}">
                <a16:creationId xmlns:a16="http://schemas.microsoft.com/office/drawing/2014/main" id="{C71A5B74-26DF-5CC2-17A9-E190AF43CC9B}"/>
              </a:ext>
            </a:extLst>
          </p:cNvPr>
          <p:cNvPicPr>
            <a:picLocks noGrp="1" noChangeAspect="1"/>
          </p:cNvPicPr>
          <p:nvPr/>
        </p:nvPicPr>
        <p:blipFill>
          <a:blip r:embed="rId2"/>
          <a:stretch>
            <a:fillRect/>
          </a:stretch>
        </p:blipFill>
        <p:spPr bwMode="auto">
          <a:xfrm>
            <a:off x="3015" y="331897"/>
            <a:ext cx="9097434" cy="4548717"/>
          </a:xfrm>
          <a:prstGeom prst="rect">
            <a:avLst/>
          </a:prstGeom>
          <a:noFill/>
          <a:ln w="9525">
            <a:noFill/>
            <a:headEnd/>
            <a:tailEnd/>
          </a:ln>
        </p:spPr>
      </p:pic>
    </p:spTree>
    <p:extLst>
      <p:ext uri="{BB962C8B-B14F-4D97-AF65-F5344CB8AC3E}">
        <p14:creationId xmlns:p14="http://schemas.microsoft.com/office/powerpoint/2010/main" val="32900362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lvl="0" indent="0">
              <a:spcBef>
                <a:spcPts val="3000"/>
              </a:spcBef>
              <a:buNone/>
            </a:pPr>
            <a:r>
              <a:rPr b="1" dirty="0"/>
              <a:t>Third: compute graph measures</a:t>
            </a:r>
          </a:p>
          <a:p>
            <a:pPr marL="0" lvl="0" indent="0">
              <a:spcBef>
                <a:spcPts val="3000"/>
              </a:spcBef>
              <a:buNone/>
            </a:pPr>
            <a:r>
              <a:rPr b="1" dirty="0"/>
              <a:t>Setup landscape network</a:t>
            </a:r>
          </a:p>
          <a:p>
            <a:pPr marL="0" lvl="0" indent="0">
              <a:buNone/>
            </a:pPr>
            <a:r>
              <a:rPr dirty="0"/>
              <a:t>We reduce computational load by merging pixels into a coarser pixel</a:t>
            </a:r>
          </a:p>
          <a:p>
            <a:pPr marL="0" lvl="0" indent="0">
              <a:buNone/>
            </a:pPr>
            <a:r>
              <a:rPr dirty="0"/>
              <a:t>{100%}</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CFC7BD-5E3D-52D4-3BDB-D80C1AF9D8D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52EDC27-3BBE-490E-E909-6D9A8C6EA6E1}"/>
              </a:ext>
            </a:extLst>
          </p:cNvPr>
          <p:cNvSpPr>
            <a:spLocks noGrp="1"/>
          </p:cNvSpPr>
          <p:nvPr>
            <p:ph idx="1"/>
          </p:nvPr>
        </p:nvSpPr>
        <p:spPr>
          <a:xfrm>
            <a:off x="457200" y="1214439"/>
            <a:ext cx="8229600" cy="3380184"/>
          </a:xfrm>
        </p:spPr>
        <p:txBody>
          <a:bodyPr>
            <a:normAutofit/>
          </a:bodyPr>
          <a:lstStyle/>
          <a:p>
            <a:pPr marL="0" lvl="0" indent="0">
              <a:spcBef>
                <a:spcPts val="3000"/>
              </a:spcBef>
              <a:buNone/>
            </a:pPr>
            <a:r>
              <a:rPr lang="en-US" sz="2000" b="1" dirty="0"/>
              <a:t>Setup landscape network</a:t>
            </a:r>
          </a:p>
          <a:p>
            <a:pPr marL="0" lvl="0" indent="0">
              <a:buNone/>
            </a:pPr>
            <a:r>
              <a:rPr lang="en-US" sz="2000" dirty="0"/>
              <a:t>We reduce computational load by merging pixels into a coarser pixel:</a:t>
            </a:r>
          </a:p>
          <a:p>
            <a:pPr marL="0" lvl="0" indent="0">
              <a:buNone/>
            </a:pPr>
            <a:endParaRPr sz="2000" dirty="0"/>
          </a:p>
        </p:txBody>
      </p:sp>
      <p:sp>
        <p:nvSpPr>
          <p:cNvPr id="2" name="Title 1">
            <a:extLst>
              <a:ext uri="{FF2B5EF4-FFF2-40B4-BE49-F238E27FC236}">
                <a16:creationId xmlns:a16="http://schemas.microsoft.com/office/drawing/2014/main" id="{A5F1A22F-4858-65D5-74DD-B84CA37358FB}"/>
              </a:ext>
            </a:extLst>
          </p:cNvPr>
          <p:cNvSpPr>
            <a:spLocks noGrp="1"/>
          </p:cNvSpPr>
          <p:nvPr>
            <p:ph type="title"/>
          </p:nvPr>
        </p:nvSpPr>
        <p:spPr>
          <a:xfrm>
            <a:off x="457200" y="205979"/>
            <a:ext cx="8229600" cy="857250"/>
          </a:xfrm>
        </p:spPr>
        <p:txBody>
          <a:bodyPr>
            <a:normAutofit/>
          </a:bodyPr>
          <a:lstStyle/>
          <a:p>
            <a:pPr marL="0" lvl="0" indent="0">
              <a:buNone/>
            </a:pPr>
            <a:r>
              <a:rPr lang="en-US" dirty="0"/>
              <a:t>Third: compute graph measures</a:t>
            </a:r>
            <a:endParaRPr dirty="0"/>
          </a:p>
        </p:txBody>
      </p:sp>
      <p:grpSp>
        <p:nvGrpSpPr>
          <p:cNvPr id="386" name="Group 385">
            <a:extLst>
              <a:ext uri="{FF2B5EF4-FFF2-40B4-BE49-F238E27FC236}">
                <a16:creationId xmlns:a16="http://schemas.microsoft.com/office/drawing/2014/main" id="{50C0C906-6F5F-6C8C-8CE1-7716FA60A008}"/>
              </a:ext>
            </a:extLst>
          </p:cNvPr>
          <p:cNvGrpSpPr/>
          <p:nvPr/>
        </p:nvGrpSpPr>
        <p:grpSpPr>
          <a:xfrm>
            <a:off x="1548064" y="2343492"/>
            <a:ext cx="2423093" cy="2404918"/>
            <a:chOff x="2064085" y="2320886"/>
            <a:chExt cx="3230791" cy="3206557"/>
          </a:xfrm>
        </p:grpSpPr>
        <p:grpSp>
          <p:nvGrpSpPr>
            <p:cNvPr id="21" name="Group 20">
              <a:extLst>
                <a:ext uri="{FF2B5EF4-FFF2-40B4-BE49-F238E27FC236}">
                  <a16:creationId xmlns:a16="http://schemas.microsoft.com/office/drawing/2014/main" id="{7A43C1A9-8E96-4D97-F307-A540FCA97A90}"/>
                </a:ext>
              </a:extLst>
            </p:cNvPr>
            <p:cNvGrpSpPr/>
            <p:nvPr/>
          </p:nvGrpSpPr>
          <p:grpSpPr>
            <a:xfrm>
              <a:off x="2064948" y="4463103"/>
              <a:ext cx="1436630" cy="715607"/>
              <a:chOff x="2025477" y="3372145"/>
              <a:chExt cx="1436630" cy="715607"/>
            </a:xfrm>
          </p:grpSpPr>
          <p:grpSp>
            <p:nvGrpSpPr>
              <p:cNvPr id="15" name="Group 14">
                <a:extLst>
                  <a:ext uri="{FF2B5EF4-FFF2-40B4-BE49-F238E27FC236}">
                    <a16:creationId xmlns:a16="http://schemas.microsoft.com/office/drawing/2014/main" id="{457492F5-B31F-FAD2-9A14-4D9A743D8EA4}"/>
                  </a:ext>
                </a:extLst>
              </p:cNvPr>
              <p:cNvGrpSpPr/>
              <p:nvPr/>
            </p:nvGrpSpPr>
            <p:grpSpPr>
              <a:xfrm>
                <a:off x="2026153" y="3372145"/>
                <a:ext cx="1435954" cy="360000"/>
                <a:chOff x="2026153" y="3372145"/>
                <a:chExt cx="1435954" cy="360000"/>
              </a:xfrm>
            </p:grpSpPr>
            <p:sp>
              <p:nvSpPr>
                <p:cNvPr id="11" name="Rectangle 10">
                  <a:extLst>
                    <a:ext uri="{FF2B5EF4-FFF2-40B4-BE49-F238E27FC236}">
                      <a16:creationId xmlns:a16="http://schemas.microsoft.com/office/drawing/2014/main" id="{51E41954-72F5-9597-07C6-BB36D8B6BCA9}"/>
                    </a:ext>
                  </a:extLst>
                </p:cNvPr>
                <p:cNvSpPr/>
                <p:nvPr/>
              </p:nvSpPr>
              <p:spPr>
                <a:xfrm rot="10800000">
                  <a:off x="3102107" y="3372145"/>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12" name="Rectangle 11">
                  <a:extLst>
                    <a:ext uri="{FF2B5EF4-FFF2-40B4-BE49-F238E27FC236}">
                      <a16:creationId xmlns:a16="http://schemas.microsoft.com/office/drawing/2014/main" id="{9BA5B884-F995-25C0-882E-F3AA72B54796}"/>
                    </a:ext>
                  </a:extLst>
                </p:cNvPr>
                <p:cNvSpPr/>
                <p:nvPr/>
              </p:nvSpPr>
              <p:spPr>
                <a:xfrm rot="10800000">
                  <a:off x="2743455" y="3372145"/>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sp>
              <p:nvSpPr>
                <p:cNvPr id="13" name="Rectangle 12">
                  <a:extLst>
                    <a:ext uri="{FF2B5EF4-FFF2-40B4-BE49-F238E27FC236}">
                      <a16:creationId xmlns:a16="http://schemas.microsoft.com/office/drawing/2014/main" id="{B88B8238-3FCB-36C6-1665-BF6012EA59D6}"/>
                    </a:ext>
                  </a:extLst>
                </p:cNvPr>
                <p:cNvSpPr/>
                <p:nvPr/>
              </p:nvSpPr>
              <p:spPr>
                <a:xfrm rot="10800000">
                  <a:off x="2384804" y="3372145"/>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14" name="Rectangle 13">
                  <a:extLst>
                    <a:ext uri="{FF2B5EF4-FFF2-40B4-BE49-F238E27FC236}">
                      <a16:creationId xmlns:a16="http://schemas.microsoft.com/office/drawing/2014/main" id="{7CCF36A4-870E-3D6B-3B24-FA85AF361096}"/>
                    </a:ext>
                  </a:extLst>
                </p:cNvPr>
                <p:cNvSpPr/>
                <p:nvPr/>
              </p:nvSpPr>
              <p:spPr>
                <a:xfrm rot="10800000">
                  <a:off x="2026153" y="3372145"/>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grpSp>
          <p:grpSp>
            <p:nvGrpSpPr>
              <p:cNvPr id="16" name="Group 15">
                <a:extLst>
                  <a:ext uri="{FF2B5EF4-FFF2-40B4-BE49-F238E27FC236}">
                    <a16:creationId xmlns:a16="http://schemas.microsoft.com/office/drawing/2014/main" id="{617E62FD-FB09-EDF4-E5B2-CCB9B03A5D66}"/>
                  </a:ext>
                </a:extLst>
              </p:cNvPr>
              <p:cNvGrpSpPr/>
              <p:nvPr/>
            </p:nvGrpSpPr>
            <p:grpSpPr>
              <a:xfrm rot="10800000">
                <a:off x="2025477" y="3727752"/>
                <a:ext cx="1435954" cy="360000"/>
                <a:chOff x="2026153" y="3372145"/>
                <a:chExt cx="1435954" cy="360000"/>
              </a:xfrm>
            </p:grpSpPr>
            <p:sp>
              <p:nvSpPr>
                <p:cNvPr id="17" name="Rectangle 16">
                  <a:extLst>
                    <a:ext uri="{FF2B5EF4-FFF2-40B4-BE49-F238E27FC236}">
                      <a16:creationId xmlns:a16="http://schemas.microsoft.com/office/drawing/2014/main" id="{2CC68ED5-A946-FFE8-532C-95C4B234B7AC}"/>
                    </a:ext>
                  </a:extLst>
                </p:cNvPr>
                <p:cNvSpPr/>
                <p:nvPr/>
              </p:nvSpPr>
              <p:spPr>
                <a:xfrm rot="10800000">
                  <a:off x="3102107" y="3372145"/>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18" name="Rectangle 17">
                  <a:extLst>
                    <a:ext uri="{FF2B5EF4-FFF2-40B4-BE49-F238E27FC236}">
                      <a16:creationId xmlns:a16="http://schemas.microsoft.com/office/drawing/2014/main" id="{CAC86B4C-2328-6769-AC43-75AC77D96082}"/>
                    </a:ext>
                  </a:extLst>
                </p:cNvPr>
                <p:cNvSpPr/>
                <p:nvPr/>
              </p:nvSpPr>
              <p:spPr>
                <a:xfrm rot="10800000">
                  <a:off x="2743455" y="3372145"/>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sp>
              <p:nvSpPr>
                <p:cNvPr id="19" name="Rectangle 18">
                  <a:extLst>
                    <a:ext uri="{FF2B5EF4-FFF2-40B4-BE49-F238E27FC236}">
                      <a16:creationId xmlns:a16="http://schemas.microsoft.com/office/drawing/2014/main" id="{90C681E1-6DF3-0A6D-7110-ED4A3A9514C2}"/>
                    </a:ext>
                  </a:extLst>
                </p:cNvPr>
                <p:cNvSpPr/>
                <p:nvPr/>
              </p:nvSpPr>
              <p:spPr>
                <a:xfrm rot="10800000">
                  <a:off x="2384804" y="3372145"/>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20" name="Rectangle 19">
                  <a:extLst>
                    <a:ext uri="{FF2B5EF4-FFF2-40B4-BE49-F238E27FC236}">
                      <a16:creationId xmlns:a16="http://schemas.microsoft.com/office/drawing/2014/main" id="{F5DB1D74-5D0D-2F04-EB1B-D473D305B259}"/>
                    </a:ext>
                  </a:extLst>
                </p:cNvPr>
                <p:cNvSpPr/>
                <p:nvPr/>
              </p:nvSpPr>
              <p:spPr>
                <a:xfrm rot="10800000">
                  <a:off x="2026153" y="3372145"/>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grpSp>
        </p:grpSp>
        <p:grpSp>
          <p:nvGrpSpPr>
            <p:cNvPr id="22" name="Group 21">
              <a:extLst>
                <a:ext uri="{FF2B5EF4-FFF2-40B4-BE49-F238E27FC236}">
                  <a16:creationId xmlns:a16="http://schemas.microsoft.com/office/drawing/2014/main" id="{26576FE2-5540-9CB8-6F97-B62CA692292F}"/>
                </a:ext>
              </a:extLst>
            </p:cNvPr>
            <p:cNvGrpSpPr/>
            <p:nvPr/>
          </p:nvGrpSpPr>
          <p:grpSpPr>
            <a:xfrm>
              <a:off x="2064948" y="3747306"/>
              <a:ext cx="1436630" cy="715607"/>
              <a:chOff x="2025477" y="3372145"/>
              <a:chExt cx="1436630" cy="715607"/>
            </a:xfrm>
          </p:grpSpPr>
          <p:grpSp>
            <p:nvGrpSpPr>
              <p:cNvPr id="23" name="Group 22">
                <a:extLst>
                  <a:ext uri="{FF2B5EF4-FFF2-40B4-BE49-F238E27FC236}">
                    <a16:creationId xmlns:a16="http://schemas.microsoft.com/office/drawing/2014/main" id="{4BCD6423-6639-95B4-EA51-938916236F06}"/>
                  </a:ext>
                </a:extLst>
              </p:cNvPr>
              <p:cNvGrpSpPr/>
              <p:nvPr/>
            </p:nvGrpSpPr>
            <p:grpSpPr>
              <a:xfrm>
                <a:off x="2026153" y="3372145"/>
                <a:ext cx="1435954" cy="360000"/>
                <a:chOff x="2026153" y="3372145"/>
                <a:chExt cx="1435954" cy="360000"/>
              </a:xfrm>
            </p:grpSpPr>
            <p:sp>
              <p:nvSpPr>
                <p:cNvPr id="29" name="Rectangle 28">
                  <a:extLst>
                    <a:ext uri="{FF2B5EF4-FFF2-40B4-BE49-F238E27FC236}">
                      <a16:creationId xmlns:a16="http://schemas.microsoft.com/office/drawing/2014/main" id="{7D48CD2A-BA97-69B9-03E6-5CC8966E48A3}"/>
                    </a:ext>
                  </a:extLst>
                </p:cNvPr>
                <p:cNvSpPr/>
                <p:nvPr/>
              </p:nvSpPr>
              <p:spPr>
                <a:xfrm rot="10800000">
                  <a:off x="3102107" y="3372145"/>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30" name="Rectangle 29">
                  <a:extLst>
                    <a:ext uri="{FF2B5EF4-FFF2-40B4-BE49-F238E27FC236}">
                      <a16:creationId xmlns:a16="http://schemas.microsoft.com/office/drawing/2014/main" id="{B92F628F-9F2C-DD2E-88BD-C004E795D1A5}"/>
                    </a:ext>
                  </a:extLst>
                </p:cNvPr>
                <p:cNvSpPr/>
                <p:nvPr/>
              </p:nvSpPr>
              <p:spPr>
                <a:xfrm rot="10800000">
                  <a:off x="2743455" y="3372145"/>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sp>
              <p:nvSpPr>
                <p:cNvPr id="31" name="Rectangle 30">
                  <a:extLst>
                    <a:ext uri="{FF2B5EF4-FFF2-40B4-BE49-F238E27FC236}">
                      <a16:creationId xmlns:a16="http://schemas.microsoft.com/office/drawing/2014/main" id="{3CB031F1-729F-18EA-210B-C083F646BAD7}"/>
                    </a:ext>
                  </a:extLst>
                </p:cNvPr>
                <p:cNvSpPr/>
                <p:nvPr/>
              </p:nvSpPr>
              <p:spPr>
                <a:xfrm rot="10800000">
                  <a:off x="2384804" y="3372145"/>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32" name="Rectangle 31">
                  <a:extLst>
                    <a:ext uri="{FF2B5EF4-FFF2-40B4-BE49-F238E27FC236}">
                      <a16:creationId xmlns:a16="http://schemas.microsoft.com/office/drawing/2014/main" id="{7A3B1D65-CA2D-E0E7-DC18-7EEB71C9EF8D}"/>
                    </a:ext>
                  </a:extLst>
                </p:cNvPr>
                <p:cNvSpPr/>
                <p:nvPr/>
              </p:nvSpPr>
              <p:spPr>
                <a:xfrm rot="10800000">
                  <a:off x="2026153" y="3372145"/>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grpSp>
          <p:grpSp>
            <p:nvGrpSpPr>
              <p:cNvPr id="24" name="Group 23">
                <a:extLst>
                  <a:ext uri="{FF2B5EF4-FFF2-40B4-BE49-F238E27FC236}">
                    <a16:creationId xmlns:a16="http://schemas.microsoft.com/office/drawing/2014/main" id="{D4C0CEE6-84B7-BAC3-D062-074C4C28683F}"/>
                  </a:ext>
                </a:extLst>
              </p:cNvPr>
              <p:cNvGrpSpPr/>
              <p:nvPr/>
            </p:nvGrpSpPr>
            <p:grpSpPr>
              <a:xfrm rot="10800000">
                <a:off x="2025477" y="3727752"/>
                <a:ext cx="1435954" cy="360000"/>
                <a:chOff x="2026153" y="3372145"/>
                <a:chExt cx="1435954" cy="360000"/>
              </a:xfrm>
            </p:grpSpPr>
            <p:sp>
              <p:nvSpPr>
                <p:cNvPr id="25" name="Rectangle 24">
                  <a:extLst>
                    <a:ext uri="{FF2B5EF4-FFF2-40B4-BE49-F238E27FC236}">
                      <a16:creationId xmlns:a16="http://schemas.microsoft.com/office/drawing/2014/main" id="{722DA950-4B0C-A638-40F1-FAB030084E3D}"/>
                    </a:ext>
                  </a:extLst>
                </p:cNvPr>
                <p:cNvSpPr/>
                <p:nvPr/>
              </p:nvSpPr>
              <p:spPr>
                <a:xfrm rot="10800000">
                  <a:off x="3102107" y="3372145"/>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26" name="Rectangle 25">
                  <a:extLst>
                    <a:ext uri="{FF2B5EF4-FFF2-40B4-BE49-F238E27FC236}">
                      <a16:creationId xmlns:a16="http://schemas.microsoft.com/office/drawing/2014/main" id="{DF328885-A7C5-C039-DBFB-262D4818B9FB}"/>
                    </a:ext>
                  </a:extLst>
                </p:cNvPr>
                <p:cNvSpPr/>
                <p:nvPr/>
              </p:nvSpPr>
              <p:spPr>
                <a:xfrm rot="10800000">
                  <a:off x="2743455" y="3372145"/>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sp>
              <p:nvSpPr>
                <p:cNvPr id="27" name="Rectangle 26">
                  <a:extLst>
                    <a:ext uri="{FF2B5EF4-FFF2-40B4-BE49-F238E27FC236}">
                      <a16:creationId xmlns:a16="http://schemas.microsoft.com/office/drawing/2014/main" id="{51DBDADE-67FC-640D-48EB-140F5A127EDF}"/>
                    </a:ext>
                  </a:extLst>
                </p:cNvPr>
                <p:cNvSpPr/>
                <p:nvPr/>
              </p:nvSpPr>
              <p:spPr>
                <a:xfrm rot="10800000">
                  <a:off x="2384804" y="3372145"/>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28" name="Rectangle 27">
                  <a:extLst>
                    <a:ext uri="{FF2B5EF4-FFF2-40B4-BE49-F238E27FC236}">
                      <a16:creationId xmlns:a16="http://schemas.microsoft.com/office/drawing/2014/main" id="{DA0FAD53-5EF9-31A4-ED1E-5A996F84C3AC}"/>
                    </a:ext>
                  </a:extLst>
                </p:cNvPr>
                <p:cNvSpPr/>
                <p:nvPr/>
              </p:nvSpPr>
              <p:spPr>
                <a:xfrm rot="10800000">
                  <a:off x="2026153" y="3372145"/>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grpSp>
        </p:grpSp>
        <p:grpSp>
          <p:nvGrpSpPr>
            <p:cNvPr id="33" name="Group 32">
              <a:extLst>
                <a:ext uri="{FF2B5EF4-FFF2-40B4-BE49-F238E27FC236}">
                  <a16:creationId xmlns:a16="http://schemas.microsoft.com/office/drawing/2014/main" id="{824C316D-0773-7C68-6C0D-131E59E71014}"/>
                </a:ext>
              </a:extLst>
            </p:cNvPr>
            <p:cNvGrpSpPr/>
            <p:nvPr/>
          </p:nvGrpSpPr>
          <p:grpSpPr>
            <a:xfrm>
              <a:off x="3500139" y="4457619"/>
              <a:ext cx="1436630" cy="715607"/>
              <a:chOff x="2025477" y="3372145"/>
              <a:chExt cx="1436630" cy="715607"/>
            </a:xfrm>
          </p:grpSpPr>
          <p:grpSp>
            <p:nvGrpSpPr>
              <p:cNvPr id="34" name="Group 33">
                <a:extLst>
                  <a:ext uri="{FF2B5EF4-FFF2-40B4-BE49-F238E27FC236}">
                    <a16:creationId xmlns:a16="http://schemas.microsoft.com/office/drawing/2014/main" id="{97B2E661-8C03-2AD3-4138-8165C84BAA7C}"/>
                  </a:ext>
                </a:extLst>
              </p:cNvPr>
              <p:cNvGrpSpPr/>
              <p:nvPr/>
            </p:nvGrpSpPr>
            <p:grpSpPr>
              <a:xfrm>
                <a:off x="2026153" y="3372145"/>
                <a:ext cx="1435954" cy="360000"/>
                <a:chOff x="2026153" y="3372145"/>
                <a:chExt cx="1435954" cy="360000"/>
              </a:xfrm>
            </p:grpSpPr>
            <p:sp>
              <p:nvSpPr>
                <p:cNvPr id="40" name="Rectangle 39">
                  <a:extLst>
                    <a:ext uri="{FF2B5EF4-FFF2-40B4-BE49-F238E27FC236}">
                      <a16:creationId xmlns:a16="http://schemas.microsoft.com/office/drawing/2014/main" id="{05887F7E-F616-5912-A99A-2CE4610D3390}"/>
                    </a:ext>
                  </a:extLst>
                </p:cNvPr>
                <p:cNvSpPr/>
                <p:nvPr/>
              </p:nvSpPr>
              <p:spPr>
                <a:xfrm rot="10800000">
                  <a:off x="3102107" y="3372145"/>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41" name="Rectangle 40">
                  <a:extLst>
                    <a:ext uri="{FF2B5EF4-FFF2-40B4-BE49-F238E27FC236}">
                      <a16:creationId xmlns:a16="http://schemas.microsoft.com/office/drawing/2014/main" id="{55754374-5619-1B52-2045-992EF7483175}"/>
                    </a:ext>
                  </a:extLst>
                </p:cNvPr>
                <p:cNvSpPr/>
                <p:nvPr/>
              </p:nvSpPr>
              <p:spPr>
                <a:xfrm rot="10800000">
                  <a:off x="2743455" y="3372145"/>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sp>
              <p:nvSpPr>
                <p:cNvPr id="42" name="Rectangle 41">
                  <a:extLst>
                    <a:ext uri="{FF2B5EF4-FFF2-40B4-BE49-F238E27FC236}">
                      <a16:creationId xmlns:a16="http://schemas.microsoft.com/office/drawing/2014/main" id="{8A3C5F4D-7764-F33D-32C8-BA363FDD33F2}"/>
                    </a:ext>
                  </a:extLst>
                </p:cNvPr>
                <p:cNvSpPr/>
                <p:nvPr/>
              </p:nvSpPr>
              <p:spPr>
                <a:xfrm rot="10800000">
                  <a:off x="2384804" y="3372145"/>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43" name="Rectangle 42">
                  <a:extLst>
                    <a:ext uri="{FF2B5EF4-FFF2-40B4-BE49-F238E27FC236}">
                      <a16:creationId xmlns:a16="http://schemas.microsoft.com/office/drawing/2014/main" id="{9E6FC585-D60E-3A85-0B46-EF0227E79724}"/>
                    </a:ext>
                  </a:extLst>
                </p:cNvPr>
                <p:cNvSpPr/>
                <p:nvPr/>
              </p:nvSpPr>
              <p:spPr>
                <a:xfrm rot="10800000">
                  <a:off x="2026153" y="3372145"/>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grpSp>
          <p:grpSp>
            <p:nvGrpSpPr>
              <p:cNvPr id="35" name="Group 34">
                <a:extLst>
                  <a:ext uri="{FF2B5EF4-FFF2-40B4-BE49-F238E27FC236}">
                    <a16:creationId xmlns:a16="http://schemas.microsoft.com/office/drawing/2014/main" id="{0B15B631-54F6-B091-D985-7229219A2FA7}"/>
                  </a:ext>
                </a:extLst>
              </p:cNvPr>
              <p:cNvGrpSpPr/>
              <p:nvPr/>
            </p:nvGrpSpPr>
            <p:grpSpPr>
              <a:xfrm rot="10800000">
                <a:off x="2025477" y="3727752"/>
                <a:ext cx="1435954" cy="360000"/>
                <a:chOff x="2026153" y="3372145"/>
                <a:chExt cx="1435954" cy="360000"/>
              </a:xfrm>
            </p:grpSpPr>
            <p:sp>
              <p:nvSpPr>
                <p:cNvPr id="36" name="Rectangle 35">
                  <a:extLst>
                    <a:ext uri="{FF2B5EF4-FFF2-40B4-BE49-F238E27FC236}">
                      <a16:creationId xmlns:a16="http://schemas.microsoft.com/office/drawing/2014/main" id="{C57F2B4F-BCCF-8A1E-9D0B-F9B40F3FDE08}"/>
                    </a:ext>
                  </a:extLst>
                </p:cNvPr>
                <p:cNvSpPr/>
                <p:nvPr/>
              </p:nvSpPr>
              <p:spPr>
                <a:xfrm rot="10800000">
                  <a:off x="3102107" y="3372145"/>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37" name="Rectangle 36">
                  <a:extLst>
                    <a:ext uri="{FF2B5EF4-FFF2-40B4-BE49-F238E27FC236}">
                      <a16:creationId xmlns:a16="http://schemas.microsoft.com/office/drawing/2014/main" id="{F30B2A92-BE68-2952-986A-0965FF641ED9}"/>
                    </a:ext>
                  </a:extLst>
                </p:cNvPr>
                <p:cNvSpPr/>
                <p:nvPr/>
              </p:nvSpPr>
              <p:spPr>
                <a:xfrm rot="10800000">
                  <a:off x="2743455" y="3372145"/>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sp>
              <p:nvSpPr>
                <p:cNvPr id="38" name="Rectangle 37">
                  <a:extLst>
                    <a:ext uri="{FF2B5EF4-FFF2-40B4-BE49-F238E27FC236}">
                      <a16:creationId xmlns:a16="http://schemas.microsoft.com/office/drawing/2014/main" id="{7156CE9D-662B-642E-B53E-10B8F0A26033}"/>
                    </a:ext>
                  </a:extLst>
                </p:cNvPr>
                <p:cNvSpPr/>
                <p:nvPr/>
              </p:nvSpPr>
              <p:spPr>
                <a:xfrm rot="10800000">
                  <a:off x="2384804" y="3372145"/>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39" name="Rectangle 38">
                  <a:extLst>
                    <a:ext uri="{FF2B5EF4-FFF2-40B4-BE49-F238E27FC236}">
                      <a16:creationId xmlns:a16="http://schemas.microsoft.com/office/drawing/2014/main" id="{B1096412-D37D-CED0-16F6-9F5BE629C859}"/>
                    </a:ext>
                  </a:extLst>
                </p:cNvPr>
                <p:cNvSpPr/>
                <p:nvPr/>
              </p:nvSpPr>
              <p:spPr>
                <a:xfrm rot="10800000">
                  <a:off x="2026153" y="3372145"/>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grpSp>
        </p:grpSp>
        <p:grpSp>
          <p:nvGrpSpPr>
            <p:cNvPr id="44" name="Group 43">
              <a:extLst>
                <a:ext uri="{FF2B5EF4-FFF2-40B4-BE49-F238E27FC236}">
                  <a16:creationId xmlns:a16="http://schemas.microsoft.com/office/drawing/2014/main" id="{DBA6E48E-27E9-7239-E8C2-6A61B1022AE7}"/>
                </a:ext>
              </a:extLst>
            </p:cNvPr>
            <p:cNvGrpSpPr/>
            <p:nvPr/>
          </p:nvGrpSpPr>
          <p:grpSpPr>
            <a:xfrm>
              <a:off x="3500139" y="3741822"/>
              <a:ext cx="1436630" cy="715607"/>
              <a:chOff x="2025477" y="3372145"/>
              <a:chExt cx="1436630" cy="715607"/>
            </a:xfrm>
          </p:grpSpPr>
          <p:grpSp>
            <p:nvGrpSpPr>
              <p:cNvPr id="45" name="Group 44">
                <a:extLst>
                  <a:ext uri="{FF2B5EF4-FFF2-40B4-BE49-F238E27FC236}">
                    <a16:creationId xmlns:a16="http://schemas.microsoft.com/office/drawing/2014/main" id="{671D883A-92B7-EB72-48A5-2A77C4E0D50F}"/>
                  </a:ext>
                </a:extLst>
              </p:cNvPr>
              <p:cNvGrpSpPr/>
              <p:nvPr/>
            </p:nvGrpSpPr>
            <p:grpSpPr>
              <a:xfrm>
                <a:off x="2026153" y="3372145"/>
                <a:ext cx="1435954" cy="360000"/>
                <a:chOff x="2026153" y="3372145"/>
                <a:chExt cx="1435954" cy="360000"/>
              </a:xfrm>
            </p:grpSpPr>
            <p:sp>
              <p:nvSpPr>
                <p:cNvPr id="51" name="Rectangle 50">
                  <a:extLst>
                    <a:ext uri="{FF2B5EF4-FFF2-40B4-BE49-F238E27FC236}">
                      <a16:creationId xmlns:a16="http://schemas.microsoft.com/office/drawing/2014/main" id="{7C38AC86-D11D-6BF6-6F16-DA53159C5C3B}"/>
                    </a:ext>
                  </a:extLst>
                </p:cNvPr>
                <p:cNvSpPr/>
                <p:nvPr/>
              </p:nvSpPr>
              <p:spPr>
                <a:xfrm rot="10800000">
                  <a:off x="3102107" y="3372145"/>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52" name="Rectangle 51">
                  <a:extLst>
                    <a:ext uri="{FF2B5EF4-FFF2-40B4-BE49-F238E27FC236}">
                      <a16:creationId xmlns:a16="http://schemas.microsoft.com/office/drawing/2014/main" id="{78372FAE-930B-3B11-E238-FE70CE31948F}"/>
                    </a:ext>
                  </a:extLst>
                </p:cNvPr>
                <p:cNvSpPr/>
                <p:nvPr/>
              </p:nvSpPr>
              <p:spPr>
                <a:xfrm rot="10800000">
                  <a:off x="2743455" y="3372145"/>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sp>
              <p:nvSpPr>
                <p:cNvPr id="53" name="Rectangle 52">
                  <a:extLst>
                    <a:ext uri="{FF2B5EF4-FFF2-40B4-BE49-F238E27FC236}">
                      <a16:creationId xmlns:a16="http://schemas.microsoft.com/office/drawing/2014/main" id="{971CE9B7-B938-9125-AEDA-89BD878E390A}"/>
                    </a:ext>
                  </a:extLst>
                </p:cNvPr>
                <p:cNvSpPr/>
                <p:nvPr/>
              </p:nvSpPr>
              <p:spPr>
                <a:xfrm rot="10800000">
                  <a:off x="2384804" y="3372145"/>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54" name="Rectangle 53">
                  <a:extLst>
                    <a:ext uri="{FF2B5EF4-FFF2-40B4-BE49-F238E27FC236}">
                      <a16:creationId xmlns:a16="http://schemas.microsoft.com/office/drawing/2014/main" id="{86B4C0BB-BAD9-4C75-E2A1-543E082873B6}"/>
                    </a:ext>
                  </a:extLst>
                </p:cNvPr>
                <p:cNvSpPr/>
                <p:nvPr/>
              </p:nvSpPr>
              <p:spPr>
                <a:xfrm rot="10800000">
                  <a:off x="2026153" y="3372145"/>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grpSp>
          <p:grpSp>
            <p:nvGrpSpPr>
              <p:cNvPr id="46" name="Group 45">
                <a:extLst>
                  <a:ext uri="{FF2B5EF4-FFF2-40B4-BE49-F238E27FC236}">
                    <a16:creationId xmlns:a16="http://schemas.microsoft.com/office/drawing/2014/main" id="{1CF9ED30-53FB-B7C7-C5C0-AF13D7D5D0DF}"/>
                  </a:ext>
                </a:extLst>
              </p:cNvPr>
              <p:cNvGrpSpPr/>
              <p:nvPr/>
            </p:nvGrpSpPr>
            <p:grpSpPr>
              <a:xfrm rot="10800000">
                <a:off x="2025477" y="3727752"/>
                <a:ext cx="1435954" cy="360000"/>
                <a:chOff x="2026153" y="3372145"/>
                <a:chExt cx="1435954" cy="360000"/>
              </a:xfrm>
            </p:grpSpPr>
            <p:sp>
              <p:nvSpPr>
                <p:cNvPr id="47" name="Rectangle 46">
                  <a:extLst>
                    <a:ext uri="{FF2B5EF4-FFF2-40B4-BE49-F238E27FC236}">
                      <a16:creationId xmlns:a16="http://schemas.microsoft.com/office/drawing/2014/main" id="{8184EE92-A38C-E6C8-D516-AF98FE39F7EC}"/>
                    </a:ext>
                  </a:extLst>
                </p:cNvPr>
                <p:cNvSpPr/>
                <p:nvPr/>
              </p:nvSpPr>
              <p:spPr>
                <a:xfrm rot="10800000">
                  <a:off x="3102107" y="3372145"/>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48" name="Rectangle 47">
                  <a:extLst>
                    <a:ext uri="{FF2B5EF4-FFF2-40B4-BE49-F238E27FC236}">
                      <a16:creationId xmlns:a16="http://schemas.microsoft.com/office/drawing/2014/main" id="{55574029-1C3E-DA28-6617-7E68AD69F20B}"/>
                    </a:ext>
                  </a:extLst>
                </p:cNvPr>
                <p:cNvSpPr/>
                <p:nvPr/>
              </p:nvSpPr>
              <p:spPr>
                <a:xfrm rot="10800000">
                  <a:off x="2743455" y="3372145"/>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sp>
              <p:nvSpPr>
                <p:cNvPr id="49" name="Rectangle 48">
                  <a:extLst>
                    <a:ext uri="{FF2B5EF4-FFF2-40B4-BE49-F238E27FC236}">
                      <a16:creationId xmlns:a16="http://schemas.microsoft.com/office/drawing/2014/main" id="{59361BC9-7316-0729-D3CD-1E3D17CBF0FE}"/>
                    </a:ext>
                  </a:extLst>
                </p:cNvPr>
                <p:cNvSpPr/>
                <p:nvPr/>
              </p:nvSpPr>
              <p:spPr>
                <a:xfrm rot="10800000">
                  <a:off x="2384804" y="3372145"/>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50" name="Rectangle 49">
                  <a:extLst>
                    <a:ext uri="{FF2B5EF4-FFF2-40B4-BE49-F238E27FC236}">
                      <a16:creationId xmlns:a16="http://schemas.microsoft.com/office/drawing/2014/main" id="{E5271767-9BC9-0685-E391-8514CA1E2985}"/>
                    </a:ext>
                  </a:extLst>
                </p:cNvPr>
                <p:cNvSpPr/>
                <p:nvPr/>
              </p:nvSpPr>
              <p:spPr>
                <a:xfrm rot="10800000">
                  <a:off x="2026153" y="3372145"/>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grpSp>
        </p:grpSp>
        <p:grpSp>
          <p:nvGrpSpPr>
            <p:cNvPr id="55" name="Group 54">
              <a:extLst>
                <a:ext uri="{FF2B5EF4-FFF2-40B4-BE49-F238E27FC236}">
                  <a16:creationId xmlns:a16="http://schemas.microsoft.com/office/drawing/2014/main" id="{EC06455F-37C1-EEFA-7EB8-0E2947CAAA80}"/>
                </a:ext>
              </a:extLst>
            </p:cNvPr>
            <p:cNvGrpSpPr/>
            <p:nvPr/>
          </p:nvGrpSpPr>
          <p:grpSpPr>
            <a:xfrm>
              <a:off x="2066049" y="3036683"/>
              <a:ext cx="1436630" cy="715607"/>
              <a:chOff x="2025477" y="3372145"/>
              <a:chExt cx="1436630" cy="715607"/>
            </a:xfrm>
          </p:grpSpPr>
          <p:grpSp>
            <p:nvGrpSpPr>
              <p:cNvPr id="56" name="Group 55">
                <a:extLst>
                  <a:ext uri="{FF2B5EF4-FFF2-40B4-BE49-F238E27FC236}">
                    <a16:creationId xmlns:a16="http://schemas.microsoft.com/office/drawing/2014/main" id="{D5C47102-C4E5-82E9-8268-47577EE49487}"/>
                  </a:ext>
                </a:extLst>
              </p:cNvPr>
              <p:cNvGrpSpPr/>
              <p:nvPr/>
            </p:nvGrpSpPr>
            <p:grpSpPr>
              <a:xfrm>
                <a:off x="2026153" y="3372145"/>
                <a:ext cx="1435954" cy="360000"/>
                <a:chOff x="2026153" y="3372145"/>
                <a:chExt cx="1435954" cy="360000"/>
              </a:xfrm>
            </p:grpSpPr>
            <p:sp>
              <p:nvSpPr>
                <p:cNvPr id="62" name="Rectangle 61">
                  <a:extLst>
                    <a:ext uri="{FF2B5EF4-FFF2-40B4-BE49-F238E27FC236}">
                      <a16:creationId xmlns:a16="http://schemas.microsoft.com/office/drawing/2014/main" id="{273C27D5-D6AB-45D8-0023-B19F9CCBF72B}"/>
                    </a:ext>
                  </a:extLst>
                </p:cNvPr>
                <p:cNvSpPr/>
                <p:nvPr/>
              </p:nvSpPr>
              <p:spPr>
                <a:xfrm rot="10800000">
                  <a:off x="3102107" y="3372145"/>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63" name="Rectangle 62">
                  <a:extLst>
                    <a:ext uri="{FF2B5EF4-FFF2-40B4-BE49-F238E27FC236}">
                      <a16:creationId xmlns:a16="http://schemas.microsoft.com/office/drawing/2014/main" id="{3DBC38F5-D86C-31E9-2ECF-CF1AF447EEB2}"/>
                    </a:ext>
                  </a:extLst>
                </p:cNvPr>
                <p:cNvSpPr/>
                <p:nvPr/>
              </p:nvSpPr>
              <p:spPr>
                <a:xfrm rot="10800000">
                  <a:off x="2743455" y="3372145"/>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sp>
              <p:nvSpPr>
                <p:cNvPr id="64" name="Rectangle 63">
                  <a:extLst>
                    <a:ext uri="{FF2B5EF4-FFF2-40B4-BE49-F238E27FC236}">
                      <a16:creationId xmlns:a16="http://schemas.microsoft.com/office/drawing/2014/main" id="{1C88F976-0ABA-5789-8796-15A360883207}"/>
                    </a:ext>
                  </a:extLst>
                </p:cNvPr>
                <p:cNvSpPr/>
                <p:nvPr/>
              </p:nvSpPr>
              <p:spPr>
                <a:xfrm rot="10800000">
                  <a:off x="2384804" y="3372145"/>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65" name="Rectangle 64">
                  <a:extLst>
                    <a:ext uri="{FF2B5EF4-FFF2-40B4-BE49-F238E27FC236}">
                      <a16:creationId xmlns:a16="http://schemas.microsoft.com/office/drawing/2014/main" id="{DE82FCFC-9A22-F16F-77EF-E2E94E52DD00}"/>
                    </a:ext>
                  </a:extLst>
                </p:cNvPr>
                <p:cNvSpPr/>
                <p:nvPr/>
              </p:nvSpPr>
              <p:spPr>
                <a:xfrm rot="10800000">
                  <a:off x="2026153" y="3372145"/>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grpSp>
          <p:grpSp>
            <p:nvGrpSpPr>
              <p:cNvPr id="57" name="Group 56">
                <a:extLst>
                  <a:ext uri="{FF2B5EF4-FFF2-40B4-BE49-F238E27FC236}">
                    <a16:creationId xmlns:a16="http://schemas.microsoft.com/office/drawing/2014/main" id="{FB206200-E579-CA0C-7866-477F8F53BA07}"/>
                  </a:ext>
                </a:extLst>
              </p:cNvPr>
              <p:cNvGrpSpPr/>
              <p:nvPr/>
            </p:nvGrpSpPr>
            <p:grpSpPr>
              <a:xfrm rot="10800000">
                <a:off x="2025477" y="3727752"/>
                <a:ext cx="1435954" cy="360000"/>
                <a:chOff x="2026153" y="3372145"/>
                <a:chExt cx="1435954" cy="360000"/>
              </a:xfrm>
            </p:grpSpPr>
            <p:sp>
              <p:nvSpPr>
                <p:cNvPr id="58" name="Rectangle 57">
                  <a:extLst>
                    <a:ext uri="{FF2B5EF4-FFF2-40B4-BE49-F238E27FC236}">
                      <a16:creationId xmlns:a16="http://schemas.microsoft.com/office/drawing/2014/main" id="{DB93FFA2-695E-D6C3-ADF5-2CE7A53E82BB}"/>
                    </a:ext>
                  </a:extLst>
                </p:cNvPr>
                <p:cNvSpPr/>
                <p:nvPr/>
              </p:nvSpPr>
              <p:spPr>
                <a:xfrm rot="10800000">
                  <a:off x="3102107" y="3372145"/>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59" name="Rectangle 58">
                  <a:extLst>
                    <a:ext uri="{FF2B5EF4-FFF2-40B4-BE49-F238E27FC236}">
                      <a16:creationId xmlns:a16="http://schemas.microsoft.com/office/drawing/2014/main" id="{67EAA174-A238-DA05-F0F4-EE8B83D008CE}"/>
                    </a:ext>
                  </a:extLst>
                </p:cNvPr>
                <p:cNvSpPr/>
                <p:nvPr/>
              </p:nvSpPr>
              <p:spPr>
                <a:xfrm rot="10800000">
                  <a:off x="2743455" y="3372145"/>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sp>
              <p:nvSpPr>
                <p:cNvPr id="60" name="Rectangle 59">
                  <a:extLst>
                    <a:ext uri="{FF2B5EF4-FFF2-40B4-BE49-F238E27FC236}">
                      <a16:creationId xmlns:a16="http://schemas.microsoft.com/office/drawing/2014/main" id="{4116E98A-8F8F-5897-4B96-548D31E58895}"/>
                    </a:ext>
                  </a:extLst>
                </p:cNvPr>
                <p:cNvSpPr/>
                <p:nvPr/>
              </p:nvSpPr>
              <p:spPr>
                <a:xfrm rot="10800000">
                  <a:off x="2384804" y="3372145"/>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61" name="Rectangle 60">
                  <a:extLst>
                    <a:ext uri="{FF2B5EF4-FFF2-40B4-BE49-F238E27FC236}">
                      <a16:creationId xmlns:a16="http://schemas.microsoft.com/office/drawing/2014/main" id="{71DFA12C-858E-2941-C7F5-0F1A3440E3DB}"/>
                    </a:ext>
                  </a:extLst>
                </p:cNvPr>
                <p:cNvSpPr/>
                <p:nvPr/>
              </p:nvSpPr>
              <p:spPr>
                <a:xfrm rot="10800000">
                  <a:off x="2026153" y="3372145"/>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grpSp>
        </p:grpSp>
        <p:grpSp>
          <p:nvGrpSpPr>
            <p:cNvPr id="66" name="Group 65">
              <a:extLst>
                <a:ext uri="{FF2B5EF4-FFF2-40B4-BE49-F238E27FC236}">
                  <a16:creationId xmlns:a16="http://schemas.microsoft.com/office/drawing/2014/main" id="{F0DB5625-0CEE-05C9-3555-A25A9FB60092}"/>
                </a:ext>
              </a:extLst>
            </p:cNvPr>
            <p:cNvGrpSpPr/>
            <p:nvPr/>
          </p:nvGrpSpPr>
          <p:grpSpPr>
            <a:xfrm>
              <a:off x="2066049" y="2320886"/>
              <a:ext cx="1436630" cy="715607"/>
              <a:chOff x="2025477" y="3372145"/>
              <a:chExt cx="1436630" cy="715607"/>
            </a:xfrm>
          </p:grpSpPr>
          <p:grpSp>
            <p:nvGrpSpPr>
              <p:cNvPr id="67" name="Group 66">
                <a:extLst>
                  <a:ext uri="{FF2B5EF4-FFF2-40B4-BE49-F238E27FC236}">
                    <a16:creationId xmlns:a16="http://schemas.microsoft.com/office/drawing/2014/main" id="{F6EB7AD3-0EF6-03B9-6156-7314AA4874EC}"/>
                  </a:ext>
                </a:extLst>
              </p:cNvPr>
              <p:cNvGrpSpPr/>
              <p:nvPr/>
            </p:nvGrpSpPr>
            <p:grpSpPr>
              <a:xfrm>
                <a:off x="2026153" y="3372145"/>
                <a:ext cx="1435954" cy="360000"/>
                <a:chOff x="2026153" y="3372145"/>
                <a:chExt cx="1435954" cy="360000"/>
              </a:xfrm>
            </p:grpSpPr>
            <p:sp>
              <p:nvSpPr>
                <p:cNvPr id="73" name="Rectangle 72">
                  <a:extLst>
                    <a:ext uri="{FF2B5EF4-FFF2-40B4-BE49-F238E27FC236}">
                      <a16:creationId xmlns:a16="http://schemas.microsoft.com/office/drawing/2014/main" id="{93B4CC7B-6082-788F-3485-D235E47D5CC8}"/>
                    </a:ext>
                  </a:extLst>
                </p:cNvPr>
                <p:cNvSpPr/>
                <p:nvPr/>
              </p:nvSpPr>
              <p:spPr>
                <a:xfrm rot="10800000">
                  <a:off x="3102107" y="3372145"/>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74" name="Rectangle 73">
                  <a:extLst>
                    <a:ext uri="{FF2B5EF4-FFF2-40B4-BE49-F238E27FC236}">
                      <a16:creationId xmlns:a16="http://schemas.microsoft.com/office/drawing/2014/main" id="{F0546271-167B-0D98-FC1E-C9A09CDFFE32}"/>
                    </a:ext>
                  </a:extLst>
                </p:cNvPr>
                <p:cNvSpPr/>
                <p:nvPr/>
              </p:nvSpPr>
              <p:spPr>
                <a:xfrm rot="10800000">
                  <a:off x="2743455" y="3372145"/>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sp>
              <p:nvSpPr>
                <p:cNvPr id="75" name="Rectangle 74">
                  <a:extLst>
                    <a:ext uri="{FF2B5EF4-FFF2-40B4-BE49-F238E27FC236}">
                      <a16:creationId xmlns:a16="http://schemas.microsoft.com/office/drawing/2014/main" id="{59F428CC-E95E-8E61-F91F-48BDA0A0D284}"/>
                    </a:ext>
                  </a:extLst>
                </p:cNvPr>
                <p:cNvSpPr/>
                <p:nvPr/>
              </p:nvSpPr>
              <p:spPr>
                <a:xfrm rot="10800000">
                  <a:off x="2384804" y="3372145"/>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76" name="Rectangle 75">
                  <a:extLst>
                    <a:ext uri="{FF2B5EF4-FFF2-40B4-BE49-F238E27FC236}">
                      <a16:creationId xmlns:a16="http://schemas.microsoft.com/office/drawing/2014/main" id="{64D36E00-4C5E-DD5D-ACD0-465B8745F40D}"/>
                    </a:ext>
                  </a:extLst>
                </p:cNvPr>
                <p:cNvSpPr/>
                <p:nvPr/>
              </p:nvSpPr>
              <p:spPr>
                <a:xfrm rot="10800000">
                  <a:off x="2026153" y="3372145"/>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grpSp>
          <p:grpSp>
            <p:nvGrpSpPr>
              <p:cNvPr id="68" name="Group 67">
                <a:extLst>
                  <a:ext uri="{FF2B5EF4-FFF2-40B4-BE49-F238E27FC236}">
                    <a16:creationId xmlns:a16="http://schemas.microsoft.com/office/drawing/2014/main" id="{0C313BE6-ED82-7293-4FF0-EDAF9977E27B}"/>
                  </a:ext>
                </a:extLst>
              </p:cNvPr>
              <p:cNvGrpSpPr/>
              <p:nvPr/>
            </p:nvGrpSpPr>
            <p:grpSpPr>
              <a:xfrm rot="10800000">
                <a:off x="2025477" y="3727752"/>
                <a:ext cx="1435954" cy="360000"/>
                <a:chOff x="2026153" y="3372145"/>
                <a:chExt cx="1435954" cy="360000"/>
              </a:xfrm>
            </p:grpSpPr>
            <p:sp>
              <p:nvSpPr>
                <p:cNvPr id="69" name="Rectangle 68">
                  <a:extLst>
                    <a:ext uri="{FF2B5EF4-FFF2-40B4-BE49-F238E27FC236}">
                      <a16:creationId xmlns:a16="http://schemas.microsoft.com/office/drawing/2014/main" id="{1997099F-C443-9B90-CE1B-65F5BC9A101F}"/>
                    </a:ext>
                  </a:extLst>
                </p:cNvPr>
                <p:cNvSpPr/>
                <p:nvPr/>
              </p:nvSpPr>
              <p:spPr>
                <a:xfrm rot="10800000">
                  <a:off x="3102107" y="3372145"/>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70" name="Rectangle 69">
                  <a:extLst>
                    <a:ext uri="{FF2B5EF4-FFF2-40B4-BE49-F238E27FC236}">
                      <a16:creationId xmlns:a16="http://schemas.microsoft.com/office/drawing/2014/main" id="{48A32061-AF5E-2458-08EC-EE97F68234DB}"/>
                    </a:ext>
                  </a:extLst>
                </p:cNvPr>
                <p:cNvSpPr/>
                <p:nvPr/>
              </p:nvSpPr>
              <p:spPr>
                <a:xfrm rot="10800000">
                  <a:off x="2743455" y="3372145"/>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sp>
              <p:nvSpPr>
                <p:cNvPr id="71" name="Rectangle 70">
                  <a:extLst>
                    <a:ext uri="{FF2B5EF4-FFF2-40B4-BE49-F238E27FC236}">
                      <a16:creationId xmlns:a16="http://schemas.microsoft.com/office/drawing/2014/main" id="{6CDC5B29-A69A-1172-8239-1786BD906B52}"/>
                    </a:ext>
                  </a:extLst>
                </p:cNvPr>
                <p:cNvSpPr/>
                <p:nvPr/>
              </p:nvSpPr>
              <p:spPr>
                <a:xfrm rot="10800000">
                  <a:off x="2384804" y="3372145"/>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72" name="Rectangle 71">
                  <a:extLst>
                    <a:ext uri="{FF2B5EF4-FFF2-40B4-BE49-F238E27FC236}">
                      <a16:creationId xmlns:a16="http://schemas.microsoft.com/office/drawing/2014/main" id="{010C65DD-53AB-1B7B-3F30-6E58276CC001}"/>
                    </a:ext>
                  </a:extLst>
                </p:cNvPr>
                <p:cNvSpPr/>
                <p:nvPr/>
              </p:nvSpPr>
              <p:spPr>
                <a:xfrm rot="10800000">
                  <a:off x="2026153" y="3372145"/>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grpSp>
        </p:grpSp>
        <p:grpSp>
          <p:nvGrpSpPr>
            <p:cNvPr id="77" name="Group 76">
              <a:extLst>
                <a:ext uri="{FF2B5EF4-FFF2-40B4-BE49-F238E27FC236}">
                  <a16:creationId xmlns:a16="http://schemas.microsoft.com/office/drawing/2014/main" id="{33FC19A4-E7D2-3FCE-F51D-6393077575B5}"/>
                </a:ext>
              </a:extLst>
            </p:cNvPr>
            <p:cNvGrpSpPr/>
            <p:nvPr/>
          </p:nvGrpSpPr>
          <p:grpSpPr>
            <a:xfrm>
              <a:off x="3501240" y="3024621"/>
              <a:ext cx="1436630" cy="715607"/>
              <a:chOff x="2025477" y="3372145"/>
              <a:chExt cx="1436630" cy="715607"/>
            </a:xfrm>
          </p:grpSpPr>
          <p:grpSp>
            <p:nvGrpSpPr>
              <p:cNvPr id="78" name="Group 77">
                <a:extLst>
                  <a:ext uri="{FF2B5EF4-FFF2-40B4-BE49-F238E27FC236}">
                    <a16:creationId xmlns:a16="http://schemas.microsoft.com/office/drawing/2014/main" id="{775ACC64-6062-828E-AB46-191D5461FE57}"/>
                  </a:ext>
                </a:extLst>
              </p:cNvPr>
              <p:cNvGrpSpPr/>
              <p:nvPr/>
            </p:nvGrpSpPr>
            <p:grpSpPr>
              <a:xfrm>
                <a:off x="2026153" y="3372145"/>
                <a:ext cx="1435954" cy="360000"/>
                <a:chOff x="2026153" y="3372145"/>
                <a:chExt cx="1435954" cy="360000"/>
              </a:xfrm>
            </p:grpSpPr>
            <p:sp>
              <p:nvSpPr>
                <p:cNvPr id="84" name="Rectangle 83">
                  <a:extLst>
                    <a:ext uri="{FF2B5EF4-FFF2-40B4-BE49-F238E27FC236}">
                      <a16:creationId xmlns:a16="http://schemas.microsoft.com/office/drawing/2014/main" id="{704B9C18-459C-54A2-D4F5-D48A42F2A3F1}"/>
                    </a:ext>
                  </a:extLst>
                </p:cNvPr>
                <p:cNvSpPr/>
                <p:nvPr/>
              </p:nvSpPr>
              <p:spPr>
                <a:xfrm rot="10800000">
                  <a:off x="3102107" y="3372145"/>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85" name="Rectangle 84">
                  <a:extLst>
                    <a:ext uri="{FF2B5EF4-FFF2-40B4-BE49-F238E27FC236}">
                      <a16:creationId xmlns:a16="http://schemas.microsoft.com/office/drawing/2014/main" id="{D1A858F5-5CED-6D6E-7EF6-47F00CE9C089}"/>
                    </a:ext>
                  </a:extLst>
                </p:cNvPr>
                <p:cNvSpPr/>
                <p:nvPr/>
              </p:nvSpPr>
              <p:spPr>
                <a:xfrm rot="10800000">
                  <a:off x="2743455" y="3372145"/>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sp>
              <p:nvSpPr>
                <p:cNvPr id="86" name="Rectangle 85">
                  <a:extLst>
                    <a:ext uri="{FF2B5EF4-FFF2-40B4-BE49-F238E27FC236}">
                      <a16:creationId xmlns:a16="http://schemas.microsoft.com/office/drawing/2014/main" id="{E83D16B7-6A63-D402-28A9-9BC49440A0A6}"/>
                    </a:ext>
                  </a:extLst>
                </p:cNvPr>
                <p:cNvSpPr/>
                <p:nvPr/>
              </p:nvSpPr>
              <p:spPr>
                <a:xfrm rot="10800000">
                  <a:off x="2384804" y="3372145"/>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87" name="Rectangle 86">
                  <a:extLst>
                    <a:ext uri="{FF2B5EF4-FFF2-40B4-BE49-F238E27FC236}">
                      <a16:creationId xmlns:a16="http://schemas.microsoft.com/office/drawing/2014/main" id="{8C05D028-BFDB-FFC1-612E-1DC0253F44F0}"/>
                    </a:ext>
                  </a:extLst>
                </p:cNvPr>
                <p:cNvSpPr/>
                <p:nvPr/>
              </p:nvSpPr>
              <p:spPr>
                <a:xfrm rot="10800000">
                  <a:off x="2026153" y="3372145"/>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grpSp>
          <p:grpSp>
            <p:nvGrpSpPr>
              <p:cNvPr id="79" name="Group 78">
                <a:extLst>
                  <a:ext uri="{FF2B5EF4-FFF2-40B4-BE49-F238E27FC236}">
                    <a16:creationId xmlns:a16="http://schemas.microsoft.com/office/drawing/2014/main" id="{87AEADCF-978D-C9C8-827A-12FA8BD5B4AD}"/>
                  </a:ext>
                </a:extLst>
              </p:cNvPr>
              <p:cNvGrpSpPr/>
              <p:nvPr/>
            </p:nvGrpSpPr>
            <p:grpSpPr>
              <a:xfrm rot="10800000">
                <a:off x="2025477" y="3727752"/>
                <a:ext cx="1435954" cy="360000"/>
                <a:chOff x="2026153" y="3372145"/>
                <a:chExt cx="1435954" cy="360000"/>
              </a:xfrm>
            </p:grpSpPr>
            <p:sp>
              <p:nvSpPr>
                <p:cNvPr id="80" name="Rectangle 79">
                  <a:extLst>
                    <a:ext uri="{FF2B5EF4-FFF2-40B4-BE49-F238E27FC236}">
                      <a16:creationId xmlns:a16="http://schemas.microsoft.com/office/drawing/2014/main" id="{BC7EE7BF-EA7B-8E52-4263-6A9CA359A9FD}"/>
                    </a:ext>
                  </a:extLst>
                </p:cNvPr>
                <p:cNvSpPr/>
                <p:nvPr/>
              </p:nvSpPr>
              <p:spPr>
                <a:xfrm rot="10800000">
                  <a:off x="3102107" y="3372145"/>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81" name="Rectangle 80">
                  <a:extLst>
                    <a:ext uri="{FF2B5EF4-FFF2-40B4-BE49-F238E27FC236}">
                      <a16:creationId xmlns:a16="http://schemas.microsoft.com/office/drawing/2014/main" id="{1DB970B6-FCE9-AD81-B7BD-7AAA9E013A57}"/>
                    </a:ext>
                  </a:extLst>
                </p:cNvPr>
                <p:cNvSpPr/>
                <p:nvPr/>
              </p:nvSpPr>
              <p:spPr>
                <a:xfrm rot="10800000">
                  <a:off x="2743455" y="3372145"/>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sp>
              <p:nvSpPr>
                <p:cNvPr id="82" name="Rectangle 81">
                  <a:extLst>
                    <a:ext uri="{FF2B5EF4-FFF2-40B4-BE49-F238E27FC236}">
                      <a16:creationId xmlns:a16="http://schemas.microsoft.com/office/drawing/2014/main" id="{BDDB13B4-3DAB-C7F2-F95F-9580873CDC24}"/>
                    </a:ext>
                  </a:extLst>
                </p:cNvPr>
                <p:cNvSpPr/>
                <p:nvPr/>
              </p:nvSpPr>
              <p:spPr>
                <a:xfrm rot="10800000">
                  <a:off x="2384804" y="3372145"/>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83" name="Rectangle 82">
                  <a:extLst>
                    <a:ext uri="{FF2B5EF4-FFF2-40B4-BE49-F238E27FC236}">
                      <a16:creationId xmlns:a16="http://schemas.microsoft.com/office/drawing/2014/main" id="{E3913397-440F-B781-D9A3-19BCB9A1AEF7}"/>
                    </a:ext>
                  </a:extLst>
                </p:cNvPr>
                <p:cNvSpPr/>
                <p:nvPr/>
              </p:nvSpPr>
              <p:spPr>
                <a:xfrm rot="10800000">
                  <a:off x="2026153" y="3372145"/>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grpSp>
        </p:grpSp>
        <p:grpSp>
          <p:nvGrpSpPr>
            <p:cNvPr id="88" name="Group 87">
              <a:extLst>
                <a:ext uri="{FF2B5EF4-FFF2-40B4-BE49-F238E27FC236}">
                  <a16:creationId xmlns:a16="http://schemas.microsoft.com/office/drawing/2014/main" id="{F382C702-4320-5448-48A1-DA57913AD12E}"/>
                </a:ext>
              </a:extLst>
            </p:cNvPr>
            <p:cNvGrpSpPr/>
            <p:nvPr/>
          </p:nvGrpSpPr>
          <p:grpSpPr>
            <a:xfrm>
              <a:off x="3501240" y="2321980"/>
              <a:ext cx="1436630" cy="715607"/>
              <a:chOff x="2025477" y="3372145"/>
              <a:chExt cx="1436630" cy="715607"/>
            </a:xfrm>
          </p:grpSpPr>
          <p:grpSp>
            <p:nvGrpSpPr>
              <p:cNvPr id="89" name="Group 88">
                <a:extLst>
                  <a:ext uri="{FF2B5EF4-FFF2-40B4-BE49-F238E27FC236}">
                    <a16:creationId xmlns:a16="http://schemas.microsoft.com/office/drawing/2014/main" id="{1231C86A-57EF-FE80-6C7C-A8C7A25CB2B9}"/>
                  </a:ext>
                </a:extLst>
              </p:cNvPr>
              <p:cNvGrpSpPr/>
              <p:nvPr/>
            </p:nvGrpSpPr>
            <p:grpSpPr>
              <a:xfrm>
                <a:off x="2026153" y="3372145"/>
                <a:ext cx="1435954" cy="360000"/>
                <a:chOff x="2026153" y="3372145"/>
                <a:chExt cx="1435954" cy="360000"/>
              </a:xfrm>
            </p:grpSpPr>
            <p:sp>
              <p:nvSpPr>
                <p:cNvPr id="95" name="Rectangle 94">
                  <a:extLst>
                    <a:ext uri="{FF2B5EF4-FFF2-40B4-BE49-F238E27FC236}">
                      <a16:creationId xmlns:a16="http://schemas.microsoft.com/office/drawing/2014/main" id="{638DE951-A5AD-D436-7E85-09CD86C48B17}"/>
                    </a:ext>
                  </a:extLst>
                </p:cNvPr>
                <p:cNvSpPr/>
                <p:nvPr/>
              </p:nvSpPr>
              <p:spPr>
                <a:xfrm rot="10800000">
                  <a:off x="3102107" y="3372145"/>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96" name="Rectangle 95">
                  <a:extLst>
                    <a:ext uri="{FF2B5EF4-FFF2-40B4-BE49-F238E27FC236}">
                      <a16:creationId xmlns:a16="http://schemas.microsoft.com/office/drawing/2014/main" id="{D7BA0334-F43F-0131-CFEB-949D62B238D8}"/>
                    </a:ext>
                  </a:extLst>
                </p:cNvPr>
                <p:cNvSpPr/>
                <p:nvPr/>
              </p:nvSpPr>
              <p:spPr>
                <a:xfrm rot="10800000">
                  <a:off x="2743455" y="3372145"/>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sp>
              <p:nvSpPr>
                <p:cNvPr id="97" name="Rectangle 96">
                  <a:extLst>
                    <a:ext uri="{FF2B5EF4-FFF2-40B4-BE49-F238E27FC236}">
                      <a16:creationId xmlns:a16="http://schemas.microsoft.com/office/drawing/2014/main" id="{0A915691-572D-5EE2-4C97-EFCA4CAB31CB}"/>
                    </a:ext>
                  </a:extLst>
                </p:cNvPr>
                <p:cNvSpPr/>
                <p:nvPr/>
              </p:nvSpPr>
              <p:spPr>
                <a:xfrm rot="10800000">
                  <a:off x="2384804" y="3372145"/>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98" name="Rectangle 97">
                  <a:extLst>
                    <a:ext uri="{FF2B5EF4-FFF2-40B4-BE49-F238E27FC236}">
                      <a16:creationId xmlns:a16="http://schemas.microsoft.com/office/drawing/2014/main" id="{AEFD8827-B17D-61C3-146D-A4F8A3F0FEEB}"/>
                    </a:ext>
                  </a:extLst>
                </p:cNvPr>
                <p:cNvSpPr/>
                <p:nvPr/>
              </p:nvSpPr>
              <p:spPr>
                <a:xfrm rot="10800000">
                  <a:off x="2026153" y="3372145"/>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grpSp>
          <p:grpSp>
            <p:nvGrpSpPr>
              <p:cNvPr id="90" name="Group 89">
                <a:extLst>
                  <a:ext uri="{FF2B5EF4-FFF2-40B4-BE49-F238E27FC236}">
                    <a16:creationId xmlns:a16="http://schemas.microsoft.com/office/drawing/2014/main" id="{CCEA5C0D-0721-7401-A6EF-C32F20154162}"/>
                  </a:ext>
                </a:extLst>
              </p:cNvPr>
              <p:cNvGrpSpPr/>
              <p:nvPr/>
            </p:nvGrpSpPr>
            <p:grpSpPr>
              <a:xfrm rot="10800000">
                <a:off x="2025477" y="3727752"/>
                <a:ext cx="1435954" cy="360000"/>
                <a:chOff x="2026153" y="3372145"/>
                <a:chExt cx="1435954" cy="360000"/>
              </a:xfrm>
            </p:grpSpPr>
            <p:sp>
              <p:nvSpPr>
                <p:cNvPr id="91" name="Rectangle 90">
                  <a:extLst>
                    <a:ext uri="{FF2B5EF4-FFF2-40B4-BE49-F238E27FC236}">
                      <a16:creationId xmlns:a16="http://schemas.microsoft.com/office/drawing/2014/main" id="{D67D9BE2-9424-D21D-D664-1E84F0DDB688}"/>
                    </a:ext>
                  </a:extLst>
                </p:cNvPr>
                <p:cNvSpPr/>
                <p:nvPr/>
              </p:nvSpPr>
              <p:spPr>
                <a:xfrm rot="10800000">
                  <a:off x="3102107" y="3372145"/>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92" name="Rectangle 91">
                  <a:extLst>
                    <a:ext uri="{FF2B5EF4-FFF2-40B4-BE49-F238E27FC236}">
                      <a16:creationId xmlns:a16="http://schemas.microsoft.com/office/drawing/2014/main" id="{11F645BF-E70E-AE2C-4818-29BFD9241168}"/>
                    </a:ext>
                  </a:extLst>
                </p:cNvPr>
                <p:cNvSpPr/>
                <p:nvPr/>
              </p:nvSpPr>
              <p:spPr>
                <a:xfrm rot="10800000">
                  <a:off x="2743455" y="3372145"/>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sp>
              <p:nvSpPr>
                <p:cNvPr id="93" name="Rectangle 92">
                  <a:extLst>
                    <a:ext uri="{FF2B5EF4-FFF2-40B4-BE49-F238E27FC236}">
                      <a16:creationId xmlns:a16="http://schemas.microsoft.com/office/drawing/2014/main" id="{5804D5C3-C34D-142A-2D15-E68D0F08ACB9}"/>
                    </a:ext>
                  </a:extLst>
                </p:cNvPr>
                <p:cNvSpPr/>
                <p:nvPr/>
              </p:nvSpPr>
              <p:spPr>
                <a:xfrm rot="10800000">
                  <a:off x="2384804" y="3372145"/>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94" name="Rectangle 93">
                  <a:extLst>
                    <a:ext uri="{FF2B5EF4-FFF2-40B4-BE49-F238E27FC236}">
                      <a16:creationId xmlns:a16="http://schemas.microsoft.com/office/drawing/2014/main" id="{62B96141-DAC5-74AD-17F4-23D62F009AC2}"/>
                    </a:ext>
                  </a:extLst>
                </p:cNvPr>
                <p:cNvSpPr/>
                <p:nvPr/>
              </p:nvSpPr>
              <p:spPr>
                <a:xfrm rot="10800000">
                  <a:off x="2026153" y="3372145"/>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grpSp>
        </p:grpSp>
        <p:grpSp>
          <p:nvGrpSpPr>
            <p:cNvPr id="113" name="Group 112">
              <a:extLst>
                <a:ext uri="{FF2B5EF4-FFF2-40B4-BE49-F238E27FC236}">
                  <a16:creationId xmlns:a16="http://schemas.microsoft.com/office/drawing/2014/main" id="{0526B8A9-5D00-3C0C-F015-4FCC2EB48F02}"/>
                </a:ext>
              </a:extLst>
            </p:cNvPr>
            <p:cNvGrpSpPr/>
            <p:nvPr/>
          </p:nvGrpSpPr>
          <p:grpSpPr>
            <a:xfrm>
              <a:off x="4932720" y="2323079"/>
              <a:ext cx="362156" cy="2866887"/>
              <a:chOff x="4932720" y="2310982"/>
              <a:chExt cx="362156" cy="2866887"/>
            </a:xfrm>
          </p:grpSpPr>
          <p:grpSp>
            <p:nvGrpSpPr>
              <p:cNvPr id="103" name="Group 102">
                <a:extLst>
                  <a:ext uri="{FF2B5EF4-FFF2-40B4-BE49-F238E27FC236}">
                    <a16:creationId xmlns:a16="http://schemas.microsoft.com/office/drawing/2014/main" id="{E03D5D29-E230-073C-6213-F9D2B30B2BE5}"/>
                  </a:ext>
                </a:extLst>
              </p:cNvPr>
              <p:cNvGrpSpPr/>
              <p:nvPr/>
            </p:nvGrpSpPr>
            <p:grpSpPr>
              <a:xfrm rot="5400000">
                <a:off x="4394743" y="4279892"/>
                <a:ext cx="1435954" cy="360000"/>
                <a:chOff x="2026153" y="3372145"/>
                <a:chExt cx="1435954" cy="360000"/>
              </a:xfrm>
            </p:grpSpPr>
            <p:sp>
              <p:nvSpPr>
                <p:cNvPr id="109" name="Rectangle 108">
                  <a:extLst>
                    <a:ext uri="{FF2B5EF4-FFF2-40B4-BE49-F238E27FC236}">
                      <a16:creationId xmlns:a16="http://schemas.microsoft.com/office/drawing/2014/main" id="{97695209-0B1F-DB79-152F-85520154A741}"/>
                    </a:ext>
                  </a:extLst>
                </p:cNvPr>
                <p:cNvSpPr/>
                <p:nvPr/>
              </p:nvSpPr>
              <p:spPr>
                <a:xfrm rot="10800000">
                  <a:off x="3102107" y="3372145"/>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110" name="Rectangle 109">
                  <a:extLst>
                    <a:ext uri="{FF2B5EF4-FFF2-40B4-BE49-F238E27FC236}">
                      <a16:creationId xmlns:a16="http://schemas.microsoft.com/office/drawing/2014/main" id="{512ACFAE-3A43-D0EF-E4F7-49E186A3E665}"/>
                    </a:ext>
                  </a:extLst>
                </p:cNvPr>
                <p:cNvSpPr/>
                <p:nvPr/>
              </p:nvSpPr>
              <p:spPr>
                <a:xfrm rot="10800000">
                  <a:off x="2743455" y="3372145"/>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sp>
              <p:nvSpPr>
                <p:cNvPr id="111" name="Rectangle 110">
                  <a:extLst>
                    <a:ext uri="{FF2B5EF4-FFF2-40B4-BE49-F238E27FC236}">
                      <a16:creationId xmlns:a16="http://schemas.microsoft.com/office/drawing/2014/main" id="{EF7817B0-A8EC-5189-27AE-6564EAB8BE02}"/>
                    </a:ext>
                  </a:extLst>
                </p:cNvPr>
                <p:cNvSpPr/>
                <p:nvPr/>
              </p:nvSpPr>
              <p:spPr>
                <a:xfrm rot="10800000">
                  <a:off x="2384804" y="3372145"/>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112" name="Rectangle 111">
                  <a:extLst>
                    <a:ext uri="{FF2B5EF4-FFF2-40B4-BE49-F238E27FC236}">
                      <a16:creationId xmlns:a16="http://schemas.microsoft.com/office/drawing/2014/main" id="{18CBA08B-94E9-894E-B524-656173D6F86A}"/>
                    </a:ext>
                  </a:extLst>
                </p:cNvPr>
                <p:cNvSpPr/>
                <p:nvPr/>
              </p:nvSpPr>
              <p:spPr>
                <a:xfrm rot="10800000">
                  <a:off x="2026153" y="3372145"/>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grpSp>
          <p:grpSp>
            <p:nvGrpSpPr>
              <p:cNvPr id="104" name="Group 103">
                <a:extLst>
                  <a:ext uri="{FF2B5EF4-FFF2-40B4-BE49-F238E27FC236}">
                    <a16:creationId xmlns:a16="http://schemas.microsoft.com/office/drawing/2014/main" id="{42F22346-B484-742B-33EB-ADA27D26ED0E}"/>
                  </a:ext>
                </a:extLst>
              </p:cNvPr>
              <p:cNvGrpSpPr/>
              <p:nvPr/>
            </p:nvGrpSpPr>
            <p:grpSpPr>
              <a:xfrm rot="5400000">
                <a:off x="4396899" y="2848959"/>
                <a:ext cx="1435954" cy="360000"/>
                <a:chOff x="2026153" y="3372145"/>
                <a:chExt cx="1435954" cy="360000"/>
              </a:xfrm>
            </p:grpSpPr>
            <p:sp>
              <p:nvSpPr>
                <p:cNvPr id="105" name="Rectangle 104">
                  <a:extLst>
                    <a:ext uri="{FF2B5EF4-FFF2-40B4-BE49-F238E27FC236}">
                      <a16:creationId xmlns:a16="http://schemas.microsoft.com/office/drawing/2014/main" id="{8AE803AD-7A43-BD37-08E2-22CB6AE2C545}"/>
                    </a:ext>
                  </a:extLst>
                </p:cNvPr>
                <p:cNvSpPr/>
                <p:nvPr/>
              </p:nvSpPr>
              <p:spPr>
                <a:xfrm rot="10800000">
                  <a:off x="3102107" y="3372145"/>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106" name="Rectangle 105">
                  <a:extLst>
                    <a:ext uri="{FF2B5EF4-FFF2-40B4-BE49-F238E27FC236}">
                      <a16:creationId xmlns:a16="http://schemas.microsoft.com/office/drawing/2014/main" id="{80EDFD13-E634-729C-C500-AE0F0721845F}"/>
                    </a:ext>
                  </a:extLst>
                </p:cNvPr>
                <p:cNvSpPr/>
                <p:nvPr/>
              </p:nvSpPr>
              <p:spPr>
                <a:xfrm rot="10800000">
                  <a:off x="2743455" y="3372145"/>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sp>
              <p:nvSpPr>
                <p:cNvPr id="107" name="Rectangle 106">
                  <a:extLst>
                    <a:ext uri="{FF2B5EF4-FFF2-40B4-BE49-F238E27FC236}">
                      <a16:creationId xmlns:a16="http://schemas.microsoft.com/office/drawing/2014/main" id="{F6A031A7-6357-2409-2A81-4D68BF2E498A}"/>
                    </a:ext>
                  </a:extLst>
                </p:cNvPr>
                <p:cNvSpPr/>
                <p:nvPr/>
              </p:nvSpPr>
              <p:spPr>
                <a:xfrm rot="10800000">
                  <a:off x="2384804" y="3372145"/>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108" name="Rectangle 107">
                  <a:extLst>
                    <a:ext uri="{FF2B5EF4-FFF2-40B4-BE49-F238E27FC236}">
                      <a16:creationId xmlns:a16="http://schemas.microsoft.com/office/drawing/2014/main" id="{616FF125-6BD7-69B7-2061-30C3D0A71930}"/>
                    </a:ext>
                  </a:extLst>
                </p:cNvPr>
                <p:cNvSpPr/>
                <p:nvPr/>
              </p:nvSpPr>
              <p:spPr>
                <a:xfrm rot="10800000">
                  <a:off x="2026153" y="3372145"/>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grpSp>
        </p:grpSp>
        <p:grpSp>
          <p:nvGrpSpPr>
            <p:cNvPr id="114" name="Group 113">
              <a:extLst>
                <a:ext uri="{FF2B5EF4-FFF2-40B4-BE49-F238E27FC236}">
                  <a16:creationId xmlns:a16="http://schemas.microsoft.com/office/drawing/2014/main" id="{96E40F9C-9FAB-0252-B208-36F0469BFF1A}"/>
                </a:ext>
              </a:extLst>
            </p:cNvPr>
            <p:cNvGrpSpPr/>
            <p:nvPr/>
          </p:nvGrpSpPr>
          <p:grpSpPr>
            <a:xfrm rot="16200000">
              <a:off x="3316451" y="3912921"/>
              <a:ext cx="362156" cy="2866887"/>
              <a:chOff x="4932720" y="2310982"/>
              <a:chExt cx="362156" cy="2866887"/>
            </a:xfrm>
          </p:grpSpPr>
          <p:grpSp>
            <p:nvGrpSpPr>
              <p:cNvPr id="115" name="Group 114">
                <a:extLst>
                  <a:ext uri="{FF2B5EF4-FFF2-40B4-BE49-F238E27FC236}">
                    <a16:creationId xmlns:a16="http://schemas.microsoft.com/office/drawing/2014/main" id="{6ECFCAAA-2C1B-0F46-3FE5-8A1AE512D00A}"/>
                  </a:ext>
                </a:extLst>
              </p:cNvPr>
              <p:cNvGrpSpPr/>
              <p:nvPr/>
            </p:nvGrpSpPr>
            <p:grpSpPr>
              <a:xfrm rot="5400000">
                <a:off x="4394743" y="4279892"/>
                <a:ext cx="1435954" cy="360000"/>
                <a:chOff x="2026153" y="3372145"/>
                <a:chExt cx="1435954" cy="360000"/>
              </a:xfrm>
            </p:grpSpPr>
            <p:sp>
              <p:nvSpPr>
                <p:cNvPr id="121" name="Rectangle 120">
                  <a:extLst>
                    <a:ext uri="{FF2B5EF4-FFF2-40B4-BE49-F238E27FC236}">
                      <a16:creationId xmlns:a16="http://schemas.microsoft.com/office/drawing/2014/main" id="{221315F3-253A-A440-1B36-351054618045}"/>
                    </a:ext>
                  </a:extLst>
                </p:cNvPr>
                <p:cNvSpPr/>
                <p:nvPr/>
              </p:nvSpPr>
              <p:spPr>
                <a:xfrm rot="10800000">
                  <a:off x="3102107" y="3372145"/>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122" name="Rectangle 121">
                  <a:extLst>
                    <a:ext uri="{FF2B5EF4-FFF2-40B4-BE49-F238E27FC236}">
                      <a16:creationId xmlns:a16="http://schemas.microsoft.com/office/drawing/2014/main" id="{E6E73EA0-EADA-FBA0-895A-B8406B390F8A}"/>
                    </a:ext>
                  </a:extLst>
                </p:cNvPr>
                <p:cNvSpPr/>
                <p:nvPr/>
              </p:nvSpPr>
              <p:spPr>
                <a:xfrm rot="10800000">
                  <a:off x="2743455" y="3372145"/>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sp>
              <p:nvSpPr>
                <p:cNvPr id="123" name="Rectangle 122">
                  <a:extLst>
                    <a:ext uri="{FF2B5EF4-FFF2-40B4-BE49-F238E27FC236}">
                      <a16:creationId xmlns:a16="http://schemas.microsoft.com/office/drawing/2014/main" id="{8C252683-AABC-DB26-54EC-D9B8F21DE4BC}"/>
                    </a:ext>
                  </a:extLst>
                </p:cNvPr>
                <p:cNvSpPr/>
                <p:nvPr/>
              </p:nvSpPr>
              <p:spPr>
                <a:xfrm rot="10800000">
                  <a:off x="2384804" y="3372145"/>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124" name="Rectangle 123">
                  <a:extLst>
                    <a:ext uri="{FF2B5EF4-FFF2-40B4-BE49-F238E27FC236}">
                      <a16:creationId xmlns:a16="http://schemas.microsoft.com/office/drawing/2014/main" id="{02B6B313-A7C4-29D5-38D7-C8521FE44235}"/>
                    </a:ext>
                  </a:extLst>
                </p:cNvPr>
                <p:cNvSpPr/>
                <p:nvPr/>
              </p:nvSpPr>
              <p:spPr>
                <a:xfrm rot="10800000">
                  <a:off x="2026153" y="3372145"/>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grpSp>
          <p:grpSp>
            <p:nvGrpSpPr>
              <p:cNvPr id="116" name="Group 115">
                <a:extLst>
                  <a:ext uri="{FF2B5EF4-FFF2-40B4-BE49-F238E27FC236}">
                    <a16:creationId xmlns:a16="http://schemas.microsoft.com/office/drawing/2014/main" id="{0C02BF7C-1AD6-A91E-9FA9-AA3CB5DEA47D}"/>
                  </a:ext>
                </a:extLst>
              </p:cNvPr>
              <p:cNvGrpSpPr/>
              <p:nvPr/>
            </p:nvGrpSpPr>
            <p:grpSpPr>
              <a:xfrm rot="5400000">
                <a:off x="4396899" y="2848959"/>
                <a:ext cx="1435954" cy="360000"/>
                <a:chOff x="2026153" y="3372145"/>
                <a:chExt cx="1435954" cy="360000"/>
              </a:xfrm>
            </p:grpSpPr>
            <p:sp>
              <p:nvSpPr>
                <p:cNvPr id="117" name="Rectangle 116">
                  <a:extLst>
                    <a:ext uri="{FF2B5EF4-FFF2-40B4-BE49-F238E27FC236}">
                      <a16:creationId xmlns:a16="http://schemas.microsoft.com/office/drawing/2014/main" id="{B8498365-A4CA-1962-9CC9-0CBD43E1BE9C}"/>
                    </a:ext>
                  </a:extLst>
                </p:cNvPr>
                <p:cNvSpPr/>
                <p:nvPr/>
              </p:nvSpPr>
              <p:spPr>
                <a:xfrm rot="10800000">
                  <a:off x="3102107" y="3372145"/>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118" name="Rectangle 117">
                  <a:extLst>
                    <a:ext uri="{FF2B5EF4-FFF2-40B4-BE49-F238E27FC236}">
                      <a16:creationId xmlns:a16="http://schemas.microsoft.com/office/drawing/2014/main" id="{66A56271-8E89-4D4F-040D-72BC6BA33CC7}"/>
                    </a:ext>
                  </a:extLst>
                </p:cNvPr>
                <p:cNvSpPr/>
                <p:nvPr/>
              </p:nvSpPr>
              <p:spPr>
                <a:xfrm rot="10800000">
                  <a:off x="2743455" y="3372145"/>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sp>
              <p:nvSpPr>
                <p:cNvPr id="119" name="Rectangle 118">
                  <a:extLst>
                    <a:ext uri="{FF2B5EF4-FFF2-40B4-BE49-F238E27FC236}">
                      <a16:creationId xmlns:a16="http://schemas.microsoft.com/office/drawing/2014/main" id="{9E31F1EB-8D36-EDCA-2AA5-E6674696340E}"/>
                    </a:ext>
                  </a:extLst>
                </p:cNvPr>
                <p:cNvSpPr/>
                <p:nvPr/>
              </p:nvSpPr>
              <p:spPr>
                <a:xfrm rot="10800000">
                  <a:off x="2384804" y="3372145"/>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120" name="Rectangle 119">
                  <a:extLst>
                    <a:ext uri="{FF2B5EF4-FFF2-40B4-BE49-F238E27FC236}">
                      <a16:creationId xmlns:a16="http://schemas.microsoft.com/office/drawing/2014/main" id="{E2E1B664-A16C-D6B7-682F-52DCEB6466A8}"/>
                    </a:ext>
                  </a:extLst>
                </p:cNvPr>
                <p:cNvSpPr/>
                <p:nvPr/>
              </p:nvSpPr>
              <p:spPr>
                <a:xfrm rot="10800000">
                  <a:off x="2026153" y="3372145"/>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grpSp>
        </p:grpSp>
        <p:sp>
          <p:nvSpPr>
            <p:cNvPr id="125" name="Rectangle 124">
              <a:extLst>
                <a:ext uri="{FF2B5EF4-FFF2-40B4-BE49-F238E27FC236}">
                  <a16:creationId xmlns:a16="http://schemas.microsoft.com/office/drawing/2014/main" id="{C07CDF62-DF1B-A449-3B46-E1E8427C2E64}"/>
                </a:ext>
              </a:extLst>
            </p:cNvPr>
            <p:cNvSpPr/>
            <p:nvPr/>
          </p:nvSpPr>
          <p:spPr>
            <a:xfrm rot="10800000">
              <a:off x="4933374" y="5166383"/>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grpSp>
      <p:grpSp>
        <p:nvGrpSpPr>
          <p:cNvPr id="388" name="Group 387">
            <a:extLst>
              <a:ext uri="{FF2B5EF4-FFF2-40B4-BE49-F238E27FC236}">
                <a16:creationId xmlns:a16="http://schemas.microsoft.com/office/drawing/2014/main" id="{CF8850C7-CA38-4004-FE2D-8C044A34439A}"/>
              </a:ext>
            </a:extLst>
          </p:cNvPr>
          <p:cNvGrpSpPr/>
          <p:nvPr/>
        </p:nvGrpSpPr>
        <p:grpSpPr>
          <a:xfrm>
            <a:off x="4934936" y="2327417"/>
            <a:ext cx="2423093" cy="2404918"/>
            <a:chOff x="2064085" y="2320886"/>
            <a:chExt cx="3230791" cy="3206557"/>
          </a:xfrm>
        </p:grpSpPr>
        <p:grpSp>
          <p:nvGrpSpPr>
            <p:cNvPr id="389" name="Group 388">
              <a:extLst>
                <a:ext uri="{FF2B5EF4-FFF2-40B4-BE49-F238E27FC236}">
                  <a16:creationId xmlns:a16="http://schemas.microsoft.com/office/drawing/2014/main" id="{47928C6A-2E51-4310-DC55-0CFF6C2535DD}"/>
                </a:ext>
              </a:extLst>
            </p:cNvPr>
            <p:cNvGrpSpPr/>
            <p:nvPr/>
          </p:nvGrpSpPr>
          <p:grpSpPr>
            <a:xfrm>
              <a:off x="2064948" y="4463103"/>
              <a:ext cx="1436630" cy="715607"/>
              <a:chOff x="2025477" y="3372145"/>
              <a:chExt cx="1436630" cy="715607"/>
            </a:xfrm>
          </p:grpSpPr>
          <p:grpSp>
            <p:nvGrpSpPr>
              <p:cNvPr id="490" name="Group 489">
                <a:extLst>
                  <a:ext uri="{FF2B5EF4-FFF2-40B4-BE49-F238E27FC236}">
                    <a16:creationId xmlns:a16="http://schemas.microsoft.com/office/drawing/2014/main" id="{45422126-E3D1-BAA8-8D9F-0EC6863A281D}"/>
                  </a:ext>
                </a:extLst>
              </p:cNvPr>
              <p:cNvGrpSpPr/>
              <p:nvPr/>
            </p:nvGrpSpPr>
            <p:grpSpPr>
              <a:xfrm>
                <a:off x="2026153" y="3372145"/>
                <a:ext cx="1435954" cy="360000"/>
                <a:chOff x="2026153" y="3372145"/>
                <a:chExt cx="1435954" cy="360000"/>
              </a:xfrm>
            </p:grpSpPr>
            <p:sp>
              <p:nvSpPr>
                <p:cNvPr id="496" name="Rectangle 495">
                  <a:extLst>
                    <a:ext uri="{FF2B5EF4-FFF2-40B4-BE49-F238E27FC236}">
                      <a16:creationId xmlns:a16="http://schemas.microsoft.com/office/drawing/2014/main" id="{85151CE2-D135-1573-1C85-02AD6E3EDC46}"/>
                    </a:ext>
                  </a:extLst>
                </p:cNvPr>
                <p:cNvSpPr/>
                <p:nvPr/>
              </p:nvSpPr>
              <p:spPr>
                <a:xfrm rot="10800000">
                  <a:off x="3102107" y="3372145"/>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497" name="Rectangle 496">
                  <a:extLst>
                    <a:ext uri="{FF2B5EF4-FFF2-40B4-BE49-F238E27FC236}">
                      <a16:creationId xmlns:a16="http://schemas.microsoft.com/office/drawing/2014/main" id="{FBB8FC3A-B9E8-3F31-1987-EA3EC64A8585}"/>
                    </a:ext>
                  </a:extLst>
                </p:cNvPr>
                <p:cNvSpPr/>
                <p:nvPr/>
              </p:nvSpPr>
              <p:spPr>
                <a:xfrm rot="10800000">
                  <a:off x="2743455" y="3372145"/>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sp>
              <p:nvSpPr>
                <p:cNvPr id="498" name="Rectangle 497">
                  <a:extLst>
                    <a:ext uri="{FF2B5EF4-FFF2-40B4-BE49-F238E27FC236}">
                      <a16:creationId xmlns:a16="http://schemas.microsoft.com/office/drawing/2014/main" id="{BE91CDBD-F2CD-F288-865F-9A5B46C09770}"/>
                    </a:ext>
                  </a:extLst>
                </p:cNvPr>
                <p:cNvSpPr/>
                <p:nvPr/>
              </p:nvSpPr>
              <p:spPr>
                <a:xfrm rot="10800000">
                  <a:off x="2384804" y="3372145"/>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499" name="Rectangle 498">
                  <a:extLst>
                    <a:ext uri="{FF2B5EF4-FFF2-40B4-BE49-F238E27FC236}">
                      <a16:creationId xmlns:a16="http://schemas.microsoft.com/office/drawing/2014/main" id="{B322FFAC-B281-954E-3D4B-CFB816125140}"/>
                    </a:ext>
                  </a:extLst>
                </p:cNvPr>
                <p:cNvSpPr/>
                <p:nvPr/>
              </p:nvSpPr>
              <p:spPr>
                <a:xfrm rot="10800000">
                  <a:off x="2026153" y="3372145"/>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grpSp>
          <p:grpSp>
            <p:nvGrpSpPr>
              <p:cNvPr id="491" name="Group 490">
                <a:extLst>
                  <a:ext uri="{FF2B5EF4-FFF2-40B4-BE49-F238E27FC236}">
                    <a16:creationId xmlns:a16="http://schemas.microsoft.com/office/drawing/2014/main" id="{13C0DA36-FF28-A635-0F3C-6E614879FE3A}"/>
                  </a:ext>
                </a:extLst>
              </p:cNvPr>
              <p:cNvGrpSpPr/>
              <p:nvPr/>
            </p:nvGrpSpPr>
            <p:grpSpPr>
              <a:xfrm rot="10800000">
                <a:off x="2025477" y="3727752"/>
                <a:ext cx="1435954" cy="360000"/>
                <a:chOff x="2026153" y="3372145"/>
                <a:chExt cx="1435954" cy="360000"/>
              </a:xfrm>
            </p:grpSpPr>
            <p:sp>
              <p:nvSpPr>
                <p:cNvPr id="492" name="Rectangle 491">
                  <a:extLst>
                    <a:ext uri="{FF2B5EF4-FFF2-40B4-BE49-F238E27FC236}">
                      <a16:creationId xmlns:a16="http://schemas.microsoft.com/office/drawing/2014/main" id="{EC04B51A-DAF1-AB12-B6A5-D9BD25B5926A}"/>
                    </a:ext>
                  </a:extLst>
                </p:cNvPr>
                <p:cNvSpPr/>
                <p:nvPr/>
              </p:nvSpPr>
              <p:spPr>
                <a:xfrm rot="10800000">
                  <a:off x="3102107" y="3372145"/>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493" name="Rectangle 492">
                  <a:extLst>
                    <a:ext uri="{FF2B5EF4-FFF2-40B4-BE49-F238E27FC236}">
                      <a16:creationId xmlns:a16="http://schemas.microsoft.com/office/drawing/2014/main" id="{9C68B804-4FBB-E8A7-61E5-8CB3FD6058D5}"/>
                    </a:ext>
                  </a:extLst>
                </p:cNvPr>
                <p:cNvSpPr/>
                <p:nvPr/>
              </p:nvSpPr>
              <p:spPr>
                <a:xfrm rot="10800000">
                  <a:off x="2743455" y="3372145"/>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sp>
              <p:nvSpPr>
                <p:cNvPr id="494" name="Rectangle 493">
                  <a:extLst>
                    <a:ext uri="{FF2B5EF4-FFF2-40B4-BE49-F238E27FC236}">
                      <a16:creationId xmlns:a16="http://schemas.microsoft.com/office/drawing/2014/main" id="{7D620AE6-FE16-C873-8A63-5A597E7C67CB}"/>
                    </a:ext>
                  </a:extLst>
                </p:cNvPr>
                <p:cNvSpPr/>
                <p:nvPr/>
              </p:nvSpPr>
              <p:spPr>
                <a:xfrm rot="10800000">
                  <a:off x="2384804" y="3372145"/>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495" name="Rectangle 494">
                  <a:extLst>
                    <a:ext uri="{FF2B5EF4-FFF2-40B4-BE49-F238E27FC236}">
                      <a16:creationId xmlns:a16="http://schemas.microsoft.com/office/drawing/2014/main" id="{EF1C31FF-BE7A-1B05-4C5C-037CCC9150FD}"/>
                    </a:ext>
                  </a:extLst>
                </p:cNvPr>
                <p:cNvSpPr/>
                <p:nvPr/>
              </p:nvSpPr>
              <p:spPr>
                <a:xfrm rot="10800000">
                  <a:off x="2026153" y="3372145"/>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grpSp>
        </p:grpSp>
        <p:grpSp>
          <p:nvGrpSpPr>
            <p:cNvPr id="390" name="Group 389">
              <a:extLst>
                <a:ext uri="{FF2B5EF4-FFF2-40B4-BE49-F238E27FC236}">
                  <a16:creationId xmlns:a16="http://schemas.microsoft.com/office/drawing/2014/main" id="{C6689AFF-770C-59BD-8735-7D93BD21CA36}"/>
                </a:ext>
              </a:extLst>
            </p:cNvPr>
            <p:cNvGrpSpPr/>
            <p:nvPr/>
          </p:nvGrpSpPr>
          <p:grpSpPr>
            <a:xfrm>
              <a:off x="2064948" y="3747306"/>
              <a:ext cx="1436630" cy="715607"/>
              <a:chOff x="2025477" y="3372145"/>
              <a:chExt cx="1436630" cy="715607"/>
            </a:xfrm>
          </p:grpSpPr>
          <p:grpSp>
            <p:nvGrpSpPr>
              <p:cNvPr id="480" name="Group 479">
                <a:extLst>
                  <a:ext uri="{FF2B5EF4-FFF2-40B4-BE49-F238E27FC236}">
                    <a16:creationId xmlns:a16="http://schemas.microsoft.com/office/drawing/2014/main" id="{FABC23E5-6984-DA19-94B7-E8CF89C20D73}"/>
                  </a:ext>
                </a:extLst>
              </p:cNvPr>
              <p:cNvGrpSpPr/>
              <p:nvPr/>
            </p:nvGrpSpPr>
            <p:grpSpPr>
              <a:xfrm>
                <a:off x="2026153" y="3372145"/>
                <a:ext cx="1435954" cy="360000"/>
                <a:chOff x="2026153" y="3372145"/>
                <a:chExt cx="1435954" cy="360000"/>
              </a:xfrm>
            </p:grpSpPr>
            <p:sp>
              <p:nvSpPr>
                <p:cNvPr id="486" name="Rectangle 485">
                  <a:extLst>
                    <a:ext uri="{FF2B5EF4-FFF2-40B4-BE49-F238E27FC236}">
                      <a16:creationId xmlns:a16="http://schemas.microsoft.com/office/drawing/2014/main" id="{F90FBA15-94F4-E108-9D68-65FF4E321023}"/>
                    </a:ext>
                  </a:extLst>
                </p:cNvPr>
                <p:cNvSpPr/>
                <p:nvPr/>
              </p:nvSpPr>
              <p:spPr>
                <a:xfrm rot="10800000">
                  <a:off x="3102107" y="3372145"/>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487" name="Rectangle 486">
                  <a:extLst>
                    <a:ext uri="{FF2B5EF4-FFF2-40B4-BE49-F238E27FC236}">
                      <a16:creationId xmlns:a16="http://schemas.microsoft.com/office/drawing/2014/main" id="{65D44F05-A849-A92D-66B3-A33D975592EA}"/>
                    </a:ext>
                  </a:extLst>
                </p:cNvPr>
                <p:cNvSpPr/>
                <p:nvPr/>
              </p:nvSpPr>
              <p:spPr>
                <a:xfrm rot="10800000">
                  <a:off x="2743455" y="3372145"/>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sp>
              <p:nvSpPr>
                <p:cNvPr id="488" name="Rectangle 487">
                  <a:extLst>
                    <a:ext uri="{FF2B5EF4-FFF2-40B4-BE49-F238E27FC236}">
                      <a16:creationId xmlns:a16="http://schemas.microsoft.com/office/drawing/2014/main" id="{E40E367F-7C4C-8835-B0B9-643A24BBA9CD}"/>
                    </a:ext>
                  </a:extLst>
                </p:cNvPr>
                <p:cNvSpPr/>
                <p:nvPr/>
              </p:nvSpPr>
              <p:spPr>
                <a:xfrm rot="10800000">
                  <a:off x="2384804" y="3372145"/>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489" name="Rectangle 488">
                  <a:extLst>
                    <a:ext uri="{FF2B5EF4-FFF2-40B4-BE49-F238E27FC236}">
                      <a16:creationId xmlns:a16="http://schemas.microsoft.com/office/drawing/2014/main" id="{023C580D-53B8-5572-3482-D4E5335109AE}"/>
                    </a:ext>
                  </a:extLst>
                </p:cNvPr>
                <p:cNvSpPr/>
                <p:nvPr/>
              </p:nvSpPr>
              <p:spPr>
                <a:xfrm rot="10800000">
                  <a:off x="2026153" y="3372145"/>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grpSp>
          <p:grpSp>
            <p:nvGrpSpPr>
              <p:cNvPr id="481" name="Group 480">
                <a:extLst>
                  <a:ext uri="{FF2B5EF4-FFF2-40B4-BE49-F238E27FC236}">
                    <a16:creationId xmlns:a16="http://schemas.microsoft.com/office/drawing/2014/main" id="{6AD53DBB-D6ED-20F9-76DA-89EFDE7A00CE}"/>
                  </a:ext>
                </a:extLst>
              </p:cNvPr>
              <p:cNvGrpSpPr/>
              <p:nvPr/>
            </p:nvGrpSpPr>
            <p:grpSpPr>
              <a:xfrm rot="10800000">
                <a:off x="2025477" y="3727752"/>
                <a:ext cx="1435954" cy="360000"/>
                <a:chOff x="2026153" y="3372145"/>
                <a:chExt cx="1435954" cy="360000"/>
              </a:xfrm>
            </p:grpSpPr>
            <p:sp>
              <p:nvSpPr>
                <p:cNvPr id="482" name="Rectangle 481">
                  <a:extLst>
                    <a:ext uri="{FF2B5EF4-FFF2-40B4-BE49-F238E27FC236}">
                      <a16:creationId xmlns:a16="http://schemas.microsoft.com/office/drawing/2014/main" id="{D2C820FF-6169-8C34-BB06-62D2A1AD35E6}"/>
                    </a:ext>
                  </a:extLst>
                </p:cNvPr>
                <p:cNvSpPr/>
                <p:nvPr/>
              </p:nvSpPr>
              <p:spPr>
                <a:xfrm rot="10800000">
                  <a:off x="3102107" y="3372145"/>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483" name="Rectangle 482">
                  <a:extLst>
                    <a:ext uri="{FF2B5EF4-FFF2-40B4-BE49-F238E27FC236}">
                      <a16:creationId xmlns:a16="http://schemas.microsoft.com/office/drawing/2014/main" id="{CFCD5E29-80B1-8117-9B62-A456ACCE3284}"/>
                    </a:ext>
                  </a:extLst>
                </p:cNvPr>
                <p:cNvSpPr/>
                <p:nvPr/>
              </p:nvSpPr>
              <p:spPr>
                <a:xfrm rot="10800000">
                  <a:off x="2743455" y="3372145"/>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sp>
              <p:nvSpPr>
                <p:cNvPr id="484" name="Rectangle 483">
                  <a:extLst>
                    <a:ext uri="{FF2B5EF4-FFF2-40B4-BE49-F238E27FC236}">
                      <a16:creationId xmlns:a16="http://schemas.microsoft.com/office/drawing/2014/main" id="{266D3962-CB5A-ADD7-6CBA-5AAC80B2F273}"/>
                    </a:ext>
                  </a:extLst>
                </p:cNvPr>
                <p:cNvSpPr/>
                <p:nvPr/>
              </p:nvSpPr>
              <p:spPr>
                <a:xfrm rot="10800000">
                  <a:off x="2384804" y="3372145"/>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485" name="Rectangle 484">
                  <a:extLst>
                    <a:ext uri="{FF2B5EF4-FFF2-40B4-BE49-F238E27FC236}">
                      <a16:creationId xmlns:a16="http://schemas.microsoft.com/office/drawing/2014/main" id="{174EEFAA-FCFA-C8EC-D6FB-64A806EEDACF}"/>
                    </a:ext>
                  </a:extLst>
                </p:cNvPr>
                <p:cNvSpPr/>
                <p:nvPr/>
              </p:nvSpPr>
              <p:spPr>
                <a:xfrm rot="10800000">
                  <a:off x="2026153" y="3372145"/>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grpSp>
        </p:grpSp>
        <p:grpSp>
          <p:nvGrpSpPr>
            <p:cNvPr id="391" name="Group 390">
              <a:extLst>
                <a:ext uri="{FF2B5EF4-FFF2-40B4-BE49-F238E27FC236}">
                  <a16:creationId xmlns:a16="http://schemas.microsoft.com/office/drawing/2014/main" id="{A8DF9A74-F6CF-CD78-9F22-4272EB9DB8DD}"/>
                </a:ext>
              </a:extLst>
            </p:cNvPr>
            <p:cNvGrpSpPr/>
            <p:nvPr/>
          </p:nvGrpSpPr>
          <p:grpSpPr>
            <a:xfrm>
              <a:off x="3500139" y="4457619"/>
              <a:ext cx="1436630" cy="715607"/>
              <a:chOff x="2025477" y="3372145"/>
              <a:chExt cx="1436630" cy="715607"/>
            </a:xfrm>
          </p:grpSpPr>
          <p:grpSp>
            <p:nvGrpSpPr>
              <p:cNvPr id="470" name="Group 469">
                <a:extLst>
                  <a:ext uri="{FF2B5EF4-FFF2-40B4-BE49-F238E27FC236}">
                    <a16:creationId xmlns:a16="http://schemas.microsoft.com/office/drawing/2014/main" id="{12913F52-F91E-BC6F-54C1-9B662EE95395}"/>
                  </a:ext>
                </a:extLst>
              </p:cNvPr>
              <p:cNvGrpSpPr/>
              <p:nvPr/>
            </p:nvGrpSpPr>
            <p:grpSpPr>
              <a:xfrm>
                <a:off x="2026153" y="3372145"/>
                <a:ext cx="1435954" cy="360000"/>
                <a:chOff x="2026153" y="3372145"/>
                <a:chExt cx="1435954" cy="360000"/>
              </a:xfrm>
            </p:grpSpPr>
            <p:sp>
              <p:nvSpPr>
                <p:cNvPr id="476" name="Rectangle 475">
                  <a:extLst>
                    <a:ext uri="{FF2B5EF4-FFF2-40B4-BE49-F238E27FC236}">
                      <a16:creationId xmlns:a16="http://schemas.microsoft.com/office/drawing/2014/main" id="{83B457A7-C43A-E27F-0AB4-6261625D9801}"/>
                    </a:ext>
                  </a:extLst>
                </p:cNvPr>
                <p:cNvSpPr/>
                <p:nvPr/>
              </p:nvSpPr>
              <p:spPr>
                <a:xfrm rot="10800000">
                  <a:off x="3102107" y="3372145"/>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477" name="Rectangle 476">
                  <a:extLst>
                    <a:ext uri="{FF2B5EF4-FFF2-40B4-BE49-F238E27FC236}">
                      <a16:creationId xmlns:a16="http://schemas.microsoft.com/office/drawing/2014/main" id="{15A7178C-3B4C-3707-2FA8-2F7627BC309D}"/>
                    </a:ext>
                  </a:extLst>
                </p:cNvPr>
                <p:cNvSpPr/>
                <p:nvPr/>
              </p:nvSpPr>
              <p:spPr>
                <a:xfrm rot="10800000">
                  <a:off x="2743455" y="3372145"/>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sp>
              <p:nvSpPr>
                <p:cNvPr id="478" name="Rectangle 477">
                  <a:extLst>
                    <a:ext uri="{FF2B5EF4-FFF2-40B4-BE49-F238E27FC236}">
                      <a16:creationId xmlns:a16="http://schemas.microsoft.com/office/drawing/2014/main" id="{B4D28B95-11FC-7FB7-47B4-B0756C7F1391}"/>
                    </a:ext>
                  </a:extLst>
                </p:cNvPr>
                <p:cNvSpPr/>
                <p:nvPr/>
              </p:nvSpPr>
              <p:spPr>
                <a:xfrm rot="10800000">
                  <a:off x="2384804" y="3372145"/>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479" name="Rectangle 478">
                  <a:extLst>
                    <a:ext uri="{FF2B5EF4-FFF2-40B4-BE49-F238E27FC236}">
                      <a16:creationId xmlns:a16="http://schemas.microsoft.com/office/drawing/2014/main" id="{3166979A-8B87-E365-E481-E8BC1F4EDC5C}"/>
                    </a:ext>
                  </a:extLst>
                </p:cNvPr>
                <p:cNvSpPr/>
                <p:nvPr/>
              </p:nvSpPr>
              <p:spPr>
                <a:xfrm rot="10800000">
                  <a:off x="2026153" y="3372145"/>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grpSp>
          <p:grpSp>
            <p:nvGrpSpPr>
              <p:cNvPr id="471" name="Group 470">
                <a:extLst>
                  <a:ext uri="{FF2B5EF4-FFF2-40B4-BE49-F238E27FC236}">
                    <a16:creationId xmlns:a16="http://schemas.microsoft.com/office/drawing/2014/main" id="{2CC76CFC-87E4-A4E5-C203-EAF9B123E6A1}"/>
                  </a:ext>
                </a:extLst>
              </p:cNvPr>
              <p:cNvGrpSpPr/>
              <p:nvPr/>
            </p:nvGrpSpPr>
            <p:grpSpPr>
              <a:xfrm rot="10800000">
                <a:off x="2025477" y="3727752"/>
                <a:ext cx="1435954" cy="360000"/>
                <a:chOff x="2026153" y="3372145"/>
                <a:chExt cx="1435954" cy="360000"/>
              </a:xfrm>
            </p:grpSpPr>
            <p:sp>
              <p:nvSpPr>
                <p:cNvPr id="472" name="Rectangle 471">
                  <a:extLst>
                    <a:ext uri="{FF2B5EF4-FFF2-40B4-BE49-F238E27FC236}">
                      <a16:creationId xmlns:a16="http://schemas.microsoft.com/office/drawing/2014/main" id="{5C394E54-4137-2DB4-6A0B-E7020F6D627C}"/>
                    </a:ext>
                  </a:extLst>
                </p:cNvPr>
                <p:cNvSpPr/>
                <p:nvPr/>
              </p:nvSpPr>
              <p:spPr>
                <a:xfrm rot="10800000">
                  <a:off x="3102107" y="3372145"/>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473" name="Rectangle 472">
                  <a:extLst>
                    <a:ext uri="{FF2B5EF4-FFF2-40B4-BE49-F238E27FC236}">
                      <a16:creationId xmlns:a16="http://schemas.microsoft.com/office/drawing/2014/main" id="{E69FE87E-7FB5-351C-F373-9F0722BD059A}"/>
                    </a:ext>
                  </a:extLst>
                </p:cNvPr>
                <p:cNvSpPr/>
                <p:nvPr/>
              </p:nvSpPr>
              <p:spPr>
                <a:xfrm rot="10800000">
                  <a:off x="2743455" y="3372145"/>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sp>
              <p:nvSpPr>
                <p:cNvPr id="474" name="Rectangle 473">
                  <a:extLst>
                    <a:ext uri="{FF2B5EF4-FFF2-40B4-BE49-F238E27FC236}">
                      <a16:creationId xmlns:a16="http://schemas.microsoft.com/office/drawing/2014/main" id="{11BFD434-7596-031D-4DB6-0E2997E3957B}"/>
                    </a:ext>
                  </a:extLst>
                </p:cNvPr>
                <p:cNvSpPr/>
                <p:nvPr/>
              </p:nvSpPr>
              <p:spPr>
                <a:xfrm rot="10800000">
                  <a:off x="2384804" y="3372145"/>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475" name="Rectangle 474">
                  <a:extLst>
                    <a:ext uri="{FF2B5EF4-FFF2-40B4-BE49-F238E27FC236}">
                      <a16:creationId xmlns:a16="http://schemas.microsoft.com/office/drawing/2014/main" id="{B75F3B85-F932-11B8-3DA5-6198CF4FFCB1}"/>
                    </a:ext>
                  </a:extLst>
                </p:cNvPr>
                <p:cNvSpPr/>
                <p:nvPr/>
              </p:nvSpPr>
              <p:spPr>
                <a:xfrm rot="10800000">
                  <a:off x="2026153" y="3372145"/>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grpSp>
        </p:grpSp>
        <p:grpSp>
          <p:nvGrpSpPr>
            <p:cNvPr id="392" name="Group 391">
              <a:extLst>
                <a:ext uri="{FF2B5EF4-FFF2-40B4-BE49-F238E27FC236}">
                  <a16:creationId xmlns:a16="http://schemas.microsoft.com/office/drawing/2014/main" id="{AD6CE357-2A6A-88C0-CCC1-2F0D26018B9B}"/>
                </a:ext>
              </a:extLst>
            </p:cNvPr>
            <p:cNvGrpSpPr/>
            <p:nvPr/>
          </p:nvGrpSpPr>
          <p:grpSpPr>
            <a:xfrm>
              <a:off x="3500139" y="3741822"/>
              <a:ext cx="1436630" cy="715607"/>
              <a:chOff x="2025477" y="3372145"/>
              <a:chExt cx="1436630" cy="715607"/>
            </a:xfrm>
          </p:grpSpPr>
          <p:grpSp>
            <p:nvGrpSpPr>
              <p:cNvPr id="460" name="Group 459">
                <a:extLst>
                  <a:ext uri="{FF2B5EF4-FFF2-40B4-BE49-F238E27FC236}">
                    <a16:creationId xmlns:a16="http://schemas.microsoft.com/office/drawing/2014/main" id="{E357A305-C0ED-5ED9-8F5E-A8B8A0735794}"/>
                  </a:ext>
                </a:extLst>
              </p:cNvPr>
              <p:cNvGrpSpPr/>
              <p:nvPr/>
            </p:nvGrpSpPr>
            <p:grpSpPr>
              <a:xfrm>
                <a:off x="2026153" y="3372145"/>
                <a:ext cx="1435954" cy="360000"/>
                <a:chOff x="2026153" y="3372145"/>
                <a:chExt cx="1435954" cy="360000"/>
              </a:xfrm>
            </p:grpSpPr>
            <p:sp>
              <p:nvSpPr>
                <p:cNvPr id="466" name="Rectangle 465">
                  <a:extLst>
                    <a:ext uri="{FF2B5EF4-FFF2-40B4-BE49-F238E27FC236}">
                      <a16:creationId xmlns:a16="http://schemas.microsoft.com/office/drawing/2014/main" id="{2A90B0E4-4E95-4E28-84BA-DE1763A30AA8}"/>
                    </a:ext>
                  </a:extLst>
                </p:cNvPr>
                <p:cNvSpPr/>
                <p:nvPr/>
              </p:nvSpPr>
              <p:spPr>
                <a:xfrm rot="10800000">
                  <a:off x="3102107" y="3372145"/>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467" name="Rectangle 466">
                  <a:extLst>
                    <a:ext uri="{FF2B5EF4-FFF2-40B4-BE49-F238E27FC236}">
                      <a16:creationId xmlns:a16="http://schemas.microsoft.com/office/drawing/2014/main" id="{510FCF89-0908-B0D9-0DB1-85DD28B6B76D}"/>
                    </a:ext>
                  </a:extLst>
                </p:cNvPr>
                <p:cNvSpPr/>
                <p:nvPr/>
              </p:nvSpPr>
              <p:spPr>
                <a:xfrm rot="10800000">
                  <a:off x="2743455" y="3372145"/>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sp>
              <p:nvSpPr>
                <p:cNvPr id="468" name="Rectangle 467">
                  <a:extLst>
                    <a:ext uri="{FF2B5EF4-FFF2-40B4-BE49-F238E27FC236}">
                      <a16:creationId xmlns:a16="http://schemas.microsoft.com/office/drawing/2014/main" id="{F7D9B3E2-77F7-E3A6-812E-53763FFF0C15}"/>
                    </a:ext>
                  </a:extLst>
                </p:cNvPr>
                <p:cNvSpPr/>
                <p:nvPr/>
              </p:nvSpPr>
              <p:spPr>
                <a:xfrm rot="10800000">
                  <a:off x="2384804" y="3372145"/>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469" name="Rectangle 468">
                  <a:extLst>
                    <a:ext uri="{FF2B5EF4-FFF2-40B4-BE49-F238E27FC236}">
                      <a16:creationId xmlns:a16="http://schemas.microsoft.com/office/drawing/2014/main" id="{88A78A01-BCF3-0875-B1A4-3DA8CE25F8F7}"/>
                    </a:ext>
                  </a:extLst>
                </p:cNvPr>
                <p:cNvSpPr/>
                <p:nvPr/>
              </p:nvSpPr>
              <p:spPr>
                <a:xfrm rot="10800000">
                  <a:off x="2026153" y="3372145"/>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grpSp>
          <p:grpSp>
            <p:nvGrpSpPr>
              <p:cNvPr id="461" name="Group 460">
                <a:extLst>
                  <a:ext uri="{FF2B5EF4-FFF2-40B4-BE49-F238E27FC236}">
                    <a16:creationId xmlns:a16="http://schemas.microsoft.com/office/drawing/2014/main" id="{3C698D42-97EF-3601-32FB-17BFB7A2D6E9}"/>
                  </a:ext>
                </a:extLst>
              </p:cNvPr>
              <p:cNvGrpSpPr/>
              <p:nvPr/>
            </p:nvGrpSpPr>
            <p:grpSpPr>
              <a:xfrm rot="10800000">
                <a:off x="2025477" y="3727752"/>
                <a:ext cx="1435954" cy="360000"/>
                <a:chOff x="2026153" y="3372145"/>
                <a:chExt cx="1435954" cy="360000"/>
              </a:xfrm>
            </p:grpSpPr>
            <p:sp>
              <p:nvSpPr>
                <p:cNvPr id="462" name="Rectangle 461">
                  <a:extLst>
                    <a:ext uri="{FF2B5EF4-FFF2-40B4-BE49-F238E27FC236}">
                      <a16:creationId xmlns:a16="http://schemas.microsoft.com/office/drawing/2014/main" id="{573CD0C5-F4E6-3AA2-91DA-A62020BD5868}"/>
                    </a:ext>
                  </a:extLst>
                </p:cNvPr>
                <p:cNvSpPr/>
                <p:nvPr/>
              </p:nvSpPr>
              <p:spPr>
                <a:xfrm rot="10800000">
                  <a:off x="3102107" y="3372145"/>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463" name="Rectangle 462">
                  <a:extLst>
                    <a:ext uri="{FF2B5EF4-FFF2-40B4-BE49-F238E27FC236}">
                      <a16:creationId xmlns:a16="http://schemas.microsoft.com/office/drawing/2014/main" id="{9482C181-696D-0943-80BB-B6E884BD7AAF}"/>
                    </a:ext>
                  </a:extLst>
                </p:cNvPr>
                <p:cNvSpPr/>
                <p:nvPr/>
              </p:nvSpPr>
              <p:spPr>
                <a:xfrm rot="10800000">
                  <a:off x="2743455" y="3372145"/>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sp>
              <p:nvSpPr>
                <p:cNvPr id="464" name="Rectangle 463">
                  <a:extLst>
                    <a:ext uri="{FF2B5EF4-FFF2-40B4-BE49-F238E27FC236}">
                      <a16:creationId xmlns:a16="http://schemas.microsoft.com/office/drawing/2014/main" id="{1DAB4184-74B1-57CB-EBEC-2D8A08EC5F30}"/>
                    </a:ext>
                  </a:extLst>
                </p:cNvPr>
                <p:cNvSpPr/>
                <p:nvPr/>
              </p:nvSpPr>
              <p:spPr>
                <a:xfrm rot="10800000">
                  <a:off x="2384804" y="3372145"/>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465" name="Rectangle 464">
                  <a:extLst>
                    <a:ext uri="{FF2B5EF4-FFF2-40B4-BE49-F238E27FC236}">
                      <a16:creationId xmlns:a16="http://schemas.microsoft.com/office/drawing/2014/main" id="{5D06E897-464A-1AFB-5AE0-3490AB1B6CB8}"/>
                    </a:ext>
                  </a:extLst>
                </p:cNvPr>
                <p:cNvSpPr/>
                <p:nvPr/>
              </p:nvSpPr>
              <p:spPr>
                <a:xfrm rot="10800000">
                  <a:off x="2026153" y="3372145"/>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grpSp>
        </p:grpSp>
        <p:grpSp>
          <p:nvGrpSpPr>
            <p:cNvPr id="393" name="Group 392">
              <a:extLst>
                <a:ext uri="{FF2B5EF4-FFF2-40B4-BE49-F238E27FC236}">
                  <a16:creationId xmlns:a16="http://schemas.microsoft.com/office/drawing/2014/main" id="{35856289-7927-EFF5-56DA-2DF114FD5794}"/>
                </a:ext>
              </a:extLst>
            </p:cNvPr>
            <p:cNvGrpSpPr/>
            <p:nvPr/>
          </p:nvGrpSpPr>
          <p:grpSpPr>
            <a:xfrm>
              <a:off x="2066049" y="3036683"/>
              <a:ext cx="1436630" cy="715607"/>
              <a:chOff x="2025477" y="3372145"/>
              <a:chExt cx="1436630" cy="715607"/>
            </a:xfrm>
          </p:grpSpPr>
          <p:grpSp>
            <p:nvGrpSpPr>
              <p:cNvPr id="450" name="Group 449">
                <a:extLst>
                  <a:ext uri="{FF2B5EF4-FFF2-40B4-BE49-F238E27FC236}">
                    <a16:creationId xmlns:a16="http://schemas.microsoft.com/office/drawing/2014/main" id="{CAE70F7F-CB9B-80B7-8BE0-D1C59AD6DF02}"/>
                  </a:ext>
                </a:extLst>
              </p:cNvPr>
              <p:cNvGrpSpPr/>
              <p:nvPr/>
            </p:nvGrpSpPr>
            <p:grpSpPr>
              <a:xfrm>
                <a:off x="2026153" y="3372145"/>
                <a:ext cx="1435954" cy="360000"/>
                <a:chOff x="2026153" y="3372145"/>
                <a:chExt cx="1435954" cy="360000"/>
              </a:xfrm>
            </p:grpSpPr>
            <p:sp>
              <p:nvSpPr>
                <p:cNvPr id="456" name="Rectangle 455">
                  <a:extLst>
                    <a:ext uri="{FF2B5EF4-FFF2-40B4-BE49-F238E27FC236}">
                      <a16:creationId xmlns:a16="http://schemas.microsoft.com/office/drawing/2014/main" id="{E7E8378C-DB0E-3180-8820-F3C4F47BE682}"/>
                    </a:ext>
                  </a:extLst>
                </p:cNvPr>
                <p:cNvSpPr/>
                <p:nvPr/>
              </p:nvSpPr>
              <p:spPr>
                <a:xfrm rot="10800000">
                  <a:off x="3102107" y="3372145"/>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457" name="Rectangle 456">
                  <a:extLst>
                    <a:ext uri="{FF2B5EF4-FFF2-40B4-BE49-F238E27FC236}">
                      <a16:creationId xmlns:a16="http://schemas.microsoft.com/office/drawing/2014/main" id="{43C5FFCA-C620-9938-A6A4-40F6BBF4479F}"/>
                    </a:ext>
                  </a:extLst>
                </p:cNvPr>
                <p:cNvSpPr/>
                <p:nvPr/>
              </p:nvSpPr>
              <p:spPr>
                <a:xfrm rot="10800000">
                  <a:off x="2743455" y="3372145"/>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sp>
              <p:nvSpPr>
                <p:cNvPr id="458" name="Rectangle 457">
                  <a:extLst>
                    <a:ext uri="{FF2B5EF4-FFF2-40B4-BE49-F238E27FC236}">
                      <a16:creationId xmlns:a16="http://schemas.microsoft.com/office/drawing/2014/main" id="{FF3A51D1-07DB-1844-D5DB-FE36CC545325}"/>
                    </a:ext>
                  </a:extLst>
                </p:cNvPr>
                <p:cNvSpPr/>
                <p:nvPr/>
              </p:nvSpPr>
              <p:spPr>
                <a:xfrm rot="10800000">
                  <a:off x="2384804" y="3372145"/>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459" name="Rectangle 458">
                  <a:extLst>
                    <a:ext uri="{FF2B5EF4-FFF2-40B4-BE49-F238E27FC236}">
                      <a16:creationId xmlns:a16="http://schemas.microsoft.com/office/drawing/2014/main" id="{2D6E8B59-57DB-CD63-D3DF-C79F52DC8FC3}"/>
                    </a:ext>
                  </a:extLst>
                </p:cNvPr>
                <p:cNvSpPr/>
                <p:nvPr/>
              </p:nvSpPr>
              <p:spPr>
                <a:xfrm rot="10800000">
                  <a:off x="2026153" y="3372145"/>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grpSp>
          <p:grpSp>
            <p:nvGrpSpPr>
              <p:cNvPr id="451" name="Group 450">
                <a:extLst>
                  <a:ext uri="{FF2B5EF4-FFF2-40B4-BE49-F238E27FC236}">
                    <a16:creationId xmlns:a16="http://schemas.microsoft.com/office/drawing/2014/main" id="{2B39BE91-7706-C1F3-314E-4B86E3A431F6}"/>
                  </a:ext>
                </a:extLst>
              </p:cNvPr>
              <p:cNvGrpSpPr/>
              <p:nvPr/>
            </p:nvGrpSpPr>
            <p:grpSpPr>
              <a:xfrm rot="10800000">
                <a:off x="2025477" y="3727752"/>
                <a:ext cx="1435954" cy="360000"/>
                <a:chOff x="2026153" y="3372145"/>
                <a:chExt cx="1435954" cy="360000"/>
              </a:xfrm>
            </p:grpSpPr>
            <p:sp>
              <p:nvSpPr>
                <p:cNvPr id="452" name="Rectangle 451">
                  <a:extLst>
                    <a:ext uri="{FF2B5EF4-FFF2-40B4-BE49-F238E27FC236}">
                      <a16:creationId xmlns:a16="http://schemas.microsoft.com/office/drawing/2014/main" id="{880AA309-CBC1-44BD-D74A-4A6D1C04E470}"/>
                    </a:ext>
                  </a:extLst>
                </p:cNvPr>
                <p:cNvSpPr/>
                <p:nvPr/>
              </p:nvSpPr>
              <p:spPr>
                <a:xfrm rot="10800000">
                  <a:off x="3102107" y="3372145"/>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453" name="Rectangle 452">
                  <a:extLst>
                    <a:ext uri="{FF2B5EF4-FFF2-40B4-BE49-F238E27FC236}">
                      <a16:creationId xmlns:a16="http://schemas.microsoft.com/office/drawing/2014/main" id="{E6009747-33C4-82F9-A646-903D5ED01D33}"/>
                    </a:ext>
                  </a:extLst>
                </p:cNvPr>
                <p:cNvSpPr/>
                <p:nvPr/>
              </p:nvSpPr>
              <p:spPr>
                <a:xfrm rot="10800000">
                  <a:off x="2743455" y="3372145"/>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sp>
              <p:nvSpPr>
                <p:cNvPr id="454" name="Rectangle 453">
                  <a:extLst>
                    <a:ext uri="{FF2B5EF4-FFF2-40B4-BE49-F238E27FC236}">
                      <a16:creationId xmlns:a16="http://schemas.microsoft.com/office/drawing/2014/main" id="{C00C57ED-ACC9-8FBF-5BB2-0453DD66A570}"/>
                    </a:ext>
                  </a:extLst>
                </p:cNvPr>
                <p:cNvSpPr/>
                <p:nvPr/>
              </p:nvSpPr>
              <p:spPr>
                <a:xfrm rot="10800000">
                  <a:off x="2384804" y="3372145"/>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455" name="Rectangle 454">
                  <a:extLst>
                    <a:ext uri="{FF2B5EF4-FFF2-40B4-BE49-F238E27FC236}">
                      <a16:creationId xmlns:a16="http://schemas.microsoft.com/office/drawing/2014/main" id="{01F0F327-3F19-5F80-D7C2-A1650470C270}"/>
                    </a:ext>
                  </a:extLst>
                </p:cNvPr>
                <p:cNvSpPr/>
                <p:nvPr/>
              </p:nvSpPr>
              <p:spPr>
                <a:xfrm rot="10800000">
                  <a:off x="2026153" y="3372145"/>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grpSp>
        </p:grpSp>
        <p:grpSp>
          <p:nvGrpSpPr>
            <p:cNvPr id="394" name="Group 393">
              <a:extLst>
                <a:ext uri="{FF2B5EF4-FFF2-40B4-BE49-F238E27FC236}">
                  <a16:creationId xmlns:a16="http://schemas.microsoft.com/office/drawing/2014/main" id="{2C2BBD99-8034-C014-D312-5F32436D4FB4}"/>
                </a:ext>
              </a:extLst>
            </p:cNvPr>
            <p:cNvGrpSpPr/>
            <p:nvPr/>
          </p:nvGrpSpPr>
          <p:grpSpPr>
            <a:xfrm>
              <a:off x="2066049" y="2320886"/>
              <a:ext cx="1436630" cy="715607"/>
              <a:chOff x="2025477" y="3372145"/>
              <a:chExt cx="1436630" cy="715607"/>
            </a:xfrm>
          </p:grpSpPr>
          <p:grpSp>
            <p:nvGrpSpPr>
              <p:cNvPr id="440" name="Group 439">
                <a:extLst>
                  <a:ext uri="{FF2B5EF4-FFF2-40B4-BE49-F238E27FC236}">
                    <a16:creationId xmlns:a16="http://schemas.microsoft.com/office/drawing/2014/main" id="{E0209391-8683-E8FD-0B52-F164AAE573FC}"/>
                  </a:ext>
                </a:extLst>
              </p:cNvPr>
              <p:cNvGrpSpPr/>
              <p:nvPr/>
            </p:nvGrpSpPr>
            <p:grpSpPr>
              <a:xfrm>
                <a:off x="2026153" y="3372145"/>
                <a:ext cx="1435954" cy="360000"/>
                <a:chOff x="2026153" y="3372145"/>
                <a:chExt cx="1435954" cy="360000"/>
              </a:xfrm>
            </p:grpSpPr>
            <p:sp>
              <p:nvSpPr>
                <p:cNvPr id="446" name="Rectangle 445">
                  <a:extLst>
                    <a:ext uri="{FF2B5EF4-FFF2-40B4-BE49-F238E27FC236}">
                      <a16:creationId xmlns:a16="http://schemas.microsoft.com/office/drawing/2014/main" id="{45DD3950-4B3D-599E-305D-B043377D0519}"/>
                    </a:ext>
                  </a:extLst>
                </p:cNvPr>
                <p:cNvSpPr/>
                <p:nvPr/>
              </p:nvSpPr>
              <p:spPr>
                <a:xfrm rot="10800000">
                  <a:off x="3102107" y="3372145"/>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447" name="Rectangle 446">
                  <a:extLst>
                    <a:ext uri="{FF2B5EF4-FFF2-40B4-BE49-F238E27FC236}">
                      <a16:creationId xmlns:a16="http://schemas.microsoft.com/office/drawing/2014/main" id="{1DFC4591-8B4B-7EC3-0BFB-DC7281F97379}"/>
                    </a:ext>
                  </a:extLst>
                </p:cNvPr>
                <p:cNvSpPr/>
                <p:nvPr/>
              </p:nvSpPr>
              <p:spPr>
                <a:xfrm rot="10800000">
                  <a:off x="2743455" y="3372145"/>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sp>
              <p:nvSpPr>
                <p:cNvPr id="448" name="Rectangle 447">
                  <a:extLst>
                    <a:ext uri="{FF2B5EF4-FFF2-40B4-BE49-F238E27FC236}">
                      <a16:creationId xmlns:a16="http://schemas.microsoft.com/office/drawing/2014/main" id="{A443F29B-6E8D-48B7-1EDF-030490378AE0}"/>
                    </a:ext>
                  </a:extLst>
                </p:cNvPr>
                <p:cNvSpPr/>
                <p:nvPr/>
              </p:nvSpPr>
              <p:spPr>
                <a:xfrm rot="10800000">
                  <a:off x="2384804" y="3372145"/>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449" name="Rectangle 448">
                  <a:extLst>
                    <a:ext uri="{FF2B5EF4-FFF2-40B4-BE49-F238E27FC236}">
                      <a16:creationId xmlns:a16="http://schemas.microsoft.com/office/drawing/2014/main" id="{9C8602D0-4C05-E4A5-BF9A-F53557D76C0A}"/>
                    </a:ext>
                  </a:extLst>
                </p:cNvPr>
                <p:cNvSpPr/>
                <p:nvPr/>
              </p:nvSpPr>
              <p:spPr>
                <a:xfrm rot="10800000">
                  <a:off x="2026153" y="3372145"/>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grpSp>
          <p:grpSp>
            <p:nvGrpSpPr>
              <p:cNvPr id="441" name="Group 440">
                <a:extLst>
                  <a:ext uri="{FF2B5EF4-FFF2-40B4-BE49-F238E27FC236}">
                    <a16:creationId xmlns:a16="http://schemas.microsoft.com/office/drawing/2014/main" id="{718FE6A1-9735-7719-B9EB-7479CF3AC58F}"/>
                  </a:ext>
                </a:extLst>
              </p:cNvPr>
              <p:cNvGrpSpPr/>
              <p:nvPr/>
            </p:nvGrpSpPr>
            <p:grpSpPr>
              <a:xfrm rot="10800000">
                <a:off x="2025477" y="3727752"/>
                <a:ext cx="1435954" cy="360000"/>
                <a:chOff x="2026153" y="3372145"/>
                <a:chExt cx="1435954" cy="360000"/>
              </a:xfrm>
            </p:grpSpPr>
            <p:sp>
              <p:nvSpPr>
                <p:cNvPr id="442" name="Rectangle 441">
                  <a:extLst>
                    <a:ext uri="{FF2B5EF4-FFF2-40B4-BE49-F238E27FC236}">
                      <a16:creationId xmlns:a16="http://schemas.microsoft.com/office/drawing/2014/main" id="{0F56AE77-DE1B-94DC-F6B9-8CEA3DD2C8FF}"/>
                    </a:ext>
                  </a:extLst>
                </p:cNvPr>
                <p:cNvSpPr/>
                <p:nvPr/>
              </p:nvSpPr>
              <p:spPr>
                <a:xfrm rot="10800000">
                  <a:off x="3102107" y="3372145"/>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443" name="Rectangle 442">
                  <a:extLst>
                    <a:ext uri="{FF2B5EF4-FFF2-40B4-BE49-F238E27FC236}">
                      <a16:creationId xmlns:a16="http://schemas.microsoft.com/office/drawing/2014/main" id="{2BFC8436-7D0A-E24B-51F9-326D876B5A5D}"/>
                    </a:ext>
                  </a:extLst>
                </p:cNvPr>
                <p:cNvSpPr/>
                <p:nvPr/>
              </p:nvSpPr>
              <p:spPr>
                <a:xfrm rot="10800000">
                  <a:off x="2743455" y="3372145"/>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sp>
              <p:nvSpPr>
                <p:cNvPr id="444" name="Rectangle 443">
                  <a:extLst>
                    <a:ext uri="{FF2B5EF4-FFF2-40B4-BE49-F238E27FC236}">
                      <a16:creationId xmlns:a16="http://schemas.microsoft.com/office/drawing/2014/main" id="{ED5578ED-A855-175F-BD79-211110EA8471}"/>
                    </a:ext>
                  </a:extLst>
                </p:cNvPr>
                <p:cNvSpPr/>
                <p:nvPr/>
              </p:nvSpPr>
              <p:spPr>
                <a:xfrm rot="10800000">
                  <a:off x="2384804" y="3372145"/>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445" name="Rectangle 444">
                  <a:extLst>
                    <a:ext uri="{FF2B5EF4-FFF2-40B4-BE49-F238E27FC236}">
                      <a16:creationId xmlns:a16="http://schemas.microsoft.com/office/drawing/2014/main" id="{B316E781-43C0-9930-B792-E5CC73536741}"/>
                    </a:ext>
                  </a:extLst>
                </p:cNvPr>
                <p:cNvSpPr/>
                <p:nvPr/>
              </p:nvSpPr>
              <p:spPr>
                <a:xfrm rot="10800000">
                  <a:off x="2026153" y="3372145"/>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grpSp>
        </p:grpSp>
        <p:grpSp>
          <p:nvGrpSpPr>
            <p:cNvPr id="395" name="Group 394">
              <a:extLst>
                <a:ext uri="{FF2B5EF4-FFF2-40B4-BE49-F238E27FC236}">
                  <a16:creationId xmlns:a16="http://schemas.microsoft.com/office/drawing/2014/main" id="{969D406B-86EE-F4CD-E839-9B096868836E}"/>
                </a:ext>
              </a:extLst>
            </p:cNvPr>
            <p:cNvGrpSpPr/>
            <p:nvPr/>
          </p:nvGrpSpPr>
          <p:grpSpPr>
            <a:xfrm>
              <a:off x="3501240" y="3031199"/>
              <a:ext cx="1436630" cy="715607"/>
              <a:chOff x="2025477" y="3378723"/>
              <a:chExt cx="1436630" cy="715607"/>
            </a:xfrm>
          </p:grpSpPr>
          <p:grpSp>
            <p:nvGrpSpPr>
              <p:cNvPr id="430" name="Group 429">
                <a:extLst>
                  <a:ext uri="{FF2B5EF4-FFF2-40B4-BE49-F238E27FC236}">
                    <a16:creationId xmlns:a16="http://schemas.microsoft.com/office/drawing/2014/main" id="{B31452DB-1534-7A48-29D7-3CECFAAC0655}"/>
                  </a:ext>
                </a:extLst>
              </p:cNvPr>
              <p:cNvGrpSpPr/>
              <p:nvPr/>
            </p:nvGrpSpPr>
            <p:grpSpPr>
              <a:xfrm>
                <a:off x="2026153" y="3378723"/>
                <a:ext cx="1435954" cy="360000"/>
                <a:chOff x="2026153" y="3378723"/>
                <a:chExt cx="1435954" cy="360000"/>
              </a:xfrm>
            </p:grpSpPr>
            <p:sp>
              <p:nvSpPr>
                <p:cNvPr id="436" name="Rectangle 435">
                  <a:extLst>
                    <a:ext uri="{FF2B5EF4-FFF2-40B4-BE49-F238E27FC236}">
                      <a16:creationId xmlns:a16="http://schemas.microsoft.com/office/drawing/2014/main" id="{0E2F6E74-C59D-2C90-0600-2950062F16A0}"/>
                    </a:ext>
                  </a:extLst>
                </p:cNvPr>
                <p:cNvSpPr/>
                <p:nvPr/>
              </p:nvSpPr>
              <p:spPr>
                <a:xfrm rot="10800000">
                  <a:off x="3102107" y="3378723"/>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437" name="Rectangle 436">
                  <a:extLst>
                    <a:ext uri="{FF2B5EF4-FFF2-40B4-BE49-F238E27FC236}">
                      <a16:creationId xmlns:a16="http://schemas.microsoft.com/office/drawing/2014/main" id="{7249F328-5E91-F511-FA91-304B562F0EAC}"/>
                    </a:ext>
                  </a:extLst>
                </p:cNvPr>
                <p:cNvSpPr/>
                <p:nvPr/>
              </p:nvSpPr>
              <p:spPr>
                <a:xfrm rot="10800000">
                  <a:off x="2743455" y="3378723"/>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sp>
              <p:nvSpPr>
                <p:cNvPr id="438" name="Rectangle 437">
                  <a:extLst>
                    <a:ext uri="{FF2B5EF4-FFF2-40B4-BE49-F238E27FC236}">
                      <a16:creationId xmlns:a16="http://schemas.microsoft.com/office/drawing/2014/main" id="{B78D235A-DD6D-66EE-24B0-CFD31CAEFD11}"/>
                    </a:ext>
                  </a:extLst>
                </p:cNvPr>
                <p:cNvSpPr/>
                <p:nvPr/>
              </p:nvSpPr>
              <p:spPr>
                <a:xfrm rot="10800000">
                  <a:off x="2384804" y="3378723"/>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439" name="Rectangle 438">
                  <a:extLst>
                    <a:ext uri="{FF2B5EF4-FFF2-40B4-BE49-F238E27FC236}">
                      <a16:creationId xmlns:a16="http://schemas.microsoft.com/office/drawing/2014/main" id="{C3CA5B81-ECE1-D567-1A26-CE5B537C9EFF}"/>
                    </a:ext>
                  </a:extLst>
                </p:cNvPr>
                <p:cNvSpPr/>
                <p:nvPr/>
              </p:nvSpPr>
              <p:spPr>
                <a:xfrm rot="10800000">
                  <a:off x="2026153" y="3378723"/>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grpSp>
          <p:grpSp>
            <p:nvGrpSpPr>
              <p:cNvPr id="431" name="Group 430">
                <a:extLst>
                  <a:ext uri="{FF2B5EF4-FFF2-40B4-BE49-F238E27FC236}">
                    <a16:creationId xmlns:a16="http://schemas.microsoft.com/office/drawing/2014/main" id="{745614AA-A114-6072-94BD-3B15B2485641}"/>
                  </a:ext>
                </a:extLst>
              </p:cNvPr>
              <p:cNvGrpSpPr/>
              <p:nvPr/>
            </p:nvGrpSpPr>
            <p:grpSpPr>
              <a:xfrm rot="10800000">
                <a:off x="2025477" y="3734330"/>
                <a:ext cx="1435954" cy="360000"/>
                <a:chOff x="2026153" y="3365567"/>
                <a:chExt cx="1435954" cy="360000"/>
              </a:xfrm>
            </p:grpSpPr>
            <p:sp>
              <p:nvSpPr>
                <p:cNvPr id="432" name="Rectangle 431">
                  <a:extLst>
                    <a:ext uri="{FF2B5EF4-FFF2-40B4-BE49-F238E27FC236}">
                      <a16:creationId xmlns:a16="http://schemas.microsoft.com/office/drawing/2014/main" id="{E6CB7B65-D19E-3B95-F4BC-89355FF000E5}"/>
                    </a:ext>
                  </a:extLst>
                </p:cNvPr>
                <p:cNvSpPr/>
                <p:nvPr/>
              </p:nvSpPr>
              <p:spPr>
                <a:xfrm rot="10800000">
                  <a:off x="3102107" y="3365567"/>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433" name="Rectangle 432">
                  <a:extLst>
                    <a:ext uri="{FF2B5EF4-FFF2-40B4-BE49-F238E27FC236}">
                      <a16:creationId xmlns:a16="http://schemas.microsoft.com/office/drawing/2014/main" id="{8627A5E5-450D-00BC-D44D-CA50C42B868D}"/>
                    </a:ext>
                  </a:extLst>
                </p:cNvPr>
                <p:cNvSpPr/>
                <p:nvPr/>
              </p:nvSpPr>
              <p:spPr>
                <a:xfrm rot="10800000">
                  <a:off x="2743455" y="3365567"/>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sp>
              <p:nvSpPr>
                <p:cNvPr id="434" name="Rectangle 433">
                  <a:extLst>
                    <a:ext uri="{FF2B5EF4-FFF2-40B4-BE49-F238E27FC236}">
                      <a16:creationId xmlns:a16="http://schemas.microsoft.com/office/drawing/2014/main" id="{54EE97E4-119F-ABD4-D28A-BF07AC849949}"/>
                    </a:ext>
                  </a:extLst>
                </p:cNvPr>
                <p:cNvSpPr/>
                <p:nvPr/>
              </p:nvSpPr>
              <p:spPr>
                <a:xfrm rot="10800000">
                  <a:off x="2384804" y="3365567"/>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435" name="Rectangle 434">
                  <a:extLst>
                    <a:ext uri="{FF2B5EF4-FFF2-40B4-BE49-F238E27FC236}">
                      <a16:creationId xmlns:a16="http://schemas.microsoft.com/office/drawing/2014/main" id="{D12E968D-3C16-9C8D-C65E-68B5E88BA94D}"/>
                    </a:ext>
                  </a:extLst>
                </p:cNvPr>
                <p:cNvSpPr/>
                <p:nvPr/>
              </p:nvSpPr>
              <p:spPr>
                <a:xfrm rot="10800000">
                  <a:off x="2026153" y="3365567"/>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grpSp>
        </p:grpSp>
        <p:grpSp>
          <p:nvGrpSpPr>
            <p:cNvPr id="396" name="Group 395">
              <a:extLst>
                <a:ext uri="{FF2B5EF4-FFF2-40B4-BE49-F238E27FC236}">
                  <a16:creationId xmlns:a16="http://schemas.microsoft.com/office/drawing/2014/main" id="{065A0C40-88AD-BEBC-5E0D-F116ABEB3DAF}"/>
                </a:ext>
              </a:extLst>
            </p:cNvPr>
            <p:cNvGrpSpPr/>
            <p:nvPr/>
          </p:nvGrpSpPr>
          <p:grpSpPr>
            <a:xfrm>
              <a:off x="3501240" y="2321980"/>
              <a:ext cx="1436630" cy="715607"/>
              <a:chOff x="2025477" y="3372145"/>
              <a:chExt cx="1436630" cy="715607"/>
            </a:xfrm>
          </p:grpSpPr>
          <p:grpSp>
            <p:nvGrpSpPr>
              <p:cNvPr id="420" name="Group 419">
                <a:extLst>
                  <a:ext uri="{FF2B5EF4-FFF2-40B4-BE49-F238E27FC236}">
                    <a16:creationId xmlns:a16="http://schemas.microsoft.com/office/drawing/2014/main" id="{6C31D86E-39EE-4C7F-4C7C-43A103CFA922}"/>
                  </a:ext>
                </a:extLst>
              </p:cNvPr>
              <p:cNvGrpSpPr/>
              <p:nvPr/>
            </p:nvGrpSpPr>
            <p:grpSpPr>
              <a:xfrm>
                <a:off x="2026153" y="3372145"/>
                <a:ext cx="1435954" cy="360000"/>
                <a:chOff x="2026153" y="3372145"/>
                <a:chExt cx="1435954" cy="360000"/>
              </a:xfrm>
            </p:grpSpPr>
            <p:sp>
              <p:nvSpPr>
                <p:cNvPr id="426" name="Rectangle 425">
                  <a:extLst>
                    <a:ext uri="{FF2B5EF4-FFF2-40B4-BE49-F238E27FC236}">
                      <a16:creationId xmlns:a16="http://schemas.microsoft.com/office/drawing/2014/main" id="{BD80EBA1-5E74-8DBB-7785-7E8390A71CC2}"/>
                    </a:ext>
                  </a:extLst>
                </p:cNvPr>
                <p:cNvSpPr/>
                <p:nvPr/>
              </p:nvSpPr>
              <p:spPr>
                <a:xfrm rot="10800000">
                  <a:off x="3102107" y="3372145"/>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427" name="Rectangle 426">
                  <a:extLst>
                    <a:ext uri="{FF2B5EF4-FFF2-40B4-BE49-F238E27FC236}">
                      <a16:creationId xmlns:a16="http://schemas.microsoft.com/office/drawing/2014/main" id="{E621F697-1D8C-764D-FBEE-4DDA859CC4F1}"/>
                    </a:ext>
                  </a:extLst>
                </p:cNvPr>
                <p:cNvSpPr/>
                <p:nvPr/>
              </p:nvSpPr>
              <p:spPr>
                <a:xfrm rot="10800000">
                  <a:off x="2743455" y="3372145"/>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sp>
              <p:nvSpPr>
                <p:cNvPr id="428" name="Rectangle 427">
                  <a:extLst>
                    <a:ext uri="{FF2B5EF4-FFF2-40B4-BE49-F238E27FC236}">
                      <a16:creationId xmlns:a16="http://schemas.microsoft.com/office/drawing/2014/main" id="{34F0D6A0-5C00-7A84-D199-C7E0DBD826FD}"/>
                    </a:ext>
                  </a:extLst>
                </p:cNvPr>
                <p:cNvSpPr/>
                <p:nvPr/>
              </p:nvSpPr>
              <p:spPr>
                <a:xfrm rot="10800000">
                  <a:off x="2384804" y="3372145"/>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429" name="Rectangle 428">
                  <a:extLst>
                    <a:ext uri="{FF2B5EF4-FFF2-40B4-BE49-F238E27FC236}">
                      <a16:creationId xmlns:a16="http://schemas.microsoft.com/office/drawing/2014/main" id="{9F488B96-9052-F6BD-2126-97B9499EA807}"/>
                    </a:ext>
                  </a:extLst>
                </p:cNvPr>
                <p:cNvSpPr/>
                <p:nvPr/>
              </p:nvSpPr>
              <p:spPr>
                <a:xfrm rot="10800000">
                  <a:off x="2026153" y="3372145"/>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grpSp>
          <p:grpSp>
            <p:nvGrpSpPr>
              <p:cNvPr id="421" name="Group 420">
                <a:extLst>
                  <a:ext uri="{FF2B5EF4-FFF2-40B4-BE49-F238E27FC236}">
                    <a16:creationId xmlns:a16="http://schemas.microsoft.com/office/drawing/2014/main" id="{4A0BF3A5-289F-CC06-9864-AC692146A483}"/>
                  </a:ext>
                </a:extLst>
              </p:cNvPr>
              <p:cNvGrpSpPr/>
              <p:nvPr/>
            </p:nvGrpSpPr>
            <p:grpSpPr>
              <a:xfrm rot="10800000">
                <a:off x="2025477" y="3727752"/>
                <a:ext cx="1435954" cy="360000"/>
                <a:chOff x="2026153" y="3372145"/>
                <a:chExt cx="1435954" cy="360000"/>
              </a:xfrm>
            </p:grpSpPr>
            <p:sp>
              <p:nvSpPr>
                <p:cNvPr id="422" name="Rectangle 421">
                  <a:extLst>
                    <a:ext uri="{FF2B5EF4-FFF2-40B4-BE49-F238E27FC236}">
                      <a16:creationId xmlns:a16="http://schemas.microsoft.com/office/drawing/2014/main" id="{8DD1D151-BDE6-16FB-15FF-3F2B380ED5CD}"/>
                    </a:ext>
                  </a:extLst>
                </p:cNvPr>
                <p:cNvSpPr/>
                <p:nvPr/>
              </p:nvSpPr>
              <p:spPr>
                <a:xfrm rot="10800000">
                  <a:off x="3102107" y="3372145"/>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423" name="Rectangle 422">
                  <a:extLst>
                    <a:ext uri="{FF2B5EF4-FFF2-40B4-BE49-F238E27FC236}">
                      <a16:creationId xmlns:a16="http://schemas.microsoft.com/office/drawing/2014/main" id="{FC41F84C-F491-646D-14DE-62876AE60A0C}"/>
                    </a:ext>
                  </a:extLst>
                </p:cNvPr>
                <p:cNvSpPr/>
                <p:nvPr/>
              </p:nvSpPr>
              <p:spPr>
                <a:xfrm rot="10800000">
                  <a:off x="2743455" y="3372145"/>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sp>
              <p:nvSpPr>
                <p:cNvPr id="424" name="Rectangle 423">
                  <a:extLst>
                    <a:ext uri="{FF2B5EF4-FFF2-40B4-BE49-F238E27FC236}">
                      <a16:creationId xmlns:a16="http://schemas.microsoft.com/office/drawing/2014/main" id="{D640E63F-8B3A-C5CF-DD31-E5DB6738B236}"/>
                    </a:ext>
                  </a:extLst>
                </p:cNvPr>
                <p:cNvSpPr/>
                <p:nvPr/>
              </p:nvSpPr>
              <p:spPr>
                <a:xfrm rot="10800000">
                  <a:off x="2384804" y="3372145"/>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425" name="Rectangle 424">
                  <a:extLst>
                    <a:ext uri="{FF2B5EF4-FFF2-40B4-BE49-F238E27FC236}">
                      <a16:creationId xmlns:a16="http://schemas.microsoft.com/office/drawing/2014/main" id="{3E5B3FD1-6044-C688-404D-0DB4DBA1901E}"/>
                    </a:ext>
                  </a:extLst>
                </p:cNvPr>
                <p:cNvSpPr/>
                <p:nvPr/>
              </p:nvSpPr>
              <p:spPr>
                <a:xfrm rot="10800000">
                  <a:off x="2026153" y="3372145"/>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grpSp>
        </p:grpSp>
        <p:grpSp>
          <p:nvGrpSpPr>
            <p:cNvPr id="397" name="Group 396">
              <a:extLst>
                <a:ext uri="{FF2B5EF4-FFF2-40B4-BE49-F238E27FC236}">
                  <a16:creationId xmlns:a16="http://schemas.microsoft.com/office/drawing/2014/main" id="{BC9A1800-2182-5D46-2374-08B76C618C72}"/>
                </a:ext>
              </a:extLst>
            </p:cNvPr>
            <p:cNvGrpSpPr/>
            <p:nvPr/>
          </p:nvGrpSpPr>
          <p:grpSpPr>
            <a:xfrm>
              <a:off x="4932720" y="2323079"/>
              <a:ext cx="362156" cy="2866887"/>
              <a:chOff x="4932720" y="2310982"/>
              <a:chExt cx="362156" cy="2866887"/>
            </a:xfrm>
          </p:grpSpPr>
          <p:grpSp>
            <p:nvGrpSpPr>
              <p:cNvPr id="410" name="Group 409">
                <a:extLst>
                  <a:ext uri="{FF2B5EF4-FFF2-40B4-BE49-F238E27FC236}">
                    <a16:creationId xmlns:a16="http://schemas.microsoft.com/office/drawing/2014/main" id="{4D1CC221-B26A-A787-DC4D-80F5EFF67F53}"/>
                  </a:ext>
                </a:extLst>
              </p:cNvPr>
              <p:cNvGrpSpPr/>
              <p:nvPr/>
            </p:nvGrpSpPr>
            <p:grpSpPr>
              <a:xfrm rot="5400000">
                <a:off x="4394743" y="4279892"/>
                <a:ext cx="1435954" cy="360000"/>
                <a:chOff x="2026153" y="3372145"/>
                <a:chExt cx="1435954" cy="360000"/>
              </a:xfrm>
            </p:grpSpPr>
            <p:sp>
              <p:nvSpPr>
                <p:cNvPr id="416" name="Rectangle 415">
                  <a:extLst>
                    <a:ext uri="{FF2B5EF4-FFF2-40B4-BE49-F238E27FC236}">
                      <a16:creationId xmlns:a16="http://schemas.microsoft.com/office/drawing/2014/main" id="{6DDA9D94-5CD0-A0D1-013B-B572595F0A90}"/>
                    </a:ext>
                  </a:extLst>
                </p:cNvPr>
                <p:cNvSpPr/>
                <p:nvPr/>
              </p:nvSpPr>
              <p:spPr>
                <a:xfrm rot="10800000">
                  <a:off x="3102107" y="3372145"/>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417" name="Rectangle 416">
                  <a:extLst>
                    <a:ext uri="{FF2B5EF4-FFF2-40B4-BE49-F238E27FC236}">
                      <a16:creationId xmlns:a16="http://schemas.microsoft.com/office/drawing/2014/main" id="{BFF68FF3-F621-3A59-BEBB-1E57E75BE5F3}"/>
                    </a:ext>
                  </a:extLst>
                </p:cNvPr>
                <p:cNvSpPr/>
                <p:nvPr/>
              </p:nvSpPr>
              <p:spPr>
                <a:xfrm rot="10800000">
                  <a:off x="2743455" y="3372145"/>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sp>
              <p:nvSpPr>
                <p:cNvPr id="418" name="Rectangle 417">
                  <a:extLst>
                    <a:ext uri="{FF2B5EF4-FFF2-40B4-BE49-F238E27FC236}">
                      <a16:creationId xmlns:a16="http://schemas.microsoft.com/office/drawing/2014/main" id="{72F41B14-DC1B-BC0B-54E8-0C8CEF4F891F}"/>
                    </a:ext>
                  </a:extLst>
                </p:cNvPr>
                <p:cNvSpPr/>
                <p:nvPr/>
              </p:nvSpPr>
              <p:spPr>
                <a:xfrm rot="10800000">
                  <a:off x="2384804" y="3372145"/>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419" name="Rectangle 418">
                  <a:extLst>
                    <a:ext uri="{FF2B5EF4-FFF2-40B4-BE49-F238E27FC236}">
                      <a16:creationId xmlns:a16="http://schemas.microsoft.com/office/drawing/2014/main" id="{D9D61D9F-192A-BB99-298E-7D8D1F916E4A}"/>
                    </a:ext>
                  </a:extLst>
                </p:cNvPr>
                <p:cNvSpPr/>
                <p:nvPr/>
              </p:nvSpPr>
              <p:spPr>
                <a:xfrm rot="10800000">
                  <a:off x="2026153" y="3372145"/>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grpSp>
          <p:grpSp>
            <p:nvGrpSpPr>
              <p:cNvPr id="411" name="Group 410">
                <a:extLst>
                  <a:ext uri="{FF2B5EF4-FFF2-40B4-BE49-F238E27FC236}">
                    <a16:creationId xmlns:a16="http://schemas.microsoft.com/office/drawing/2014/main" id="{3D3E8821-D05A-34D2-D5BF-A92F3FE87F6A}"/>
                  </a:ext>
                </a:extLst>
              </p:cNvPr>
              <p:cNvGrpSpPr/>
              <p:nvPr/>
            </p:nvGrpSpPr>
            <p:grpSpPr>
              <a:xfrm rot="5400000">
                <a:off x="4396899" y="2848959"/>
                <a:ext cx="1435954" cy="360000"/>
                <a:chOff x="2026153" y="3372145"/>
                <a:chExt cx="1435954" cy="360000"/>
              </a:xfrm>
            </p:grpSpPr>
            <p:sp>
              <p:nvSpPr>
                <p:cNvPr id="412" name="Rectangle 411">
                  <a:extLst>
                    <a:ext uri="{FF2B5EF4-FFF2-40B4-BE49-F238E27FC236}">
                      <a16:creationId xmlns:a16="http://schemas.microsoft.com/office/drawing/2014/main" id="{828C5ACB-6F38-BB40-67B9-0A305703B1A4}"/>
                    </a:ext>
                  </a:extLst>
                </p:cNvPr>
                <p:cNvSpPr/>
                <p:nvPr/>
              </p:nvSpPr>
              <p:spPr>
                <a:xfrm rot="10800000">
                  <a:off x="3102107" y="3372145"/>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413" name="Rectangle 412">
                  <a:extLst>
                    <a:ext uri="{FF2B5EF4-FFF2-40B4-BE49-F238E27FC236}">
                      <a16:creationId xmlns:a16="http://schemas.microsoft.com/office/drawing/2014/main" id="{9441E541-AB29-AFBA-1959-44A439307147}"/>
                    </a:ext>
                  </a:extLst>
                </p:cNvPr>
                <p:cNvSpPr/>
                <p:nvPr/>
              </p:nvSpPr>
              <p:spPr>
                <a:xfrm rot="10800000">
                  <a:off x="2743455" y="3372145"/>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sp>
              <p:nvSpPr>
                <p:cNvPr id="414" name="Rectangle 413">
                  <a:extLst>
                    <a:ext uri="{FF2B5EF4-FFF2-40B4-BE49-F238E27FC236}">
                      <a16:creationId xmlns:a16="http://schemas.microsoft.com/office/drawing/2014/main" id="{D897D777-2BA1-95A4-D37F-25F077DF37D8}"/>
                    </a:ext>
                  </a:extLst>
                </p:cNvPr>
                <p:cNvSpPr/>
                <p:nvPr/>
              </p:nvSpPr>
              <p:spPr>
                <a:xfrm rot="10800000">
                  <a:off x="2384804" y="3372145"/>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415" name="Rectangle 414">
                  <a:extLst>
                    <a:ext uri="{FF2B5EF4-FFF2-40B4-BE49-F238E27FC236}">
                      <a16:creationId xmlns:a16="http://schemas.microsoft.com/office/drawing/2014/main" id="{553E1980-6F48-B193-AF04-77854D1F26DB}"/>
                    </a:ext>
                  </a:extLst>
                </p:cNvPr>
                <p:cNvSpPr/>
                <p:nvPr/>
              </p:nvSpPr>
              <p:spPr>
                <a:xfrm rot="10800000">
                  <a:off x="2026153" y="3372145"/>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grpSp>
        </p:grpSp>
        <p:grpSp>
          <p:nvGrpSpPr>
            <p:cNvPr id="398" name="Group 397">
              <a:extLst>
                <a:ext uri="{FF2B5EF4-FFF2-40B4-BE49-F238E27FC236}">
                  <a16:creationId xmlns:a16="http://schemas.microsoft.com/office/drawing/2014/main" id="{19378E0A-B403-F506-AEB2-0A6C928048BB}"/>
                </a:ext>
              </a:extLst>
            </p:cNvPr>
            <p:cNvGrpSpPr/>
            <p:nvPr/>
          </p:nvGrpSpPr>
          <p:grpSpPr>
            <a:xfrm rot="16200000">
              <a:off x="3316451" y="3912921"/>
              <a:ext cx="362156" cy="2866887"/>
              <a:chOff x="4932720" y="2310982"/>
              <a:chExt cx="362156" cy="2866887"/>
            </a:xfrm>
          </p:grpSpPr>
          <p:grpSp>
            <p:nvGrpSpPr>
              <p:cNvPr id="400" name="Group 399">
                <a:extLst>
                  <a:ext uri="{FF2B5EF4-FFF2-40B4-BE49-F238E27FC236}">
                    <a16:creationId xmlns:a16="http://schemas.microsoft.com/office/drawing/2014/main" id="{CE18BA7A-830A-47D3-7A07-AE57AFB1C65E}"/>
                  </a:ext>
                </a:extLst>
              </p:cNvPr>
              <p:cNvGrpSpPr/>
              <p:nvPr/>
            </p:nvGrpSpPr>
            <p:grpSpPr>
              <a:xfrm rot="5400000">
                <a:off x="4394743" y="4279892"/>
                <a:ext cx="1435954" cy="360000"/>
                <a:chOff x="2026153" y="3372145"/>
                <a:chExt cx="1435954" cy="360000"/>
              </a:xfrm>
            </p:grpSpPr>
            <p:sp>
              <p:nvSpPr>
                <p:cNvPr id="406" name="Rectangle 405">
                  <a:extLst>
                    <a:ext uri="{FF2B5EF4-FFF2-40B4-BE49-F238E27FC236}">
                      <a16:creationId xmlns:a16="http://schemas.microsoft.com/office/drawing/2014/main" id="{8EBC3685-45F4-7931-CE83-CC3B0F7D0320}"/>
                    </a:ext>
                  </a:extLst>
                </p:cNvPr>
                <p:cNvSpPr/>
                <p:nvPr/>
              </p:nvSpPr>
              <p:spPr>
                <a:xfrm rot="10800000">
                  <a:off x="3102107" y="3372145"/>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407" name="Rectangle 406">
                  <a:extLst>
                    <a:ext uri="{FF2B5EF4-FFF2-40B4-BE49-F238E27FC236}">
                      <a16:creationId xmlns:a16="http://schemas.microsoft.com/office/drawing/2014/main" id="{0E6ACD89-E542-F3DD-2FEF-DDE5BE16A1FA}"/>
                    </a:ext>
                  </a:extLst>
                </p:cNvPr>
                <p:cNvSpPr/>
                <p:nvPr/>
              </p:nvSpPr>
              <p:spPr>
                <a:xfrm rot="10800000">
                  <a:off x="2743455" y="3372145"/>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sp>
              <p:nvSpPr>
                <p:cNvPr id="408" name="Rectangle 407">
                  <a:extLst>
                    <a:ext uri="{FF2B5EF4-FFF2-40B4-BE49-F238E27FC236}">
                      <a16:creationId xmlns:a16="http://schemas.microsoft.com/office/drawing/2014/main" id="{929423C9-57A0-0FF5-B98B-68E8B6B54AEB}"/>
                    </a:ext>
                  </a:extLst>
                </p:cNvPr>
                <p:cNvSpPr/>
                <p:nvPr/>
              </p:nvSpPr>
              <p:spPr>
                <a:xfrm rot="10800000">
                  <a:off x="2384804" y="3372145"/>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409" name="Rectangle 408">
                  <a:extLst>
                    <a:ext uri="{FF2B5EF4-FFF2-40B4-BE49-F238E27FC236}">
                      <a16:creationId xmlns:a16="http://schemas.microsoft.com/office/drawing/2014/main" id="{F4BB1B74-ADCE-78CB-08EA-E9E28B5815D8}"/>
                    </a:ext>
                  </a:extLst>
                </p:cNvPr>
                <p:cNvSpPr/>
                <p:nvPr/>
              </p:nvSpPr>
              <p:spPr>
                <a:xfrm rot="10800000">
                  <a:off x="2026153" y="3372145"/>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grpSp>
          <p:grpSp>
            <p:nvGrpSpPr>
              <p:cNvPr id="401" name="Group 400">
                <a:extLst>
                  <a:ext uri="{FF2B5EF4-FFF2-40B4-BE49-F238E27FC236}">
                    <a16:creationId xmlns:a16="http://schemas.microsoft.com/office/drawing/2014/main" id="{B5759852-65F7-9818-C980-8DD2D2EE8887}"/>
                  </a:ext>
                </a:extLst>
              </p:cNvPr>
              <p:cNvGrpSpPr/>
              <p:nvPr/>
            </p:nvGrpSpPr>
            <p:grpSpPr>
              <a:xfrm rot="5400000">
                <a:off x="4396899" y="2848959"/>
                <a:ext cx="1435954" cy="360000"/>
                <a:chOff x="2026153" y="3372145"/>
                <a:chExt cx="1435954" cy="360000"/>
              </a:xfrm>
            </p:grpSpPr>
            <p:sp>
              <p:nvSpPr>
                <p:cNvPr id="402" name="Rectangle 401">
                  <a:extLst>
                    <a:ext uri="{FF2B5EF4-FFF2-40B4-BE49-F238E27FC236}">
                      <a16:creationId xmlns:a16="http://schemas.microsoft.com/office/drawing/2014/main" id="{5F645F40-65C0-FB01-B6F9-55272CD336F0}"/>
                    </a:ext>
                  </a:extLst>
                </p:cNvPr>
                <p:cNvSpPr/>
                <p:nvPr/>
              </p:nvSpPr>
              <p:spPr>
                <a:xfrm rot="10800000">
                  <a:off x="3102107" y="3372145"/>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403" name="Rectangle 402">
                  <a:extLst>
                    <a:ext uri="{FF2B5EF4-FFF2-40B4-BE49-F238E27FC236}">
                      <a16:creationId xmlns:a16="http://schemas.microsoft.com/office/drawing/2014/main" id="{9D5738C4-E51D-AD08-6237-E7EA98FC456A}"/>
                    </a:ext>
                  </a:extLst>
                </p:cNvPr>
                <p:cNvSpPr/>
                <p:nvPr/>
              </p:nvSpPr>
              <p:spPr>
                <a:xfrm rot="10800000">
                  <a:off x="2743455" y="3372145"/>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sp>
              <p:nvSpPr>
                <p:cNvPr id="404" name="Rectangle 403">
                  <a:extLst>
                    <a:ext uri="{FF2B5EF4-FFF2-40B4-BE49-F238E27FC236}">
                      <a16:creationId xmlns:a16="http://schemas.microsoft.com/office/drawing/2014/main" id="{8672FF25-CE7C-4F30-6681-F8D7A6A43F49}"/>
                    </a:ext>
                  </a:extLst>
                </p:cNvPr>
                <p:cNvSpPr/>
                <p:nvPr/>
              </p:nvSpPr>
              <p:spPr>
                <a:xfrm rot="10800000">
                  <a:off x="2384804" y="3372145"/>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405" name="Rectangle 404">
                  <a:extLst>
                    <a:ext uri="{FF2B5EF4-FFF2-40B4-BE49-F238E27FC236}">
                      <a16:creationId xmlns:a16="http://schemas.microsoft.com/office/drawing/2014/main" id="{C5676A62-23F0-A46F-93AD-70D5235B0459}"/>
                    </a:ext>
                  </a:extLst>
                </p:cNvPr>
                <p:cNvSpPr/>
                <p:nvPr/>
              </p:nvSpPr>
              <p:spPr>
                <a:xfrm rot="10800000">
                  <a:off x="2026153" y="3372145"/>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grpSp>
        </p:grpSp>
        <p:sp>
          <p:nvSpPr>
            <p:cNvPr id="399" name="Rectangle 398">
              <a:extLst>
                <a:ext uri="{FF2B5EF4-FFF2-40B4-BE49-F238E27FC236}">
                  <a16:creationId xmlns:a16="http://schemas.microsoft.com/office/drawing/2014/main" id="{89994A64-6AFE-B390-6DB2-36F4919BB83C}"/>
                </a:ext>
              </a:extLst>
            </p:cNvPr>
            <p:cNvSpPr/>
            <p:nvPr/>
          </p:nvSpPr>
          <p:spPr>
            <a:xfrm rot="10800000">
              <a:off x="4933374" y="5166383"/>
              <a:ext cx="360000" cy="360000"/>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b-NO" sz="1350"/>
            </a:p>
          </p:txBody>
        </p:sp>
      </p:grpSp>
      <p:grpSp>
        <p:nvGrpSpPr>
          <p:cNvPr id="387" name="Group 386">
            <a:extLst>
              <a:ext uri="{FF2B5EF4-FFF2-40B4-BE49-F238E27FC236}">
                <a16:creationId xmlns:a16="http://schemas.microsoft.com/office/drawing/2014/main" id="{02ABFACC-C9A5-A1F5-017F-8F8A121976B8}"/>
              </a:ext>
            </a:extLst>
          </p:cNvPr>
          <p:cNvGrpSpPr/>
          <p:nvPr/>
        </p:nvGrpSpPr>
        <p:grpSpPr>
          <a:xfrm>
            <a:off x="4942960" y="2312617"/>
            <a:ext cx="2400269" cy="2439932"/>
            <a:chOff x="6590613" y="2279719"/>
            <a:chExt cx="3200358" cy="3253243"/>
          </a:xfrm>
        </p:grpSpPr>
        <p:grpSp>
          <p:nvGrpSpPr>
            <p:cNvPr id="274" name="Group 273">
              <a:extLst>
                <a:ext uri="{FF2B5EF4-FFF2-40B4-BE49-F238E27FC236}">
                  <a16:creationId xmlns:a16="http://schemas.microsoft.com/office/drawing/2014/main" id="{2A8F9E18-71C8-DEED-8290-243955C7F294}"/>
                </a:ext>
              </a:extLst>
            </p:cNvPr>
            <p:cNvGrpSpPr/>
            <p:nvPr/>
          </p:nvGrpSpPr>
          <p:grpSpPr>
            <a:xfrm>
              <a:off x="6590613" y="4461558"/>
              <a:ext cx="3200358" cy="1071404"/>
              <a:chOff x="2083301" y="4462617"/>
              <a:chExt cx="3200358" cy="1071404"/>
            </a:xfrm>
          </p:grpSpPr>
          <p:sp>
            <p:nvSpPr>
              <p:cNvPr id="283" name="Rectangle 282">
                <a:extLst>
                  <a:ext uri="{FF2B5EF4-FFF2-40B4-BE49-F238E27FC236}">
                    <a16:creationId xmlns:a16="http://schemas.microsoft.com/office/drawing/2014/main" id="{5A6D28DB-2AD2-F4EA-7BB1-88AD9E44CB1B}"/>
                  </a:ext>
                </a:extLst>
              </p:cNvPr>
              <p:cNvSpPr/>
              <p:nvPr/>
            </p:nvSpPr>
            <p:spPr>
              <a:xfrm>
                <a:off x="2083301" y="4462617"/>
                <a:ext cx="1075954" cy="1071404"/>
              </a:xfrm>
              <a:prstGeom prst="rect">
                <a:avLst/>
              </a:prstGeom>
              <a:noFill/>
              <a:ln w="571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284" name="Rectangle 283">
                <a:extLst>
                  <a:ext uri="{FF2B5EF4-FFF2-40B4-BE49-F238E27FC236}">
                    <a16:creationId xmlns:a16="http://schemas.microsoft.com/office/drawing/2014/main" id="{D8050153-B889-E630-5CE7-7C57691FB970}"/>
                  </a:ext>
                </a:extLst>
              </p:cNvPr>
              <p:cNvSpPr/>
              <p:nvPr/>
            </p:nvSpPr>
            <p:spPr>
              <a:xfrm>
                <a:off x="4207705" y="4462617"/>
                <a:ext cx="1075954" cy="1071404"/>
              </a:xfrm>
              <a:prstGeom prst="rect">
                <a:avLst/>
              </a:prstGeom>
              <a:noFill/>
              <a:ln w="571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285" name="Rectangle 284">
                <a:extLst>
                  <a:ext uri="{FF2B5EF4-FFF2-40B4-BE49-F238E27FC236}">
                    <a16:creationId xmlns:a16="http://schemas.microsoft.com/office/drawing/2014/main" id="{F6EB1DD7-5A11-BD22-0FF5-F5619C467760}"/>
                  </a:ext>
                </a:extLst>
              </p:cNvPr>
              <p:cNvSpPr/>
              <p:nvPr/>
            </p:nvSpPr>
            <p:spPr>
              <a:xfrm>
                <a:off x="3145503" y="4462617"/>
                <a:ext cx="1075954" cy="1071404"/>
              </a:xfrm>
              <a:prstGeom prst="rect">
                <a:avLst/>
              </a:prstGeom>
              <a:noFill/>
              <a:ln w="571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grpSp>
        <p:grpSp>
          <p:nvGrpSpPr>
            <p:cNvPr id="275" name="Group 274">
              <a:extLst>
                <a:ext uri="{FF2B5EF4-FFF2-40B4-BE49-F238E27FC236}">
                  <a16:creationId xmlns:a16="http://schemas.microsoft.com/office/drawing/2014/main" id="{ED6829C3-70F8-2424-7E45-06693B202D35}"/>
                </a:ext>
              </a:extLst>
            </p:cNvPr>
            <p:cNvGrpSpPr/>
            <p:nvPr/>
          </p:nvGrpSpPr>
          <p:grpSpPr>
            <a:xfrm>
              <a:off x="6590613" y="3370638"/>
              <a:ext cx="3200358" cy="1071404"/>
              <a:chOff x="2083301" y="4462617"/>
              <a:chExt cx="3200358" cy="1071404"/>
            </a:xfrm>
          </p:grpSpPr>
          <p:sp>
            <p:nvSpPr>
              <p:cNvPr id="280" name="Rectangle 279">
                <a:extLst>
                  <a:ext uri="{FF2B5EF4-FFF2-40B4-BE49-F238E27FC236}">
                    <a16:creationId xmlns:a16="http://schemas.microsoft.com/office/drawing/2014/main" id="{A473D8C5-09D4-208F-F869-49329AF49B4C}"/>
                  </a:ext>
                </a:extLst>
              </p:cNvPr>
              <p:cNvSpPr/>
              <p:nvPr/>
            </p:nvSpPr>
            <p:spPr>
              <a:xfrm>
                <a:off x="2083301" y="4462617"/>
                <a:ext cx="1075954" cy="1071404"/>
              </a:xfrm>
              <a:prstGeom prst="rect">
                <a:avLst/>
              </a:prstGeom>
              <a:noFill/>
              <a:ln w="571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281" name="Rectangle 280">
                <a:extLst>
                  <a:ext uri="{FF2B5EF4-FFF2-40B4-BE49-F238E27FC236}">
                    <a16:creationId xmlns:a16="http://schemas.microsoft.com/office/drawing/2014/main" id="{685BA327-466A-0D50-F450-0183AFBEF6E8}"/>
                  </a:ext>
                </a:extLst>
              </p:cNvPr>
              <p:cNvSpPr/>
              <p:nvPr/>
            </p:nvSpPr>
            <p:spPr>
              <a:xfrm>
                <a:off x="4207705" y="4462617"/>
                <a:ext cx="1075954" cy="1071404"/>
              </a:xfrm>
              <a:prstGeom prst="rect">
                <a:avLst/>
              </a:prstGeom>
              <a:noFill/>
              <a:ln w="571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282" name="Rectangle 281">
                <a:extLst>
                  <a:ext uri="{FF2B5EF4-FFF2-40B4-BE49-F238E27FC236}">
                    <a16:creationId xmlns:a16="http://schemas.microsoft.com/office/drawing/2014/main" id="{D0A9C518-CA9B-2A99-9932-33170E4A5734}"/>
                  </a:ext>
                </a:extLst>
              </p:cNvPr>
              <p:cNvSpPr/>
              <p:nvPr/>
            </p:nvSpPr>
            <p:spPr>
              <a:xfrm>
                <a:off x="3145503" y="4462617"/>
                <a:ext cx="1075954" cy="1071404"/>
              </a:xfrm>
              <a:prstGeom prst="rect">
                <a:avLst/>
              </a:prstGeom>
              <a:noFill/>
              <a:ln w="571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grpSp>
        <p:grpSp>
          <p:nvGrpSpPr>
            <p:cNvPr id="276" name="Group 275">
              <a:extLst>
                <a:ext uri="{FF2B5EF4-FFF2-40B4-BE49-F238E27FC236}">
                  <a16:creationId xmlns:a16="http://schemas.microsoft.com/office/drawing/2014/main" id="{C922605E-8814-1906-ED6C-23C1D8271E15}"/>
                </a:ext>
              </a:extLst>
            </p:cNvPr>
            <p:cNvGrpSpPr/>
            <p:nvPr/>
          </p:nvGrpSpPr>
          <p:grpSpPr>
            <a:xfrm>
              <a:off x="6590613" y="2279719"/>
              <a:ext cx="3200358" cy="1071404"/>
              <a:chOff x="2083301" y="4462617"/>
              <a:chExt cx="3200358" cy="1071404"/>
            </a:xfrm>
          </p:grpSpPr>
          <p:sp>
            <p:nvSpPr>
              <p:cNvPr id="277" name="Rectangle 276">
                <a:extLst>
                  <a:ext uri="{FF2B5EF4-FFF2-40B4-BE49-F238E27FC236}">
                    <a16:creationId xmlns:a16="http://schemas.microsoft.com/office/drawing/2014/main" id="{A822B82D-638E-5AD4-B8A8-82E422AB6CFA}"/>
                  </a:ext>
                </a:extLst>
              </p:cNvPr>
              <p:cNvSpPr/>
              <p:nvPr/>
            </p:nvSpPr>
            <p:spPr>
              <a:xfrm>
                <a:off x="2083301" y="4462617"/>
                <a:ext cx="1075954" cy="1071404"/>
              </a:xfrm>
              <a:prstGeom prst="rect">
                <a:avLst/>
              </a:prstGeom>
              <a:noFill/>
              <a:ln w="571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278" name="Rectangle 277">
                <a:extLst>
                  <a:ext uri="{FF2B5EF4-FFF2-40B4-BE49-F238E27FC236}">
                    <a16:creationId xmlns:a16="http://schemas.microsoft.com/office/drawing/2014/main" id="{3878383D-532E-F47B-26C9-8FD95F56419C}"/>
                  </a:ext>
                </a:extLst>
              </p:cNvPr>
              <p:cNvSpPr/>
              <p:nvPr/>
            </p:nvSpPr>
            <p:spPr>
              <a:xfrm>
                <a:off x="4207705" y="4462617"/>
                <a:ext cx="1075954" cy="1071404"/>
              </a:xfrm>
              <a:prstGeom prst="rect">
                <a:avLst/>
              </a:prstGeom>
              <a:noFill/>
              <a:ln w="571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sp>
            <p:nvSpPr>
              <p:cNvPr id="279" name="Rectangle 278">
                <a:extLst>
                  <a:ext uri="{FF2B5EF4-FFF2-40B4-BE49-F238E27FC236}">
                    <a16:creationId xmlns:a16="http://schemas.microsoft.com/office/drawing/2014/main" id="{F38631F3-5DA5-7295-9F98-B4F3F6C14C5A}"/>
                  </a:ext>
                </a:extLst>
              </p:cNvPr>
              <p:cNvSpPr/>
              <p:nvPr/>
            </p:nvSpPr>
            <p:spPr>
              <a:xfrm>
                <a:off x="3145503" y="4462617"/>
                <a:ext cx="1075954" cy="1071404"/>
              </a:xfrm>
              <a:prstGeom prst="rect">
                <a:avLst/>
              </a:prstGeom>
              <a:noFill/>
              <a:ln w="571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1350"/>
              </a:p>
            </p:txBody>
          </p:sp>
        </p:grpSp>
      </p:grpSp>
      <p:sp>
        <p:nvSpPr>
          <p:cNvPr id="500" name="Arrow: Right 499">
            <a:extLst>
              <a:ext uri="{FF2B5EF4-FFF2-40B4-BE49-F238E27FC236}">
                <a16:creationId xmlns:a16="http://schemas.microsoft.com/office/drawing/2014/main" id="{D0D6BA5A-2F71-003E-3D01-28616CBE1B51}"/>
              </a:ext>
            </a:extLst>
          </p:cNvPr>
          <p:cNvSpPr/>
          <p:nvPr/>
        </p:nvSpPr>
        <p:spPr>
          <a:xfrm>
            <a:off x="4085197" y="3306557"/>
            <a:ext cx="749940" cy="365102"/>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nb-NO" sz="1350"/>
          </a:p>
        </p:txBody>
      </p:sp>
      <p:sp>
        <p:nvSpPr>
          <p:cNvPr id="501" name="Oval 500">
            <a:extLst>
              <a:ext uri="{FF2B5EF4-FFF2-40B4-BE49-F238E27FC236}">
                <a16:creationId xmlns:a16="http://schemas.microsoft.com/office/drawing/2014/main" id="{138F7F43-3F36-C803-F6A5-CFF05D89D06B}"/>
              </a:ext>
            </a:extLst>
          </p:cNvPr>
          <p:cNvSpPr/>
          <p:nvPr/>
        </p:nvSpPr>
        <p:spPr>
          <a:xfrm>
            <a:off x="5288031" y="2673881"/>
            <a:ext cx="97090" cy="100758"/>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nb-NO" sz="1350"/>
          </a:p>
        </p:txBody>
      </p:sp>
      <p:sp>
        <p:nvSpPr>
          <p:cNvPr id="502" name="Oval 501">
            <a:extLst>
              <a:ext uri="{FF2B5EF4-FFF2-40B4-BE49-F238E27FC236}">
                <a16:creationId xmlns:a16="http://schemas.microsoft.com/office/drawing/2014/main" id="{7FF83FA2-25CB-D88F-DB33-4B3A40131A03}"/>
              </a:ext>
            </a:extLst>
          </p:cNvPr>
          <p:cNvSpPr/>
          <p:nvPr/>
        </p:nvSpPr>
        <p:spPr>
          <a:xfrm>
            <a:off x="6092194" y="2673881"/>
            <a:ext cx="97090" cy="100758"/>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nb-NO" sz="1350"/>
          </a:p>
        </p:txBody>
      </p:sp>
      <p:sp>
        <p:nvSpPr>
          <p:cNvPr id="503" name="Oval 502">
            <a:extLst>
              <a:ext uri="{FF2B5EF4-FFF2-40B4-BE49-F238E27FC236}">
                <a16:creationId xmlns:a16="http://schemas.microsoft.com/office/drawing/2014/main" id="{A689A468-A85B-ACC5-495D-A7EF03CA2254}"/>
              </a:ext>
            </a:extLst>
          </p:cNvPr>
          <p:cNvSpPr/>
          <p:nvPr/>
        </p:nvSpPr>
        <p:spPr>
          <a:xfrm>
            <a:off x="6896358" y="2673881"/>
            <a:ext cx="97090" cy="100758"/>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nb-NO" sz="1350"/>
          </a:p>
        </p:txBody>
      </p:sp>
      <p:sp>
        <p:nvSpPr>
          <p:cNvPr id="504" name="Oval 503">
            <a:extLst>
              <a:ext uri="{FF2B5EF4-FFF2-40B4-BE49-F238E27FC236}">
                <a16:creationId xmlns:a16="http://schemas.microsoft.com/office/drawing/2014/main" id="{4A5C23CD-7386-9FF3-F7A2-AED78F57887D}"/>
              </a:ext>
            </a:extLst>
          </p:cNvPr>
          <p:cNvSpPr/>
          <p:nvPr/>
        </p:nvSpPr>
        <p:spPr>
          <a:xfrm>
            <a:off x="5288855" y="3478912"/>
            <a:ext cx="97090" cy="100758"/>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nb-NO" sz="1350"/>
          </a:p>
        </p:txBody>
      </p:sp>
      <p:sp>
        <p:nvSpPr>
          <p:cNvPr id="505" name="Oval 504">
            <a:extLst>
              <a:ext uri="{FF2B5EF4-FFF2-40B4-BE49-F238E27FC236}">
                <a16:creationId xmlns:a16="http://schemas.microsoft.com/office/drawing/2014/main" id="{613DC4B5-593B-17E3-5E4F-BAE71847F848}"/>
              </a:ext>
            </a:extLst>
          </p:cNvPr>
          <p:cNvSpPr/>
          <p:nvPr/>
        </p:nvSpPr>
        <p:spPr>
          <a:xfrm>
            <a:off x="6093018" y="3478912"/>
            <a:ext cx="97090" cy="100758"/>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nb-NO" sz="1350"/>
          </a:p>
        </p:txBody>
      </p:sp>
      <p:sp>
        <p:nvSpPr>
          <p:cNvPr id="506" name="Oval 505">
            <a:extLst>
              <a:ext uri="{FF2B5EF4-FFF2-40B4-BE49-F238E27FC236}">
                <a16:creationId xmlns:a16="http://schemas.microsoft.com/office/drawing/2014/main" id="{CBB3578E-5500-6BD8-BF49-6C2BF3582D25}"/>
              </a:ext>
            </a:extLst>
          </p:cNvPr>
          <p:cNvSpPr/>
          <p:nvPr/>
        </p:nvSpPr>
        <p:spPr>
          <a:xfrm>
            <a:off x="6897181" y="3478912"/>
            <a:ext cx="97090" cy="100758"/>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nb-NO" sz="1350"/>
          </a:p>
        </p:txBody>
      </p:sp>
      <p:sp>
        <p:nvSpPr>
          <p:cNvPr id="507" name="Oval 506">
            <a:extLst>
              <a:ext uri="{FF2B5EF4-FFF2-40B4-BE49-F238E27FC236}">
                <a16:creationId xmlns:a16="http://schemas.microsoft.com/office/drawing/2014/main" id="{698F7726-56C5-2D20-04E4-E5AAD9C282B3}"/>
              </a:ext>
            </a:extLst>
          </p:cNvPr>
          <p:cNvSpPr/>
          <p:nvPr/>
        </p:nvSpPr>
        <p:spPr>
          <a:xfrm>
            <a:off x="5294612" y="4279013"/>
            <a:ext cx="97090" cy="100758"/>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nb-NO" sz="1350"/>
          </a:p>
        </p:txBody>
      </p:sp>
      <p:sp>
        <p:nvSpPr>
          <p:cNvPr id="508" name="Oval 507">
            <a:extLst>
              <a:ext uri="{FF2B5EF4-FFF2-40B4-BE49-F238E27FC236}">
                <a16:creationId xmlns:a16="http://schemas.microsoft.com/office/drawing/2014/main" id="{4EBA5D42-96D1-3299-7244-24937C675C14}"/>
              </a:ext>
            </a:extLst>
          </p:cNvPr>
          <p:cNvSpPr/>
          <p:nvPr/>
        </p:nvSpPr>
        <p:spPr>
          <a:xfrm>
            <a:off x="6098775" y="4279013"/>
            <a:ext cx="97090" cy="100758"/>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nb-NO" sz="1350"/>
          </a:p>
        </p:txBody>
      </p:sp>
      <p:sp>
        <p:nvSpPr>
          <p:cNvPr id="509" name="Oval 508">
            <a:extLst>
              <a:ext uri="{FF2B5EF4-FFF2-40B4-BE49-F238E27FC236}">
                <a16:creationId xmlns:a16="http://schemas.microsoft.com/office/drawing/2014/main" id="{BE55570E-9539-66E5-7AFD-D7D9A0841507}"/>
              </a:ext>
            </a:extLst>
          </p:cNvPr>
          <p:cNvSpPr/>
          <p:nvPr/>
        </p:nvSpPr>
        <p:spPr>
          <a:xfrm>
            <a:off x="6902938" y="4279013"/>
            <a:ext cx="97090" cy="100758"/>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nb-NO" sz="1350"/>
          </a:p>
        </p:txBody>
      </p:sp>
    </p:spTree>
    <p:extLst>
      <p:ext uri="{BB962C8B-B14F-4D97-AF65-F5344CB8AC3E}">
        <p14:creationId xmlns:p14="http://schemas.microsoft.com/office/powerpoint/2010/main" val="46119103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40000" lnSpcReduction="20000"/>
          </a:bodyPr>
          <a:lstStyle/>
          <a:p>
            <a:pPr marL="0" lvl="0" indent="0">
              <a:buNone/>
            </a:pPr>
            <a:r>
              <a:rPr sz="4200" dirty="0"/>
              <a:t>Parameterize the graph:</a:t>
            </a:r>
          </a:p>
          <a:p>
            <a:pPr lvl="0" indent="0">
              <a:buNone/>
            </a:pPr>
            <a:r>
              <a:rPr sz="4200" dirty="0" err="1">
                <a:latin typeface="Courier"/>
              </a:rPr>
              <a:t>rast</a:t>
            </a:r>
            <a:r>
              <a:rPr sz="4200" dirty="0">
                <a:latin typeface="Courier"/>
              </a:rPr>
              <a:t> </a:t>
            </a:r>
            <a:r>
              <a:rPr sz="4200" dirty="0">
                <a:solidFill>
                  <a:srgbClr val="666666"/>
                </a:solidFill>
                <a:latin typeface="Courier"/>
              </a:rPr>
              <a:t>=</a:t>
            </a:r>
            <a:r>
              <a:rPr sz="4200" dirty="0">
                <a:latin typeface="Courier"/>
              </a:rPr>
              <a:t> </a:t>
            </a:r>
            <a:r>
              <a:rPr sz="4200" dirty="0" err="1">
                <a:solidFill>
                  <a:srgbClr val="06287E"/>
                </a:solidFill>
                <a:latin typeface="Courier"/>
              </a:rPr>
              <a:t>RasterStack</a:t>
            </a:r>
            <a:r>
              <a:rPr sz="4200" dirty="0">
                <a:latin typeface="Courier"/>
              </a:rPr>
              <a:t>((; affinities, qualities, </a:t>
            </a:r>
            <a:br>
              <a:rPr sz="4200" dirty="0"/>
            </a:br>
            <a:r>
              <a:rPr sz="4200" dirty="0">
                <a:latin typeface="Courier"/>
              </a:rPr>
              <a:t>            </a:t>
            </a:r>
            <a:r>
              <a:rPr sz="4200" dirty="0" err="1">
                <a:latin typeface="Courier"/>
              </a:rPr>
              <a:t>target_qualities</a:t>
            </a:r>
            <a:r>
              <a:rPr sz="4200" dirty="0">
                <a:solidFill>
                  <a:srgbClr val="666666"/>
                </a:solidFill>
                <a:latin typeface="Courier"/>
              </a:rPr>
              <a:t>=</a:t>
            </a:r>
            <a:r>
              <a:rPr sz="4200" dirty="0" err="1">
                <a:latin typeface="Courier"/>
              </a:rPr>
              <a:t>ConScape.</a:t>
            </a:r>
            <a:r>
              <a:rPr sz="4200" dirty="0" err="1">
                <a:solidFill>
                  <a:srgbClr val="06287E"/>
                </a:solidFill>
                <a:latin typeface="Courier"/>
              </a:rPr>
              <a:t>coarse_graining</a:t>
            </a:r>
            <a:r>
              <a:rPr sz="4200" dirty="0">
                <a:latin typeface="Courier"/>
              </a:rPr>
              <a:t>(qualities, </a:t>
            </a:r>
            <a:r>
              <a:rPr sz="4200" dirty="0">
                <a:solidFill>
                  <a:srgbClr val="40A070"/>
                </a:solidFill>
                <a:latin typeface="Courier"/>
              </a:rPr>
              <a:t>10</a:t>
            </a:r>
            <a:r>
              <a:rPr sz="4200" dirty="0">
                <a:latin typeface="Courier"/>
              </a:rPr>
              <a:t>)))</a:t>
            </a:r>
          </a:p>
          <a:p>
            <a:pPr lvl="0" indent="0">
              <a:buNone/>
            </a:pPr>
            <a:endParaRPr lang="nb-NO" dirty="0">
              <a:latin typeface="Courier"/>
            </a:endParaRPr>
          </a:p>
          <a:p>
            <a:pPr lvl="0" indent="0">
              <a:buNone/>
            </a:pPr>
            <a:endParaRPr lang="nb-NO" dirty="0">
              <a:latin typeface="Courier"/>
            </a:endParaRPr>
          </a:p>
          <a:p>
            <a:pPr lvl="0" indent="0">
              <a:buNone/>
            </a:pPr>
            <a:r>
              <a:rPr dirty="0">
                <a:solidFill>
                  <a:schemeClr val="bg1">
                    <a:lumMod val="50000"/>
                  </a:schemeClr>
                </a:solidFill>
                <a:latin typeface="Courier"/>
              </a:rPr>
              <a:t>┌ 434×586 </a:t>
            </a:r>
            <a:r>
              <a:rPr dirty="0" err="1">
                <a:solidFill>
                  <a:schemeClr val="bg1">
                    <a:lumMod val="50000"/>
                  </a:schemeClr>
                </a:solidFill>
                <a:latin typeface="Courier"/>
              </a:rPr>
              <a:t>RasterStack</a:t>
            </a:r>
            <a:r>
              <a:rPr dirty="0">
                <a:solidFill>
                  <a:schemeClr val="bg1">
                    <a:lumMod val="50000"/>
                  </a:schemeClr>
                </a:solidFill>
                <a:latin typeface="Courier"/>
              </a:rPr>
              <a:t> ┐
├─────────────────────┴────────────────────────────────────────────────── dims ┐
  ↓ Y Projected{Float64} 6.98255e6:-200.0:6.89595e6 </a:t>
            </a:r>
            <a:r>
              <a:rPr dirty="0" err="1">
                <a:solidFill>
                  <a:schemeClr val="bg1">
                    <a:lumMod val="50000"/>
                  </a:schemeClr>
                </a:solidFill>
                <a:latin typeface="Courier"/>
              </a:rPr>
              <a:t>ReverseOrdered</a:t>
            </a:r>
            <a:r>
              <a:rPr dirty="0">
                <a:solidFill>
                  <a:schemeClr val="bg1">
                    <a:lumMod val="50000"/>
                  </a:schemeClr>
                </a:solidFill>
                <a:latin typeface="Courier"/>
              </a:rPr>
              <a:t> Regular Intervals{Start},
  → X Projected{Float64} 110250.0:200.0:227250.0 </a:t>
            </a:r>
            <a:r>
              <a:rPr dirty="0" err="1">
                <a:solidFill>
                  <a:schemeClr val="bg1">
                    <a:lumMod val="50000"/>
                  </a:schemeClr>
                </a:solidFill>
                <a:latin typeface="Courier"/>
              </a:rPr>
              <a:t>ForwardOrdered</a:t>
            </a:r>
            <a:r>
              <a:rPr dirty="0">
                <a:solidFill>
                  <a:schemeClr val="bg1">
                    <a:lumMod val="50000"/>
                  </a:schemeClr>
                </a:solidFill>
                <a:latin typeface="Courier"/>
              </a:rPr>
              <a:t> Regular Intervals{Start}
├────────────────────────────────────────────────────────────────────── layers ┤
  :affinities       </a:t>
            </a:r>
            <a:r>
              <a:rPr dirty="0" err="1">
                <a:solidFill>
                  <a:schemeClr val="bg1">
                    <a:lumMod val="50000"/>
                  </a:schemeClr>
                </a:solidFill>
                <a:latin typeface="Courier"/>
              </a:rPr>
              <a:t>eltype</a:t>
            </a:r>
            <a:r>
              <a:rPr dirty="0">
                <a:solidFill>
                  <a:schemeClr val="bg1">
                    <a:lumMod val="50000"/>
                  </a:schemeClr>
                </a:solidFill>
                <a:latin typeface="Courier"/>
              </a:rPr>
              <a:t>: Float64 dims: Y, X size: 434×586
  :qualities        </a:t>
            </a:r>
            <a:r>
              <a:rPr dirty="0" err="1">
                <a:solidFill>
                  <a:schemeClr val="bg1">
                    <a:lumMod val="50000"/>
                  </a:schemeClr>
                </a:solidFill>
                <a:latin typeface="Courier"/>
              </a:rPr>
              <a:t>eltype</a:t>
            </a:r>
            <a:r>
              <a:rPr dirty="0">
                <a:solidFill>
                  <a:schemeClr val="bg1">
                    <a:lumMod val="50000"/>
                  </a:schemeClr>
                </a:solidFill>
                <a:latin typeface="Courier"/>
              </a:rPr>
              <a:t>: Float64 dims: Y, X size: 434×586
  :</a:t>
            </a:r>
            <a:r>
              <a:rPr dirty="0" err="1">
                <a:solidFill>
                  <a:schemeClr val="bg1">
                    <a:lumMod val="50000"/>
                  </a:schemeClr>
                </a:solidFill>
                <a:latin typeface="Courier"/>
              </a:rPr>
              <a:t>target_qualities</a:t>
            </a:r>
            <a:r>
              <a:rPr dirty="0">
                <a:solidFill>
                  <a:schemeClr val="bg1">
                    <a:lumMod val="50000"/>
                  </a:schemeClr>
                </a:solidFill>
                <a:latin typeface="Courier"/>
              </a:rPr>
              <a:t> </a:t>
            </a:r>
            <a:r>
              <a:rPr dirty="0" err="1">
                <a:solidFill>
                  <a:schemeClr val="bg1">
                    <a:lumMod val="50000"/>
                  </a:schemeClr>
                </a:solidFill>
                <a:latin typeface="Courier"/>
              </a:rPr>
              <a:t>eltype</a:t>
            </a:r>
            <a:r>
              <a:rPr dirty="0">
                <a:solidFill>
                  <a:schemeClr val="bg1">
                    <a:lumMod val="50000"/>
                  </a:schemeClr>
                </a:solidFill>
                <a:latin typeface="Courier"/>
              </a:rPr>
              <a:t>: Float64 dims: Y, X size: 434×586
├────────────────────────────────────────────────────────────────────── raster ┤
  extent: Extent(Y = (6.89595e6, 6.98275e6), X = (110250.0, 227450.0))
  </a:t>
            </a:r>
            <a:r>
              <a:rPr dirty="0" err="1">
                <a:solidFill>
                  <a:schemeClr val="bg1">
                    <a:lumMod val="50000"/>
                  </a:schemeClr>
                </a:solidFill>
                <a:latin typeface="Courier"/>
              </a:rPr>
              <a:t>missingval</a:t>
            </a:r>
            <a:r>
              <a:rPr dirty="0">
                <a:solidFill>
                  <a:schemeClr val="bg1">
                    <a:lumMod val="50000"/>
                  </a:schemeClr>
                </a:solidFill>
                <a:latin typeface="Courier"/>
              </a:rPr>
              <a:t>: </a:t>
            </a:r>
            <a:r>
              <a:rPr dirty="0" err="1">
                <a:solidFill>
                  <a:schemeClr val="bg1">
                    <a:lumMod val="50000"/>
                  </a:schemeClr>
                </a:solidFill>
                <a:latin typeface="Courier"/>
              </a:rPr>
              <a:t>NaN</a:t>
            </a:r>
            <a:r>
              <a:rPr dirty="0">
                <a:solidFill>
                  <a:schemeClr val="bg1">
                    <a:lumMod val="50000"/>
                  </a:schemeClr>
                </a:solidFill>
                <a:latin typeface="Courier"/>
              </a:rPr>
              <a:t>
  </a:t>
            </a:r>
            <a:r>
              <a:rPr dirty="0" err="1">
                <a:solidFill>
                  <a:schemeClr val="bg1">
                    <a:lumMod val="50000"/>
                  </a:schemeClr>
                </a:solidFill>
                <a:latin typeface="Courier"/>
              </a:rPr>
              <a:t>crs</a:t>
            </a:r>
            <a:r>
              <a:rPr dirty="0">
                <a:solidFill>
                  <a:schemeClr val="bg1">
                    <a:lumMod val="50000"/>
                  </a:schemeClr>
                </a:solidFill>
                <a:latin typeface="Courier"/>
              </a:rPr>
              <a:t>: 
└──────────────────────────────────────────────────────────────────────────────┘</a:t>
            </a:r>
          </a:p>
        </p:txBody>
      </p:sp>
      <p:sp>
        <p:nvSpPr>
          <p:cNvPr id="2" name="Title 1">
            <a:extLst>
              <a:ext uri="{FF2B5EF4-FFF2-40B4-BE49-F238E27FC236}">
                <a16:creationId xmlns:a16="http://schemas.microsoft.com/office/drawing/2014/main" id="{0252ABE5-C589-7229-1DED-1F1E46C8B070}"/>
              </a:ext>
            </a:extLst>
          </p:cNvPr>
          <p:cNvSpPr>
            <a:spLocks noGrp="1"/>
          </p:cNvSpPr>
          <p:nvPr>
            <p:ph type="title"/>
          </p:nvPr>
        </p:nvSpPr>
        <p:spPr>
          <a:xfrm>
            <a:off x="457200" y="205979"/>
            <a:ext cx="8229600" cy="857250"/>
          </a:xfrm>
        </p:spPr>
        <p:txBody>
          <a:bodyPr>
            <a:normAutofit/>
          </a:bodyPr>
          <a:lstStyle/>
          <a:p>
            <a:pPr marL="0" lvl="0" indent="0">
              <a:buNone/>
            </a:pPr>
            <a:r>
              <a:rPr lang="en-US" dirty="0"/>
              <a:t>Third: compute graph measures</a:t>
            </a:r>
            <a:endParaRPr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379E7-F424-472A-8B8F-C8165F5413E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7A9D8A-E210-56AB-4C6A-E8B1677810F5}"/>
              </a:ext>
            </a:extLst>
          </p:cNvPr>
          <p:cNvSpPr>
            <a:spLocks noGrp="1"/>
          </p:cNvSpPr>
          <p:nvPr>
            <p:ph idx="1"/>
          </p:nvPr>
        </p:nvSpPr>
        <p:spPr/>
        <p:txBody>
          <a:bodyPr>
            <a:normAutofit/>
          </a:bodyPr>
          <a:lstStyle/>
          <a:p>
            <a:pPr marL="0" lvl="0" indent="0">
              <a:buNone/>
            </a:pPr>
            <a:r>
              <a:rPr lang="en-US" sz="2000" dirty="0"/>
              <a:t>Parameterize the paths:</a:t>
            </a:r>
          </a:p>
          <a:p>
            <a:pPr lvl="0" indent="0">
              <a:buNone/>
            </a:pPr>
            <a:r>
              <a:rPr lang="en-US" sz="2000" dirty="0">
                <a:latin typeface="Courier"/>
              </a:rPr>
              <a:t>θ </a:t>
            </a:r>
            <a:r>
              <a:rPr lang="en-US" sz="2000" dirty="0">
                <a:solidFill>
                  <a:srgbClr val="666666"/>
                </a:solidFill>
                <a:latin typeface="Courier"/>
              </a:rPr>
              <a:t>=</a:t>
            </a:r>
            <a:r>
              <a:rPr lang="en-US" sz="2000" dirty="0">
                <a:latin typeface="Courier"/>
              </a:rPr>
              <a:t> </a:t>
            </a:r>
            <a:r>
              <a:rPr lang="en-US" sz="2000" dirty="0">
                <a:solidFill>
                  <a:srgbClr val="40A070"/>
                </a:solidFill>
                <a:latin typeface="Courier"/>
              </a:rPr>
              <a:t>0.1</a:t>
            </a:r>
            <a:br>
              <a:rPr lang="en-US" sz="2000" dirty="0"/>
            </a:br>
            <a:r>
              <a:rPr lang="en-US" sz="2000" dirty="0">
                <a:latin typeface="Courier"/>
              </a:rPr>
              <a:t>α </a:t>
            </a:r>
            <a:r>
              <a:rPr lang="en-US" sz="2000" dirty="0">
                <a:solidFill>
                  <a:srgbClr val="666666"/>
                </a:solidFill>
                <a:latin typeface="Courier"/>
              </a:rPr>
              <a:t>=</a:t>
            </a:r>
            <a:r>
              <a:rPr lang="en-US" sz="2000" dirty="0">
                <a:latin typeface="Courier"/>
              </a:rPr>
              <a:t> </a:t>
            </a:r>
            <a:r>
              <a:rPr lang="en-US" sz="2000" dirty="0">
                <a:solidFill>
                  <a:srgbClr val="40A070"/>
                </a:solidFill>
                <a:latin typeface="Courier"/>
              </a:rPr>
              <a:t>1</a:t>
            </a:r>
            <a:r>
              <a:rPr lang="en-US" sz="2000" dirty="0">
                <a:solidFill>
                  <a:srgbClr val="666666"/>
                </a:solidFill>
                <a:latin typeface="Courier"/>
              </a:rPr>
              <a:t>/</a:t>
            </a:r>
            <a:r>
              <a:rPr lang="en-US" sz="2000" dirty="0">
                <a:solidFill>
                  <a:srgbClr val="40A070"/>
                </a:solidFill>
                <a:latin typeface="Courier"/>
              </a:rPr>
              <a:t>500</a:t>
            </a:r>
          </a:p>
          <a:p>
            <a:pPr lvl="0" indent="0">
              <a:buNone/>
            </a:pPr>
            <a:endParaRPr lang="en-US" sz="2000" dirty="0">
              <a:latin typeface="Courier"/>
            </a:endParaRPr>
          </a:p>
          <a:p>
            <a:pPr lvl="0" indent="0">
              <a:buNone/>
            </a:pPr>
            <a:r>
              <a:rPr lang="en-US" sz="1400" dirty="0">
                <a:solidFill>
                  <a:schemeClr val="bg1">
                    <a:lumMod val="50000"/>
                  </a:schemeClr>
                </a:solidFill>
                <a:latin typeface="Courier"/>
              </a:rPr>
              <a:t>0.002</a:t>
            </a:r>
            <a:endParaRPr sz="1400" dirty="0">
              <a:solidFill>
                <a:schemeClr val="bg1">
                  <a:lumMod val="50000"/>
                </a:schemeClr>
              </a:solidFill>
              <a:latin typeface="Courier"/>
            </a:endParaRPr>
          </a:p>
        </p:txBody>
      </p:sp>
      <p:sp>
        <p:nvSpPr>
          <p:cNvPr id="2" name="Title 1">
            <a:extLst>
              <a:ext uri="{FF2B5EF4-FFF2-40B4-BE49-F238E27FC236}">
                <a16:creationId xmlns:a16="http://schemas.microsoft.com/office/drawing/2014/main" id="{B2D30732-EAB5-542C-C156-5603C70C117E}"/>
              </a:ext>
            </a:extLst>
          </p:cNvPr>
          <p:cNvSpPr>
            <a:spLocks noGrp="1"/>
          </p:cNvSpPr>
          <p:nvPr>
            <p:ph type="title"/>
          </p:nvPr>
        </p:nvSpPr>
        <p:spPr>
          <a:xfrm>
            <a:off x="457200" y="205979"/>
            <a:ext cx="8229600" cy="857250"/>
          </a:xfrm>
        </p:spPr>
        <p:txBody>
          <a:bodyPr>
            <a:normAutofit/>
          </a:bodyPr>
          <a:lstStyle/>
          <a:p>
            <a:pPr marL="0" lvl="0" indent="0">
              <a:buNone/>
            </a:pPr>
            <a:r>
              <a:rPr lang="en-US" dirty="0"/>
              <a:t>Third: compute graph measures</a:t>
            </a:r>
            <a:endParaRPr dirty="0"/>
          </a:p>
        </p:txBody>
      </p:sp>
    </p:spTree>
    <p:extLst>
      <p:ext uri="{BB962C8B-B14F-4D97-AF65-F5344CB8AC3E}">
        <p14:creationId xmlns:p14="http://schemas.microsoft.com/office/powerpoint/2010/main" val="337825947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58C5D0-12CD-40AB-E19A-63CFF41AE28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2B46D50-DEF3-0439-C1CE-85C7B46BA271}"/>
              </a:ext>
            </a:extLst>
          </p:cNvPr>
          <p:cNvSpPr>
            <a:spLocks noGrp="1"/>
          </p:cNvSpPr>
          <p:nvPr>
            <p:ph idx="1"/>
          </p:nvPr>
        </p:nvSpPr>
        <p:spPr/>
        <p:txBody>
          <a:bodyPr>
            <a:normAutofit fontScale="70000" lnSpcReduction="20000"/>
          </a:bodyPr>
          <a:lstStyle/>
          <a:p>
            <a:pPr marL="0" lvl="0" indent="0">
              <a:buNone/>
            </a:pPr>
            <a:r>
              <a:rPr lang="nb-NO" sz="2900" dirty="0"/>
              <a:t>Setup </a:t>
            </a:r>
            <a:r>
              <a:rPr lang="nb-NO" sz="2900" dirty="0" err="1"/>
              <a:t>the</a:t>
            </a:r>
            <a:r>
              <a:rPr lang="nb-NO" sz="2900" dirty="0"/>
              <a:t> problem:</a:t>
            </a:r>
          </a:p>
          <a:p>
            <a:pPr lvl="0" indent="0">
              <a:buNone/>
            </a:pPr>
            <a:r>
              <a:rPr lang="nb-NO" sz="2900" dirty="0" err="1">
                <a:latin typeface="Courier"/>
              </a:rPr>
              <a:t>graph_measures</a:t>
            </a:r>
            <a:r>
              <a:rPr lang="nb-NO" sz="2900" dirty="0">
                <a:latin typeface="Courier"/>
              </a:rPr>
              <a:t> </a:t>
            </a:r>
            <a:r>
              <a:rPr lang="nb-NO" sz="2900" dirty="0">
                <a:solidFill>
                  <a:srgbClr val="666666"/>
                </a:solidFill>
                <a:latin typeface="Courier"/>
              </a:rPr>
              <a:t>=</a:t>
            </a:r>
            <a:r>
              <a:rPr lang="nb-NO" sz="2900" dirty="0">
                <a:latin typeface="Courier"/>
              </a:rPr>
              <a:t> (; 		</a:t>
            </a:r>
            <a:r>
              <a:rPr lang="nb-NO" sz="2900" dirty="0" err="1">
                <a:latin typeface="Courier"/>
              </a:rPr>
              <a:t>ch</a:t>
            </a:r>
            <a:r>
              <a:rPr lang="nb-NO" sz="2900" dirty="0">
                <a:solidFill>
                  <a:srgbClr val="666666"/>
                </a:solidFill>
                <a:latin typeface="Courier"/>
              </a:rPr>
              <a:t>=</a:t>
            </a:r>
            <a:r>
              <a:rPr lang="nb-NO" sz="2900" dirty="0" err="1">
                <a:latin typeface="Courier"/>
              </a:rPr>
              <a:t>ConScape.</a:t>
            </a:r>
            <a:r>
              <a:rPr lang="nb-NO" sz="2900" dirty="0" err="1">
                <a:solidFill>
                  <a:srgbClr val="06287E"/>
                </a:solidFill>
                <a:latin typeface="Courier"/>
              </a:rPr>
              <a:t>ConnectedHabitat</a:t>
            </a:r>
            <a:r>
              <a:rPr lang="nb-NO" sz="2900" dirty="0">
                <a:latin typeface="Courier"/>
              </a:rPr>
              <a:t>())</a:t>
            </a:r>
            <a:br>
              <a:rPr lang="nb-NO" sz="2900" dirty="0"/>
            </a:br>
            <a:r>
              <a:rPr lang="nb-NO" sz="2900" dirty="0" err="1">
                <a:latin typeface="Courier"/>
              </a:rPr>
              <a:t>distance_transformation</a:t>
            </a:r>
            <a:r>
              <a:rPr lang="nb-NO" sz="2900" dirty="0">
                <a:latin typeface="Courier"/>
              </a:rPr>
              <a:t> </a:t>
            </a:r>
            <a:r>
              <a:rPr lang="nb-NO" sz="2900" dirty="0">
                <a:solidFill>
                  <a:srgbClr val="666666"/>
                </a:solidFill>
                <a:latin typeface="Courier"/>
              </a:rPr>
              <a:t>=</a:t>
            </a:r>
            <a:r>
              <a:rPr lang="nb-NO" sz="2900" dirty="0">
                <a:latin typeface="Courier"/>
              </a:rPr>
              <a:t> (</a:t>
            </a:r>
            <a:r>
              <a:rPr lang="nb-NO" sz="2900" dirty="0" err="1">
                <a:latin typeface="Courier"/>
              </a:rPr>
              <a:t>expx</a:t>
            </a:r>
            <a:r>
              <a:rPr lang="nb-NO" sz="2900" dirty="0">
                <a:solidFill>
                  <a:srgbClr val="666666"/>
                </a:solidFill>
                <a:latin typeface="Courier"/>
              </a:rPr>
              <a:t>=</a:t>
            </a:r>
            <a:r>
              <a:rPr lang="nb-NO" sz="2900" dirty="0">
                <a:latin typeface="Courier"/>
              </a:rPr>
              <a:t>t </a:t>
            </a:r>
            <a:r>
              <a:rPr lang="nb-NO" sz="2900" dirty="0">
                <a:solidFill>
                  <a:srgbClr val="666666"/>
                </a:solidFill>
                <a:latin typeface="Courier"/>
              </a:rPr>
              <a:t>-&gt;</a:t>
            </a:r>
            <a:r>
              <a:rPr lang="nb-NO" sz="2900" dirty="0">
                <a:latin typeface="Courier"/>
              </a:rPr>
              <a:t> </a:t>
            </a:r>
            <a:r>
              <a:rPr lang="nb-NO" sz="2900" dirty="0" err="1">
                <a:solidFill>
                  <a:srgbClr val="06287E"/>
                </a:solidFill>
                <a:latin typeface="Courier"/>
              </a:rPr>
              <a:t>exp</a:t>
            </a:r>
            <a:r>
              <a:rPr lang="nb-NO" sz="2900" dirty="0">
                <a:latin typeface="Courier"/>
              </a:rPr>
              <a:t>(</a:t>
            </a:r>
            <a:r>
              <a:rPr lang="nb-NO" sz="2900" dirty="0">
                <a:solidFill>
                  <a:srgbClr val="666666"/>
                </a:solidFill>
                <a:latin typeface="Courier"/>
              </a:rPr>
              <a:t>-</a:t>
            </a:r>
            <a:r>
              <a:rPr lang="el-GR" sz="2900" dirty="0">
                <a:latin typeface="Courier"/>
              </a:rPr>
              <a:t>α</a:t>
            </a:r>
            <a:r>
              <a:rPr lang="el-GR" sz="2900" dirty="0">
                <a:solidFill>
                  <a:srgbClr val="666666"/>
                </a:solidFill>
                <a:latin typeface="Courier"/>
              </a:rPr>
              <a:t>*</a:t>
            </a:r>
            <a:r>
              <a:rPr lang="nb-NO" sz="2900" dirty="0">
                <a:latin typeface="Courier"/>
              </a:rPr>
              <a:t>t))</a:t>
            </a:r>
            <a:br>
              <a:rPr lang="nb-NO" sz="2900" dirty="0"/>
            </a:br>
            <a:r>
              <a:rPr lang="nb-NO" sz="2900" dirty="0" err="1">
                <a:latin typeface="Courier"/>
              </a:rPr>
              <a:t>connectivity_measure</a:t>
            </a:r>
            <a:r>
              <a:rPr lang="nb-NO" sz="2900" dirty="0">
                <a:latin typeface="Courier"/>
              </a:rPr>
              <a:t> </a:t>
            </a:r>
            <a:r>
              <a:rPr lang="nb-NO" sz="2900" dirty="0">
                <a:solidFill>
                  <a:srgbClr val="666666"/>
                </a:solidFill>
                <a:latin typeface="Courier"/>
              </a:rPr>
              <a:t>=</a:t>
            </a:r>
            <a:r>
              <a:rPr lang="nb-NO" sz="2900" dirty="0">
                <a:latin typeface="Courier"/>
              </a:rPr>
              <a:t> </a:t>
            </a:r>
            <a:r>
              <a:rPr lang="nb-NO" sz="2900" dirty="0" err="1">
                <a:latin typeface="Courier"/>
              </a:rPr>
              <a:t>ConScape.</a:t>
            </a:r>
            <a:r>
              <a:rPr lang="nb-NO" sz="2900" dirty="0" err="1">
                <a:solidFill>
                  <a:srgbClr val="06287E"/>
                </a:solidFill>
                <a:latin typeface="Courier"/>
              </a:rPr>
              <a:t>ExpectedCost</a:t>
            </a:r>
            <a:r>
              <a:rPr lang="nb-NO" sz="2900" dirty="0">
                <a:latin typeface="Courier"/>
              </a:rPr>
              <a:t>(; </a:t>
            </a:r>
            <a:r>
              <a:rPr lang="el-GR" sz="2900" dirty="0">
                <a:latin typeface="Courier"/>
              </a:rPr>
              <a:t>θ, </a:t>
            </a:r>
            <a:r>
              <a:rPr lang="nb-NO" sz="2900" dirty="0">
                <a:latin typeface="Courier"/>
              </a:rPr>
              <a:t>	</a:t>
            </a:r>
            <a:r>
              <a:rPr lang="nb-NO" sz="2900" dirty="0" err="1">
                <a:latin typeface="Courier"/>
              </a:rPr>
              <a:t>distance_transformation</a:t>
            </a:r>
            <a:r>
              <a:rPr lang="nb-NO" sz="2900" dirty="0">
                <a:latin typeface="Courier"/>
              </a:rPr>
              <a:t>)</a:t>
            </a:r>
            <a:br>
              <a:rPr lang="nb-NO" sz="2900" dirty="0"/>
            </a:br>
            <a:r>
              <a:rPr lang="nb-NO" sz="2900" dirty="0">
                <a:latin typeface="Courier"/>
              </a:rPr>
              <a:t>problem </a:t>
            </a:r>
            <a:r>
              <a:rPr lang="nb-NO" sz="2900" dirty="0">
                <a:solidFill>
                  <a:srgbClr val="666666"/>
                </a:solidFill>
                <a:latin typeface="Courier"/>
              </a:rPr>
              <a:t>=</a:t>
            </a:r>
            <a:r>
              <a:rPr lang="nb-NO" sz="2900" dirty="0">
                <a:latin typeface="Courier"/>
              </a:rPr>
              <a:t> </a:t>
            </a:r>
            <a:r>
              <a:rPr lang="nb-NO" sz="2900" dirty="0" err="1">
                <a:latin typeface="Courier"/>
              </a:rPr>
              <a:t>ConScape.</a:t>
            </a:r>
            <a:r>
              <a:rPr lang="nb-NO" sz="2900" dirty="0" err="1">
                <a:solidFill>
                  <a:srgbClr val="06287E"/>
                </a:solidFill>
                <a:latin typeface="Courier"/>
              </a:rPr>
              <a:t>Problem</a:t>
            </a:r>
            <a:r>
              <a:rPr lang="nb-NO" sz="2900" dirty="0">
                <a:latin typeface="Courier"/>
              </a:rPr>
              <a:t>(;</a:t>
            </a:r>
            <a:r>
              <a:rPr lang="nb-NO" sz="2900" dirty="0" err="1">
                <a:latin typeface="Courier"/>
              </a:rPr>
              <a:t>graph_measures</a:t>
            </a:r>
            <a:r>
              <a:rPr lang="nb-NO" sz="2900" dirty="0">
                <a:latin typeface="Courier"/>
              </a:rPr>
              <a:t>, 	</a:t>
            </a:r>
            <a:r>
              <a:rPr lang="nb-NO" sz="2900" dirty="0" err="1">
                <a:latin typeface="Courier"/>
              </a:rPr>
              <a:t>connectivity_measure</a:t>
            </a:r>
            <a:r>
              <a:rPr lang="nb-NO" sz="2900" dirty="0">
                <a:latin typeface="Courier"/>
              </a:rPr>
              <a:t>, </a:t>
            </a:r>
            <a:r>
              <a:rPr lang="nb-NO" sz="2900" dirty="0" err="1">
                <a:latin typeface="Courier"/>
              </a:rPr>
              <a:t>solver</a:t>
            </a:r>
            <a:r>
              <a:rPr lang="nb-NO" sz="2900" dirty="0">
                <a:latin typeface="Courier"/>
              </a:rPr>
              <a:t>)</a:t>
            </a:r>
          </a:p>
          <a:p>
            <a:pPr lvl="0" indent="0">
              <a:buNone/>
            </a:pPr>
            <a:endParaRPr lang="nb-NO" sz="2000" dirty="0">
              <a:latin typeface="Courier"/>
            </a:endParaRPr>
          </a:p>
          <a:p>
            <a:pPr lvl="0" indent="0">
              <a:buNone/>
            </a:pPr>
            <a:r>
              <a:rPr lang="nb-NO" sz="2000" dirty="0" err="1">
                <a:solidFill>
                  <a:schemeClr val="bg1">
                    <a:lumMod val="50000"/>
                  </a:schemeClr>
                </a:solidFill>
                <a:latin typeface="Courier"/>
              </a:rPr>
              <a:t>ConScape.Problem</a:t>
            </a:r>
            <a:r>
              <a:rPr lang="nb-NO" sz="2000" dirty="0">
                <a:solidFill>
                  <a:schemeClr val="bg1">
                    <a:lumMod val="50000"/>
                  </a:schemeClr>
                </a:solidFill>
                <a:latin typeface="Courier"/>
              </a:rPr>
              <a:t>{@NamedTuple{ch::ConScape.ConnectedHabitat}, </a:t>
            </a:r>
            <a:r>
              <a:rPr lang="nb-NO" sz="2000" dirty="0" err="1">
                <a:solidFill>
                  <a:schemeClr val="bg1">
                    <a:lumMod val="50000"/>
                  </a:schemeClr>
                </a:solidFill>
                <a:latin typeface="Courier"/>
              </a:rPr>
              <a:t>ConScape.ExpectedCost</a:t>
            </a:r>
            <a:r>
              <a:rPr lang="nb-NO" sz="2000" dirty="0">
                <a:solidFill>
                  <a:schemeClr val="bg1">
                    <a:lumMod val="50000"/>
                  </a:schemeClr>
                </a:solidFill>
                <a:latin typeface="Courier"/>
              </a:rPr>
              <a:t>{Float64, var"#17#18"}, </a:t>
            </a:r>
            <a:r>
              <a:rPr lang="nb-NO" sz="2000" dirty="0" err="1">
                <a:solidFill>
                  <a:schemeClr val="bg1">
                    <a:lumMod val="50000"/>
                  </a:schemeClr>
                </a:solidFill>
                <a:latin typeface="Courier"/>
              </a:rPr>
              <a:t>ConScape.MatrixSolver</a:t>
            </a:r>
            <a:r>
              <a:rPr lang="nb-NO" sz="2000" dirty="0">
                <a:solidFill>
                  <a:schemeClr val="bg1">
                    <a:lumMod val="50000"/>
                  </a:schemeClr>
                </a:solidFill>
                <a:latin typeface="Courier"/>
              </a:rPr>
              <a:t>, </a:t>
            </a:r>
            <a:r>
              <a:rPr lang="nb-NO" sz="2000" dirty="0" err="1">
                <a:solidFill>
                  <a:schemeClr val="bg1">
                    <a:lumMod val="50000"/>
                  </a:schemeClr>
                </a:solidFill>
                <a:latin typeface="Courier"/>
              </a:rPr>
              <a:t>Nothing</a:t>
            </a:r>
            <a:r>
              <a:rPr lang="nb-NO" sz="2000" dirty="0">
                <a:solidFill>
                  <a:schemeClr val="bg1">
                    <a:lumMod val="50000"/>
                  </a:schemeClr>
                </a:solidFill>
                <a:latin typeface="Courier"/>
              </a:rPr>
              <a:t>, </a:t>
            </a:r>
            <a:r>
              <a:rPr lang="nb-NO" sz="2000" dirty="0" err="1">
                <a:solidFill>
                  <a:schemeClr val="bg1">
                    <a:lumMod val="50000"/>
                  </a:schemeClr>
                </a:solidFill>
                <a:latin typeface="Courier"/>
              </a:rPr>
              <a:t>ConScape.MinusLog</a:t>
            </a:r>
            <a:r>
              <a:rPr lang="nb-NO" sz="2000" dirty="0">
                <a:solidFill>
                  <a:schemeClr val="bg1">
                    <a:lumMod val="50000"/>
                  </a:schemeClr>
                </a:solidFill>
                <a:latin typeface="Courier"/>
              </a:rPr>
              <a:t>}((</a:t>
            </a:r>
            <a:r>
              <a:rPr lang="nb-NO" sz="2000" dirty="0" err="1">
                <a:solidFill>
                  <a:schemeClr val="bg1">
                    <a:lumMod val="50000"/>
                  </a:schemeClr>
                </a:solidFill>
                <a:latin typeface="Courier"/>
              </a:rPr>
              <a:t>ch</a:t>
            </a:r>
            <a:r>
              <a:rPr lang="nb-NO" sz="2000" dirty="0">
                <a:solidFill>
                  <a:schemeClr val="bg1">
                    <a:lumMod val="50000"/>
                  </a:schemeClr>
                </a:solidFill>
                <a:latin typeface="Courier"/>
              </a:rPr>
              <a:t> = </a:t>
            </a:r>
            <a:r>
              <a:rPr lang="nb-NO" sz="2000" dirty="0" err="1">
                <a:solidFill>
                  <a:schemeClr val="bg1">
                    <a:lumMod val="50000"/>
                  </a:schemeClr>
                </a:solidFill>
                <a:latin typeface="Courier"/>
              </a:rPr>
              <a:t>ConScape.ConnectedHabitat</a:t>
            </a:r>
            <a:r>
              <a:rPr lang="nb-NO" sz="2000" dirty="0">
                <a:solidFill>
                  <a:schemeClr val="bg1">
                    <a:lumMod val="50000"/>
                  </a:schemeClr>
                </a:solidFill>
                <a:latin typeface="Courier"/>
              </a:rPr>
              <a:t>(),), </a:t>
            </a:r>
            <a:r>
              <a:rPr lang="nb-NO" sz="2000" dirty="0" err="1">
                <a:solidFill>
                  <a:schemeClr val="bg1">
                    <a:lumMod val="50000"/>
                  </a:schemeClr>
                </a:solidFill>
                <a:latin typeface="Courier"/>
              </a:rPr>
              <a:t>ConScape.ExpectedCost</a:t>
            </a:r>
            <a:r>
              <a:rPr lang="nb-NO" sz="2000" dirty="0">
                <a:solidFill>
                  <a:schemeClr val="bg1">
                    <a:lumMod val="50000"/>
                  </a:schemeClr>
                </a:solidFill>
                <a:latin typeface="Courier"/>
              </a:rPr>
              <a:t>{Float64, var"#17#18"}(0.1, var"#17#18"(), false), </a:t>
            </a:r>
            <a:r>
              <a:rPr lang="nb-NO" sz="2000" dirty="0" err="1">
                <a:solidFill>
                  <a:schemeClr val="bg1">
                    <a:lumMod val="50000"/>
                  </a:schemeClr>
                </a:solidFill>
                <a:latin typeface="Courier"/>
              </a:rPr>
              <a:t>ConScape.MatrixSolver</a:t>
            </a:r>
            <a:r>
              <a:rPr lang="nb-NO" sz="2000" dirty="0">
                <a:solidFill>
                  <a:schemeClr val="bg1">
                    <a:lumMod val="50000"/>
                  </a:schemeClr>
                </a:solidFill>
                <a:latin typeface="Courier"/>
              </a:rPr>
              <a:t>(true), </a:t>
            </a:r>
            <a:r>
              <a:rPr lang="nb-NO" sz="2000" dirty="0" err="1">
                <a:solidFill>
                  <a:schemeClr val="bg1">
                    <a:lumMod val="50000"/>
                  </a:schemeClr>
                </a:solidFill>
                <a:latin typeface="Courier"/>
              </a:rPr>
              <a:t>nothing</a:t>
            </a:r>
            <a:r>
              <a:rPr lang="nb-NO" sz="2000" dirty="0">
                <a:solidFill>
                  <a:schemeClr val="bg1">
                    <a:lumMod val="50000"/>
                  </a:schemeClr>
                </a:solidFill>
                <a:latin typeface="Courier"/>
              </a:rPr>
              <a:t>, </a:t>
            </a:r>
            <a:r>
              <a:rPr lang="nb-NO" sz="2000" dirty="0" err="1">
                <a:solidFill>
                  <a:schemeClr val="bg1">
                    <a:lumMod val="50000"/>
                  </a:schemeClr>
                </a:solidFill>
                <a:latin typeface="Courier"/>
              </a:rPr>
              <a:t>ConScape.MinusLog</a:t>
            </a:r>
            <a:r>
              <a:rPr lang="nb-NO" sz="2000" dirty="0">
                <a:solidFill>
                  <a:schemeClr val="bg1">
                    <a:lumMod val="50000"/>
                  </a:schemeClr>
                </a:solidFill>
                <a:latin typeface="Courier"/>
              </a:rPr>
              <a:t>(), true)</a:t>
            </a:r>
          </a:p>
        </p:txBody>
      </p:sp>
      <p:sp>
        <p:nvSpPr>
          <p:cNvPr id="2" name="Title 1">
            <a:extLst>
              <a:ext uri="{FF2B5EF4-FFF2-40B4-BE49-F238E27FC236}">
                <a16:creationId xmlns:a16="http://schemas.microsoft.com/office/drawing/2014/main" id="{652941EC-B59A-4BB1-789D-F3BCD50C1651}"/>
              </a:ext>
            </a:extLst>
          </p:cNvPr>
          <p:cNvSpPr>
            <a:spLocks noGrp="1"/>
          </p:cNvSpPr>
          <p:nvPr>
            <p:ph type="title"/>
          </p:nvPr>
        </p:nvSpPr>
        <p:spPr>
          <a:xfrm>
            <a:off x="457200" y="205979"/>
            <a:ext cx="8229600" cy="857250"/>
          </a:xfrm>
        </p:spPr>
        <p:txBody>
          <a:bodyPr>
            <a:normAutofit/>
          </a:bodyPr>
          <a:lstStyle/>
          <a:p>
            <a:pPr marL="0" lvl="0" indent="0">
              <a:buNone/>
            </a:pPr>
            <a:r>
              <a:rPr lang="en-US" dirty="0"/>
              <a:t>Compute functional habitat</a:t>
            </a:r>
            <a:endParaRPr dirty="0"/>
          </a:p>
        </p:txBody>
      </p:sp>
    </p:spTree>
    <p:extLst>
      <p:ext uri="{BB962C8B-B14F-4D97-AF65-F5344CB8AC3E}">
        <p14:creationId xmlns:p14="http://schemas.microsoft.com/office/powerpoint/2010/main" val="216864314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A6661A-5D21-0927-91BD-72BEF2D84A5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1ED2D7-6286-928F-3F5C-845C49BBD959}"/>
              </a:ext>
            </a:extLst>
          </p:cNvPr>
          <p:cNvSpPr>
            <a:spLocks noGrp="1"/>
          </p:cNvSpPr>
          <p:nvPr>
            <p:ph idx="1"/>
          </p:nvPr>
        </p:nvSpPr>
        <p:spPr/>
        <p:txBody>
          <a:bodyPr>
            <a:normAutofit fontScale="25000" lnSpcReduction="20000"/>
          </a:bodyPr>
          <a:lstStyle/>
          <a:p>
            <a:pPr marL="0" lvl="0" indent="0">
              <a:buNone/>
            </a:pPr>
            <a:r>
              <a:rPr lang="nb-NO" sz="8000" dirty="0" err="1"/>
              <a:t>Solve</a:t>
            </a:r>
            <a:r>
              <a:rPr lang="nb-NO" sz="8000" dirty="0"/>
              <a:t> </a:t>
            </a:r>
            <a:r>
              <a:rPr lang="nb-NO" sz="8000" dirty="0" err="1"/>
              <a:t>the</a:t>
            </a:r>
            <a:r>
              <a:rPr lang="nb-NO" sz="8000" dirty="0"/>
              <a:t> problem:</a:t>
            </a:r>
          </a:p>
          <a:p>
            <a:pPr lvl="0" indent="0">
              <a:buNone/>
            </a:pPr>
            <a:r>
              <a:rPr lang="nb-NO" sz="8000" dirty="0" err="1">
                <a:latin typeface="Courier"/>
              </a:rPr>
              <a:t>workspace</a:t>
            </a:r>
            <a:r>
              <a:rPr lang="nb-NO" sz="8000" dirty="0">
                <a:latin typeface="Courier"/>
              </a:rPr>
              <a:t> </a:t>
            </a:r>
            <a:r>
              <a:rPr lang="nb-NO" sz="8000" dirty="0">
                <a:solidFill>
                  <a:srgbClr val="666666"/>
                </a:solidFill>
                <a:latin typeface="Courier"/>
              </a:rPr>
              <a:t>=</a:t>
            </a:r>
            <a:r>
              <a:rPr lang="nb-NO" sz="8000" dirty="0">
                <a:latin typeface="Courier"/>
              </a:rPr>
              <a:t> </a:t>
            </a:r>
            <a:r>
              <a:rPr lang="nb-NO" sz="8000" dirty="0" err="1">
                <a:solidFill>
                  <a:srgbClr val="06287E"/>
                </a:solidFill>
                <a:latin typeface="Courier"/>
              </a:rPr>
              <a:t>init</a:t>
            </a:r>
            <a:r>
              <a:rPr lang="nb-NO" sz="8000" dirty="0">
                <a:latin typeface="Courier"/>
              </a:rPr>
              <a:t>(problem, rast);</a:t>
            </a:r>
            <a:br>
              <a:rPr lang="nb-NO" sz="8000" dirty="0"/>
            </a:br>
            <a:r>
              <a:rPr lang="nb-NO" sz="8000" dirty="0" err="1">
                <a:latin typeface="Courier"/>
              </a:rPr>
              <a:t>func</a:t>
            </a:r>
            <a:r>
              <a:rPr lang="nb-NO" sz="8000" dirty="0">
                <a:latin typeface="Courier"/>
              </a:rPr>
              <a:t> </a:t>
            </a:r>
            <a:r>
              <a:rPr lang="nb-NO" sz="8000" dirty="0">
                <a:solidFill>
                  <a:srgbClr val="666666"/>
                </a:solidFill>
                <a:latin typeface="Courier"/>
              </a:rPr>
              <a:t>=</a:t>
            </a:r>
            <a:r>
              <a:rPr lang="nb-NO" sz="8000" dirty="0">
                <a:latin typeface="Courier"/>
              </a:rPr>
              <a:t> </a:t>
            </a:r>
            <a:r>
              <a:rPr lang="nb-NO" sz="8000" dirty="0" err="1">
                <a:latin typeface="Courier"/>
              </a:rPr>
              <a:t>ConScape.</a:t>
            </a:r>
            <a:r>
              <a:rPr lang="nb-NO" sz="8000" dirty="0" err="1">
                <a:solidFill>
                  <a:srgbClr val="06287E"/>
                </a:solidFill>
                <a:latin typeface="Courier"/>
              </a:rPr>
              <a:t>solve</a:t>
            </a:r>
            <a:r>
              <a:rPr lang="nb-NO" sz="8000" dirty="0">
                <a:solidFill>
                  <a:srgbClr val="06287E"/>
                </a:solidFill>
                <a:latin typeface="Courier"/>
              </a:rPr>
              <a:t>!</a:t>
            </a:r>
            <a:r>
              <a:rPr lang="nb-NO" sz="8000" dirty="0">
                <a:latin typeface="Courier"/>
              </a:rPr>
              <a:t>(</a:t>
            </a:r>
            <a:r>
              <a:rPr lang="nb-NO" sz="8000" dirty="0" err="1">
                <a:latin typeface="Courier"/>
              </a:rPr>
              <a:t>workspace</a:t>
            </a:r>
            <a:r>
              <a:rPr lang="nb-NO" sz="8000" dirty="0">
                <a:latin typeface="Courier"/>
              </a:rPr>
              <a:t>, problem).</a:t>
            </a:r>
            <a:r>
              <a:rPr lang="nb-NO" sz="8000" dirty="0" err="1">
                <a:latin typeface="Courier"/>
              </a:rPr>
              <a:t>ch</a:t>
            </a:r>
            <a:endParaRPr lang="nb-NO" sz="8000" dirty="0">
              <a:latin typeface="Courier"/>
            </a:endParaRPr>
          </a:p>
          <a:p>
            <a:pPr lvl="0" indent="0">
              <a:buNone/>
            </a:pPr>
            <a:endParaRPr lang="nb-NO" sz="3200" dirty="0">
              <a:latin typeface="Courier"/>
            </a:endParaRPr>
          </a:p>
          <a:p>
            <a:pPr lvl="0" indent="0">
              <a:buNone/>
            </a:pPr>
            <a:r>
              <a:rPr lang="nb-NO" sz="3200" dirty="0">
                <a:solidFill>
                  <a:schemeClr val="bg1">
                    <a:lumMod val="50000"/>
                  </a:schemeClr>
                </a:solidFill>
                <a:latin typeface="Courier"/>
              </a:rPr>
              <a:t>Initialising for </a:t>
            </a:r>
            <a:r>
              <a:rPr lang="nb-NO" sz="3200" dirty="0" err="1">
                <a:solidFill>
                  <a:schemeClr val="bg1">
                    <a:lumMod val="50000"/>
                  </a:schemeClr>
                </a:solidFill>
                <a:latin typeface="Courier"/>
              </a:rPr>
              <a:t>ConScape.MatrixSolver</a:t>
            </a:r>
            <a:r>
              <a:rPr lang="nb-NO" sz="3200" dirty="0">
                <a:solidFill>
                  <a:schemeClr val="bg1">
                    <a:lumMod val="50000"/>
                  </a:schemeClr>
                </a:solidFill>
                <a:latin typeface="Courier"/>
              </a:rPr>
              <a:t>(true)
</a:t>
            </a:r>
            <a:r>
              <a:rPr lang="nb-NO" sz="3200" dirty="0" err="1">
                <a:solidFill>
                  <a:schemeClr val="bg1">
                    <a:lumMod val="50000"/>
                  </a:schemeClr>
                </a:solidFill>
                <a:latin typeface="Courier"/>
              </a:rPr>
              <a:t>Defining</a:t>
            </a:r>
            <a:r>
              <a:rPr lang="nb-NO" sz="3200" dirty="0">
                <a:solidFill>
                  <a:schemeClr val="bg1">
                    <a:lumMod val="50000"/>
                  </a:schemeClr>
                </a:solidFill>
                <a:latin typeface="Courier"/>
              </a:rPr>
              <a:t> grid for </a:t>
            </a:r>
            <a:r>
              <a:rPr lang="nb-NO" sz="3200" dirty="0" err="1">
                <a:solidFill>
                  <a:schemeClr val="bg1">
                    <a:lumMod val="50000"/>
                  </a:schemeClr>
                </a:solidFill>
                <a:latin typeface="Courier"/>
              </a:rPr>
              <a:t>RasterStack</a:t>
            </a:r>
            <a:r>
              <a:rPr lang="nb-NO" sz="3200" dirty="0">
                <a:solidFill>
                  <a:schemeClr val="bg1">
                    <a:lumMod val="50000"/>
                  </a:schemeClr>
                </a:solidFill>
                <a:latin typeface="Courier"/>
              </a:rPr>
              <a:t> </a:t>
            </a:r>
            <a:r>
              <a:rPr lang="nb-NO" sz="3200" dirty="0" err="1">
                <a:solidFill>
                  <a:schemeClr val="bg1">
                    <a:lumMod val="50000"/>
                  </a:schemeClr>
                </a:solidFill>
                <a:latin typeface="Courier"/>
              </a:rPr>
              <a:t>size</a:t>
            </a:r>
            <a:r>
              <a:rPr lang="nb-NO" sz="3200" dirty="0">
                <a:solidFill>
                  <a:schemeClr val="bg1">
                    <a:lumMod val="50000"/>
                  </a:schemeClr>
                </a:solidFill>
                <a:latin typeface="Courier"/>
              </a:rPr>
              <a:t> (434, 586)...
</a:t>
            </a:r>
            <a:r>
              <a:rPr lang="nb-NO" sz="3200" dirty="0" err="1">
                <a:solidFill>
                  <a:schemeClr val="bg1">
                    <a:lumMod val="50000"/>
                  </a:schemeClr>
                </a:solidFill>
                <a:latin typeface="Courier"/>
              </a:rPr>
              <a:t>Retreiving</a:t>
            </a:r>
            <a:r>
              <a:rPr lang="nb-NO" sz="3200" dirty="0">
                <a:solidFill>
                  <a:schemeClr val="bg1">
                    <a:lumMod val="50000"/>
                  </a:schemeClr>
                </a:solidFill>
                <a:latin typeface="Courier"/>
              </a:rPr>
              <a:t> </a:t>
            </a:r>
            <a:r>
              <a:rPr lang="nb-NO" sz="3200" dirty="0" err="1">
                <a:solidFill>
                  <a:schemeClr val="bg1">
                    <a:lumMod val="50000"/>
                  </a:schemeClr>
                </a:solidFill>
                <a:latin typeface="Courier"/>
              </a:rPr>
              <a:t>measures</a:t>
            </a:r>
            <a:r>
              <a:rPr lang="nb-NO" sz="3200" dirty="0">
                <a:solidFill>
                  <a:schemeClr val="bg1">
                    <a:lumMod val="50000"/>
                  </a:schemeClr>
                </a:solidFill>
                <a:latin typeface="Courier"/>
              </a:rPr>
              <a:t>...
</a:t>
            </a:r>
            <a:r>
              <a:rPr lang="nb-NO" sz="3200" dirty="0" err="1">
                <a:solidFill>
                  <a:schemeClr val="bg1">
                    <a:lumMod val="50000"/>
                  </a:schemeClr>
                </a:solidFill>
                <a:latin typeface="Courier"/>
              </a:rPr>
              <a:t>Defining</a:t>
            </a:r>
            <a:r>
              <a:rPr lang="nb-NO" sz="3200" dirty="0">
                <a:solidFill>
                  <a:schemeClr val="bg1">
                    <a:lumMod val="50000"/>
                  </a:schemeClr>
                </a:solidFill>
                <a:latin typeface="Courier"/>
              </a:rPr>
              <a:t> </a:t>
            </a:r>
            <a:r>
              <a:rPr lang="nb-NO" sz="3200" dirty="0" err="1">
                <a:solidFill>
                  <a:schemeClr val="bg1">
                    <a:lumMod val="50000"/>
                  </a:schemeClr>
                </a:solidFill>
                <a:latin typeface="Courier"/>
              </a:rPr>
              <a:t>sparse</a:t>
            </a:r>
            <a:r>
              <a:rPr lang="nb-NO" sz="3200" dirty="0">
                <a:solidFill>
                  <a:schemeClr val="bg1">
                    <a:lumMod val="50000"/>
                  </a:schemeClr>
                </a:solidFill>
                <a:latin typeface="Courier"/>
              </a:rPr>
              <a:t> </a:t>
            </a:r>
            <a:r>
              <a:rPr lang="nb-NO" sz="3200" dirty="0" err="1">
                <a:solidFill>
                  <a:schemeClr val="bg1">
                    <a:lumMod val="50000"/>
                  </a:schemeClr>
                </a:solidFill>
                <a:latin typeface="Courier"/>
              </a:rPr>
              <a:t>arrays</a:t>
            </a:r>
            <a:r>
              <a:rPr lang="nb-NO" sz="3200" dirty="0">
                <a:solidFill>
                  <a:schemeClr val="bg1">
                    <a:lumMod val="50000"/>
                  </a:schemeClr>
                </a:solidFill>
                <a:latin typeface="Courier"/>
              </a:rPr>
              <a:t> of </a:t>
            </a:r>
            <a:r>
              <a:rPr lang="nb-NO" sz="3200" dirty="0" err="1">
                <a:solidFill>
                  <a:schemeClr val="bg1">
                    <a:lumMod val="50000"/>
                  </a:schemeClr>
                </a:solidFill>
                <a:latin typeface="Courier"/>
              </a:rPr>
              <a:t>size</a:t>
            </a:r>
            <a:r>
              <a:rPr lang="nb-NO" sz="3200" dirty="0">
                <a:solidFill>
                  <a:schemeClr val="bg1">
                    <a:lumMod val="50000"/>
                  </a:schemeClr>
                </a:solidFill>
                <a:latin typeface="Courier"/>
              </a:rPr>
              <a:t> (128166, 128166)...
Initialising </a:t>
            </a:r>
            <a:r>
              <a:rPr lang="nb-NO" sz="3200" dirty="0" err="1">
                <a:solidFill>
                  <a:schemeClr val="bg1">
                    <a:lumMod val="50000"/>
                  </a:schemeClr>
                </a:solidFill>
                <a:latin typeface="Courier"/>
              </a:rPr>
              <a:t>factorizations</a:t>
            </a:r>
            <a:r>
              <a:rPr lang="nb-NO" sz="3200" dirty="0">
                <a:solidFill>
                  <a:schemeClr val="bg1">
                    <a:lumMod val="50000"/>
                  </a:schemeClr>
                </a:solidFill>
                <a:latin typeface="Courier"/>
              </a:rPr>
              <a:t>...
</a:t>
            </a:r>
            <a:r>
              <a:rPr lang="nb-NO" sz="3200" dirty="0" err="1">
                <a:solidFill>
                  <a:schemeClr val="bg1">
                    <a:lumMod val="50000"/>
                  </a:schemeClr>
                </a:solidFill>
                <a:latin typeface="Courier"/>
              </a:rPr>
              <a:t>Allocating</a:t>
            </a:r>
            <a:r>
              <a:rPr lang="nb-NO" sz="3200" dirty="0">
                <a:solidFill>
                  <a:schemeClr val="bg1">
                    <a:lumMod val="50000"/>
                  </a:schemeClr>
                </a:solidFill>
                <a:latin typeface="Courier"/>
              </a:rPr>
              <a:t> </a:t>
            </a:r>
            <a:r>
              <a:rPr lang="nb-NO" sz="3200" dirty="0" err="1">
                <a:solidFill>
                  <a:schemeClr val="bg1">
                    <a:lumMod val="50000"/>
                  </a:schemeClr>
                </a:solidFill>
                <a:latin typeface="Courier"/>
              </a:rPr>
              <a:t>workspaces</a:t>
            </a:r>
            <a:r>
              <a:rPr lang="nb-NO" sz="3200" dirty="0">
                <a:solidFill>
                  <a:schemeClr val="bg1">
                    <a:lumMod val="50000"/>
                  </a:schemeClr>
                </a:solidFill>
                <a:latin typeface="Courier"/>
              </a:rPr>
              <a:t>...
</a:t>
            </a:r>
            <a:r>
              <a:rPr lang="nb-NO" sz="3200" dirty="0" err="1">
                <a:solidFill>
                  <a:schemeClr val="bg1">
                    <a:lumMod val="50000"/>
                  </a:schemeClr>
                </a:solidFill>
                <a:latin typeface="Courier"/>
              </a:rPr>
              <a:t>Solving</a:t>
            </a:r>
            <a:r>
              <a:rPr lang="nb-NO" sz="3200" dirty="0">
                <a:solidFill>
                  <a:schemeClr val="bg1">
                    <a:lumMod val="50000"/>
                  </a:schemeClr>
                </a:solidFill>
                <a:latin typeface="Courier"/>
              </a:rPr>
              <a:t> Z </a:t>
            </a:r>
            <a:r>
              <a:rPr lang="nb-NO" sz="3200" dirty="0" err="1">
                <a:solidFill>
                  <a:schemeClr val="bg1">
                    <a:lumMod val="50000"/>
                  </a:schemeClr>
                </a:solidFill>
                <a:latin typeface="Courier"/>
              </a:rPr>
              <a:t>matrix</a:t>
            </a:r>
            <a:r>
              <a:rPr lang="nb-NO" sz="3200" dirty="0">
                <a:solidFill>
                  <a:schemeClr val="bg1">
                    <a:lumMod val="50000"/>
                  </a:schemeClr>
                </a:solidFill>
                <a:latin typeface="Courier"/>
              </a:rPr>
              <a:t>...
</a:t>
            </a:r>
            <a:r>
              <a:rPr lang="nb-NO" sz="3200" dirty="0" err="1">
                <a:solidFill>
                  <a:schemeClr val="bg1">
                    <a:lumMod val="50000"/>
                  </a:schemeClr>
                </a:solidFill>
                <a:latin typeface="Courier"/>
              </a:rPr>
              <a:t>Calculating</a:t>
            </a:r>
            <a:r>
              <a:rPr lang="nb-NO" sz="3200" dirty="0">
                <a:solidFill>
                  <a:schemeClr val="bg1">
                    <a:lumMod val="50000"/>
                  </a:schemeClr>
                </a:solidFill>
                <a:latin typeface="Courier"/>
              </a:rPr>
              <a:t> inverses...
</a:t>
            </a:r>
            <a:r>
              <a:rPr lang="nb-NO" sz="3200" dirty="0" err="1">
                <a:solidFill>
                  <a:schemeClr val="bg1">
                    <a:lumMod val="50000"/>
                  </a:schemeClr>
                </a:solidFill>
                <a:latin typeface="Courier"/>
              </a:rPr>
              <a:t>Calculating</a:t>
            </a:r>
            <a:r>
              <a:rPr lang="nb-NO" sz="3200" dirty="0">
                <a:solidFill>
                  <a:schemeClr val="bg1">
                    <a:lumMod val="50000"/>
                  </a:schemeClr>
                </a:solidFill>
                <a:latin typeface="Courier"/>
              </a:rPr>
              <a:t> </a:t>
            </a:r>
            <a:r>
              <a:rPr lang="nb-NO" sz="3200" dirty="0" err="1">
                <a:solidFill>
                  <a:schemeClr val="bg1">
                    <a:lumMod val="50000"/>
                  </a:schemeClr>
                </a:solidFill>
                <a:latin typeface="Courier"/>
              </a:rPr>
              <a:t>expected</a:t>
            </a:r>
            <a:r>
              <a:rPr lang="nb-NO" sz="3200" dirty="0">
                <a:solidFill>
                  <a:schemeClr val="bg1">
                    <a:lumMod val="50000"/>
                  </a:schemeClr>
                </a:solidFill>
                <a:latin typeface="Courier"/>
              </a:rPr>
              <a:t> </a:t>
            </a:r>
            <a:r>
              <a:rPr lang="nb-NO" sz="3200" dirty="0" err="1">
                <a:solidFill>
                  <a:schemeClr val="bg1">
                    <a:lumMod val="50000"/>
                  </a:schemeClr>
                </a:solidFill>
                <a:latin typeface="Courier"/>
              </a:rPr>
              <a:t>cost</a:t>
            </a:r>
            <a:r>
              <a:rPr lang="nb-NO" sz="3200" dirty="0">
                <a:solidFill>
                  <a:schemeClr val="bg1">
                    <a:lumMod val="50000"/>
                  </a:schemeClr>
                </a:solidFill>
                <a:latin typeface="Courier"/>
              </a:rPr>
              <a:t>...
</a:t>
            </a:r>
            <a:r>
              <a:rPr lang="nb-NO" sz="3200" dirty="0" err="1">
                <a:solidFill>
                  <a:schemeClr val="bg1">
                    <a:lumMod val="50000"/>
                  </a:schemeClr>
                </a:solidFill>
                <a:latin typeface="Courier"/>
              </a:rPr>
              <a:t>Finished</a:t>
            </a:r>
            <a:r>
              <a:rPr lang="nb-NO" sz="3200" dirty="0">
                <a:solidFill>
                  <a:schemeClr val="bg1">
                    <a:lumMod val="50000"/>
                  </a:schemeClr>
                </a:solidFill>
                <a:latin typeface="Courier"/>
              </a:rPr>
              <a:t> </a:t>
            </a:r>
            <a:r>
              <a:rPr lang="nb-NO" sz="3200" dirty="0" err="1">
                <a:solidFill>
                  <a:schemeClr val="bg1">
                    <a:lumMod val="50000"/>
                  </a:schemeClr>
                </a:solidFill>
                <a:latin typeface="Courier"/>
              </a:rPr>
              <a:t>workspace</a:t>
            </a:r>
            <a:r>
              <a:rPr lang="nb-NO" sz="3200" dirty="0">
                <a:solidFill>
                  <a:schemeClr val="bg1">
                    <a:lumMod val="50000"/>
                  </a:schemeClr>
                </a:solidFill>
                <a:latin typeface="Courier"/>
              </a:rPr>
              <a:t>...</a:t>
            </a:r>
          </a:p>
          <a:p>
            <a:pPr lvl="0" indent="0">
              <a:buNone/>
            </a:pPr>
            <a:r>
              <a:rPr lang="nb-NO" sz="3200" dirty="0">
                <a:solidFill>
                  <a:schemeClr val="bg1">
                    <a:lumMod val="50000"/>
                  </a:schemeClr>
                </a:solidFill>
                <a:latin typeface="Courier"/>
              </a:rPr>
              <a:t>┌ 434×586 Raster{Float64, 2} </a:t>
            </a:r>
            <a:r>
              <a:rPr lang="nb-NO" sz="3200" dirty="0" err="1">
                <a:solidFill>
                  <a:schemeClr val="bg1">
                    <a:lumMod val="50000"/>
                  </a:schemeClr>
                </a:solidFill>
                <a:latin typeface="Courier"/>
              </a:rPr>
              <a:t>ch</a:t>
            </a:r>
            <a:r>
              <a:rPr lang="nb-NO" sz="3200" dirty="0">
                <a:solidFill>
                  <a:schemeClr val="bg1">
                    <a:lumMod val="50000"/>
                  </a:schemeClr>
                </a:solidFill>
                <a:latin typeface="Courier"/>
              </a:rPr>
              <a:t> ┐
├───────────────────────────────┴──────────────────────────────────────── dims ┐
  ↓ Y </a:t>
            </a:r>
            <a:r>
              <a:rPr lang="nb-NO" sz="3200" dirty="0" err="1">
                <a:solidFill>
                  <a:schemeClr val="bg1">
                    <a:lumMod val="50000"/>
                  </a:schemeClr>
                </a:solidFill>
                <a:latin typeface="Courier"/>
              </a:rPr>
              <a:t>Projected</a:t>
            </a:r>
            <a:r>
              <a:rPr lang="nb-NO" sz="3200" dirty="0">
                <a:solidFill>
                  <a:schemeClr val="bg1">
                    <a:lumMod val="50000"/>
                  </a:schemeClr>
                </a:solidFill>
                <a:latin typeface="Courier"/>
              </a:rPr>
              <a:t>{Float64} 6.98255e6:-200.0:6.89595e6 </a:t>
            </a:r>
            <a:r>
              <a:rPr lang="nb-NO" sz="3200" dirty="0" err="1">
                <a:solidFill>
                  <a:schemeClr val="bg1">
                    <a:lumMod val="50000"/>
                  </a:schemeClr>
                </a:solidFill>
                <a:latin typeface="Courier"/>
              </a:rPr>
              <a:t>ReverseOrdered</a:t>
            </a:r>
            <a:r>
              <a:rPr lang="nb-NO" sz="3200" dirty="0">
                <a:solidFill>
                  <a:schemeClr val="bg1">
                    <a:lumMod val="50000"/>
                  </a:schemeClr>
                </a:solidFill>
                <a:latin typeface="Courier"/>
              </a:rPr>
              <a:t> </a:t>
            </a:r>
            <a:r>
              <a:rPr lang="nb-NO" sz="3200" dirty="0" err="1">
                <a:solidFill>
                  <a:schemeClr val="bg1">
                    <a:lumMod val="50000"/>
                  </a:schemeClr>
                </a:solidFill>
                <a:latin typeface="Courier"/>
              </a:rPr>
              <a:t>Regular</a:t>
            </a:r>
            <a:r>
              <a:rPr lang="nb-NO" sz="3200" dirty="0">
                <a:solidFill>
                  <a:schemeClr val="bg1">
                    <a:lumMod val="50000"/>
                  </a:schemeClr>
                </a:solidFill>
                <a:latin typeface="Courier"/>
              </a:rPr>
              <a:t> </a:t>
            </a:r>
            <a:r>
              <a:rPr lang="nb-NO" sz="3200" dirty="0" err="1">
                <a:solidFill>
                  <a:schemeClr val="bg1">
                    <a:lumMod val="50000"/>
                  </a:schemeClr>
                </a:solidFill>
                <a:latin typeface="Courier"/>
              </a:rPr>
              <a:t>Intervals</a:t>
            </a:r>
            <a:r>
              <a:rPr lang="nb-NO" sz="3200" dirty="0">
                <a:solidFill>
                  <a:schemeClr val="bg1">
                    <a:lumMod val="50000"/>
                  </a:schemeClr>
                </a:solidFill>
                <a:latin typeface="Courier"/>
              </a:rPr>
              <a:t>{Start},
  → </a:t>
            </a:r>
            <a:r>
              <a:rPr lang="nb-NO" sz="3200" dirty="0" err="1">
                <a:solidFill>
                  <a:schemeClr val="bg1">
                    <a:lumMod val="50000"/>
                  </a:schemeClr>
                </a:solidFill>
                <a:latin typeface="Courier"/>
              </a:rPr>
              <a:t>X</a:t>
            </a:r>
            <a:r>
              <a:rPr lang="nb-NO" sz="3200" dirty="0">
                <a:solidFill>
                  <a:schemeClr val="bg1">
                    <a:lumMod val="50000"/>
                  </a:schemeClr>
                </a:solidFill>
                <a:latin typeface="Courier"/>
              </a:rPr>
              <a:t> </a:t>
            </a:r>
            <a:r>
              <a:rPr lang="nb-NO" sz="3200" dirty="0" err="1">
                <a:solidFill>
                  <a:schemeClr val="bg1">
                    <a:lumMod val="50000"/>
                  </a:schemeClr>
                </a:solidFill>
                <a:latin typeface="Courier"/>
              </a:rPr>
              <a:t>Projected</a:t>
            </a:r>
            <a:r>
              <a:rPr lang="nb-NO" sz="3200" dirty="0">
                <a:solidFill>
                  <a:schemeClr val="bg1">
                    <a:lumMod val="50000"/>
                  </a:schemeClr>
                </a:solidFill>
                <a:latin typeface="Courier"/>
              </a:rPr>
              <a:t>{Float64} 110250.0:200.0:227250.0 </a:t>
            </a:r>
            <a:r>
              <a:rPr lang="nb-NO" sz="3200" dirty="0" err="1">
                <a:solidFill>
                  <a:schemeClr val="bg1">
                    <a:lumMod val="50000"/>
                  </a:schemeClr>
                </a:solidFill>
                <a:latin typeface="Courier"/>
              </a:rPr>
              <a:t>ForwardOrdered</a:t>
            </a:r>
            <a:r>
              <a:rPr lang="nb-NO" sz="3200" dirty="0">
                <a:solidFill>
                  <a:schemeClr val="bg1">
                    <a:lumMod val="50000"/>
                  </a:schemeClr>
                </a:solidFill>
                <a:latin typeface="Courier"/>
              </a:rPr>
              <a:t> </a:t>
            </a:r>
            <a:r>
              <a:rPr lang="nb-NO" sz="3200" dirty="0" err="1">
                <a:solidFill>
                  <a:schemeClr val="bg1">
                    <a:lumMod val="50000"/>
                  </a:schemeClr>
                </a:solidFill>
                <a:latin typeface="Courier"/>
              </a:rPr>
              <a:t>Regular</a:t>
            </a:r>
            <a:r>
              <a:rPr lang="nb-NO" sz="3200" dirty="0">
                <a:solidFill>
                  <a:schemeClr val="bg1">
                    <a:lumMod val="50000"/>
                  </a:schemeClr>
                </a:solidFill>
                <a:latin typeface="Courier"/>
              </a:rPr>
              <a:t> </a:t>
            </a:r>
            <a:r>
              <a:rPr lang="nb-NO" sz="3200" dirty="0" err="1">
                <a:solidFill>
                  <a:schemeClr val="bg1">
                    <a:lumMod val="50000"/>
                  </a:schemeClr>
                </a:solidFill>
                <a:latin typeface="Courier"/>
              </a:rPr>
              <a:t>Intervals</a:t>
            </a:r>
            <a:r>
              <a:rPr lang="nb-NO" sz="3200" dirty="0">
                <a:solidFill>
                  <a:schemeClr val="bg1">
                    <a:lumMod val="50000"/>
                  </a:schemeClr>
                </a:solidFill>
                <a:latin typeface="Courier"/>
              </a:rPr>
              <a:t>{Start}
├────────────────────────────────────────────────────────────────────── raster ┤
  </a:t>
            </a:r>
            <a:r>
              <a:rPr lang="nb-NO" sz="3200" dirty="0" err="1">
                <a:solidFill>
                  <a:schemeClr val="bg1">
                    <a:lumMod val="50000"/>
                  </a:schemeClr>
                </a:solidFill>
                <a:latin typeface="Courier"/>
              </a:rPr>
              <a:t>extent</a:t>
            </a:r>
            <a:r>
              <a:rPr lang="nb-NO" sz="3200" dirty="0">
                <a:solidFill>
                  <a:schemeClr val="bg1">
                    <a:lumMod val="50000"/>
                  </a:schemeClr>
                </a:solidFill>
                <a:latin typeface="Courier"/>
              </a:rPr>
              <a:t>: </a:t>
            </a:r>
            <a:r>
              <a:rPr lang="nb-NO" sz="3200" dirty="0" err="1">
                <a:solidFill>
                  <a:schemeClr val="bg1">
                    <a:lumMod val="50000"/>
                  </a:schemeClr>
                </a:solidFill>
                <a:latin typeface="Courier"/>
              </a:rPr>
              <a:t>Extent</a:t>
            </a:r>
            <a:r>
              <a:rPr lang="nb-NO" sz="3200" dirty="0">
                <a:solidFill>
                  <a:schemeClr val="bg1">
                    <a:lumMod val="50000"/>
                  </a:schemeClr>
                </a:solidFill>
                <a:latin typeface="Courier"/>
              </a:rPr>
              <a:t>(Y = (6.89595e6, 6.98275e6), </a:t>
            </a:r>
            <a:r>
              <a:rPr lang="nb-NO" sz="3200" dirty="0" err="1">
                <a:solidFill>
                  <a:schemeClr val="bg1">
                    <a:lumMod val="50000"/>
                  </a:schemeClr>
                </a:solidFill>
                <a:latin typeface="Courier"/>
              </a:rPr>
              <a:t>X</a:t>
            </a:r>
            <a:r>
              <a:rPr lang="nb-NO" sz="3200" dirty="0">
                <a:solidFill>
                  <a:schemeClr val="bg1">
                    <a:lumMod val="50000"/>
                  </a:schemeClr>
                </a:solidFill>
                <a:latin typeface="Courier"/>
              </a:rPr>
              <a:t> = (110250.0, 227450.0))
  </a:t>
            </a:r>
            <a:r>
              <a:rPr lang="nb-NO" sz="3200" dirty="0" err="1">
                <a:solidFill>
                  <a:schemeClr val="bg1">
                    <a:lumMod val="50000"/>
                  </a:schemeClr>
                </a:solidFill>
                <a:latin typeface="Courier"/>
              </a:rPr>
              <a:t>crs</a:t>
            </a:r>
            <a:r>
              <a:rPr lang="nb-NO" sz="3200" dirty="0">
                <a:solidFill>
                  <a:schemeClr val="bg1">
                    <a:lumMod val="50000"/>
                  </a:schemeClr>
                </a:solidFill>
                <a:latin typeface="Courier"/>
              </a:rPr>
              <a:t>: 
└──────────────────────────────────────────────────────────────────────────────┘
 ↓ →        110250.0  110450.0  110650.0  …  226850.0  227050.0  227250.0
 6.98255e6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6.98235e6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6.98215e6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6.98195e6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6.98175e6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6.98155e6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6.98135e6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                                        ⋱                 ⋮    
 6.89735e6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6.89715e6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6.89695e6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6.89675e6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6.89655e6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6.89635e6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6.89615e6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6.89595e6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a:t>
            </a:r>
            <a:r>
              <a:rPr lang="nb-NO" sz="3200" dirty="0" err="1">
                <a:solidFill>
                  <a:schemeClr val="bg1">
                    <a:lumMod val="50000"/>
                  </a:schemeClr>
                </a:solidFill>
                <a:latin typeface="Courier"/>
              </a:rPr>
              <a:t>NaN</a:t>
            </a:r>
            <a:r>
              <a:rPr lang="nb-NO" sz="3200" dirty="0">
                <a:solidFill>
                  <a:schemeClr val="bg1">
                    <a:lumMod val="50000"/>
                  </a:schemeClr>
                </a:solidFill>
                <a:latin typeface="Courier"/>
              </a:rPr>
              <a:t>       </a:t>
            </a:r>
            <a:r>
              <a:rPr lang="nb-NO" sz="3200" dirty="0" err="1">
                <a:solidFill>
                  <a:schemeClr val="bg1">
                    <a:lumMod val="50000"/>
                  </a:schemeClr>
                </a:solidFill>
                <a:latin typeface="Courier"/>
              </a:rPr>
              <a:t>NaN</a:t>
            </a:r>
            <a:endParaRPr lang="nb-NO" sz="3200" dirty="0">
              <a:solidFill>
                <a:schemeClr val="bg1">
                  <a:lumMod val="50000"/>
                </a:schemeClr>
              </a:solidFill>
              <a:latin typeface="Courier"/>
            </a:endParaRPr>
          </a:p>
        </p:txBody>
      </p:sp>
      <p:sp>
        <p:nvSpPr>
          <p:cNvPr id="2" name="Title 1">
            <a:extLst>
              <a:ext uri="{FF2B5EF4-FFF2-40B4-BE49-F238E27FC236}">
                <a16:creationId xmlns:a16="http://schemas.microsoft.com/office/drawing/2014/main" id="{00E74AC8-8FFC-D0DD-DBB3-1C089251FD1C}"/>
              </a:ext>
            </a:extLst>
          </p:cNvPr>
          <p:cNvSpPr>
            <a:spLocks noGrp="1"/>
          </p:cNvSpPr>
          <p:nvPr>
            <p:ph type="title"/>
          </p:nvPr>
        </p:nvSpPr>
        <p:spPr>
          <a:xfrm>
            <a:off x="457200" y="205979"/>
            <a:ext cx="8229600" cy="857250"/>
          </a:xfrm>
        </p:spPr>
        <p:txBody>
          <a:bodyPr>
            <a:normAutofit/>
          </a:bodyPr>
          <a:lstStyle/>
          <a:p>
            <a:pPr marL="0" lvl="0" indent="0">
              <a:buNone/>
            </a:pPr>
            <a:r>
              <a:rPr lang="en-US" dirty="0"/>
              <a:t>Compute functional habitat</a:t>
            </a:r>
            <a:endParaRPr dirty="0"/>
          </a:p>
        </p:txBody>
      </p:sp>
    </p:spTree>
    <p:extLst>
      <p:ext uri="{BB962C8B-B14F-4D97-AF65-F5344CB8AC3E}">
        <p14:creationId xmlns:p14="http://schemas.microsoft.com/office/powerpoint/2010/main" val="388357743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495ED2-B1DB-97D3-7D02-F6AE92B8174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CFEB8F-617E-6FAB-840E-288AC293AEAA}"/>
              </a:ext>
            </a:extLst>
          </p:cNvPr>
          <p:cNvSpPr>
            <a:spLocks noGrp="1"/>
          </p:cNvSpPr>
          <p:nvPr>
            <p:ph idx="1"/>
          </p:nvPr>
        </p:nvSpPr>
        <p:spPr/>
        <p:txBody>
          <a:bodyPr>
            <a:normAutofit/>
          </a:bodyPr>
          <a:lstStyle/>
          <a:p>
            <a:pPr marL="0" lvl="0" indent="0">
              <a:buNone/>
            </a:pPr>
            <a:r>
              <a:rPr lang="en-US" sz="2000" dirty="0"/>
              <a:t>Plot functional habitat – suitable and well-connected habitat:</a:t>
            </a:r>
          </a:p>
          <a:p>
            <a:pPr lvl="0" indent="0">
              <a:buNone/>
            </a:pPr>
            <a:r>
              <a:rPr lang="en-US" sz="2000" dirty="0" err="1">
                <a:latin typeface="Courier"/>
              </a:rPr>
              <a:t>Makie.</a:t>
            </a:r>
            <a:r>
              <a:rPr lang="en-US" sz="2000" dirty="0" err="1">
                <a:solidFill>
                  <a:srgbClr val="06287E"/>
                </a:solidFill>
                <a:latin typeface="Courier"/>
              </a:rPr>
              <a:t>plot</a:t>
            </a:r>
            <a:r>
              <a:rPr lang="en-US" sz="2000" dirty="0">
                <a:latin typeface="Courier"/>
              </a:rPr>
              <a:t>(</a:t>
            </a:r>
            <a:r>
              <a:rPr lang="en-US" sz="2000" dirty="0" err="1">
                <a:latin typeface="Courier"/>
              </a:rPr>
              <a:t>func</a:t>
            </a:r>
            <a:r>
              <a:rPr lang="en-US" sz="2000" dirty="0">
                <a:latin typeface="Courier"/>
              </a:rPr>
              <a:t>, colormap</a:t>
            </a:r>
            <a:r>
              <a:rPr lang="en-US" sz="2000" dirty="0">
                <a:solidFill>
                  <a:srgbClr val="666666"/>
                </a:solidFill>
                <a:latin typeface="Courier"/>
              </a:rPr>
              <a:t>=</a:t>
            </a:r>
            <a:r>
              <a:rPr lang="en-US" sz="2000" dirty="0" err="1">
                <a:solidFill>
                  <a:srgbClr val="06287E"/>
                </a:solidFill>
                <a:latin typeface="Courier"/>
              </a:rPr>
              <a:t>cgrad</a:t>
            </a:r>
            <a:r>
              <a:rPr lang="en-US" sz="2000" dirty="0">
                <a:latin typeface="Courier"/>
              </a:rPr>
              <a:t>(</a:t>
            </a:r>
            <a:r>
              <a:rPr lang="en-US" sz="2000" dirty="0">
                <a:solidFill>
                  <a:srgbClr val="666666"/>
                </a:solidFill>
                <a:latin typeface="Courier"/>
              </a:rPr>
              <a:t>:</a:t>
            </a:r>
            <a:r>
              <a:rPr lang="en-US" sz="2000" dirty="0" err="1">
                <a:latin typeface="Courier"/>
              </a:rPr>
              <a:t>viridis</a:t>
            </a:r>
            <a:r>
              <a:rPr lang="en-US" sz="2000" dirty="0">
                <a:latin typeface="Courier"/>
              </a:rPr>
              <a:t>))</a:t>
            </a:r>
          </a:p>
        </p:txBody>
      </p:sp>
      <p:sp>
        <p:nvSpPr>
          <p:cNvPr id="2" name="Title 1">
            <a:extLst>
              <a:ext uri="{FF2B5EF4-FFF2-40B4-BE49-F238E27FC236}">
                <a16:creationId xmlns:a16="http://schemas.microsoft.com/office/drawing/2014/main" id="{92099243-D35C-7DCA-C5A0-96CFE623AA07}"/>
              </a:ext>
            </a:extLst>
          </p:cNvPr>
          <p:cNvSpPr>
            <a:spLocks noGrp="1"/>
          </p:cNvSpPr>
          <p:nvPr>
            <p:ph type="title"/>
          </p:nvPr>
        </p:nvSpPr>
        <p:spPr>
          <a:xfrm>
            <a:off x="457200" y="205979"/>
            <a:ext cx="8229600" cy="857250"/>
          </a:xfrm>
        </p:spPr>
        <p:txBody>
          <a:bodyPr>
            <a:normAutofit/>
          </a:bodyPr>
          <a:lstStyle/>
          <a:p>
            <a:pPr marL="0" lvl="0" indent="0">
              <a:buNone/>
            </a:pPr>
            <a:r>
              <a:rPr lang="en-US" dirty="0"/>
              <a:t>Compute functional habitat</a:t>
            </a:r>
            <a:endParaRPr dirty="0"/>
          </a:p>
        </p:txBody>
      </p:sp>
    </p:spTree>
    <p:extLst>
      <p:ext uri="{BB962C8B-B14F-4D97-AF65-F5344CB8AC3E}">
        <p14:creationId xmlns:p14="http://schemas.microsoft.com/office/powerpoint/2010/main" val="94309054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ACBA88-A7E3-CC5A-C8E8-C8ADDF6BC750}"/>
            </a:ext>
          </a:extLst>
        </p:cNvPr>
        <p:cNvGrpSpPr/>
        <p:nvPr/>
      </p:nvGrpSpPr>
      <p:grpSpPr>
        <a:xfrm>
          <a:off x="0" y="0"/>
          <a:ext cx="0" cy="0"/>
          <a:chOff x="0" y="0"/>
          <a:chExt cx="0" cy="0"/>
        </a:xfrm>
      </p:grpSpPr>
      <p:pic>
        <p:nvPicPr>
          <p:cNvPr id="2" name="Picture 1" descr="presentation_ppt_files/figure-pptx/cell-18-output-1.png">
            <a:extLst>
              <a:ext uri="{FF2B5EF4-FFF2-40B4-BE49-F238E27FC236}">
                <a16:creationId xmlns:a16="http://schemas.microsoft.com/office/drawing/2014/main" id="{8C6EBB29-6001-55C0-C799-50E318FF0E05}"/>
              </a:ext>
            </a:extLst>
          </p:cNvPr>
          <p:cNvPicPr>
            <a:picLocks noGrp="1" noChangeAspect="1"/>
          </p:cNvPicPr>
          <p:nvPr/>
        </p:nvPicPr>
        <p:blipFill>
          <a:blip r:embed="rId2"/>
          <a:stretch>
            <a:fillRect/>
          </a:stretch>
        </p:blipFill>
        <p:spPr bwMode="auto">
          <a:xfrm>
            <a:off x="1200945" y="671037"/>
            <a:ext cx="6378786" cy="4171527"/>
          </a:xfrm>
          <a:prstGeom prst="rect">
            <a:avLst/>
          </a:prstGeom>
          <a:noFill/>
          <a:ln w="9525">
            <a:noFill/>
            <a:headEnd/>
            <a:tailEnd/>
          </a:ln>
        </p:spPr>
      </p:pic>
    </p:spTree>
    <p:extLst>
      <p:ext uri="{BB962C8B-B14F-4D97-AF65-F5344CB8AC3E}">
        <p14:creationId xmlns:p14="http://schemas.microsoft.com/office/powerpoint/2010/main" val="62342962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DAD076-423A-2988-0553-017EF856A75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2E87B1-C6EA-F5AF-E98F-F4E137536264}"/>
              </a:ext>
            </a:extLst>
          </p:cNvPr>
          <p:cNvSpPr>
            <a:spLocks noGrp="1"/>
          </p:cNvSpPr>
          <p:nvPr>
            <p:ph idx="1"/>
          </p:nvPr>
        </p:nvSpPr>
        <p:spPr/>
        <p:txBody>
          <a:bodyPr>
            <a:normAutofit fontScale="70000" lnSpcReduction="20000"/>
          </a:bodyPr>
          <a:lstStyle/>
          <a:p>
            <a:pPr marL="0" lvl="0" indent="0">
              <a:buNone/>
            </a:pPr>
            <a:r>
              <a:rPr lang="nb-NO" sz="2900" dirty="0"/>
              <a:t>Setup </a:t>
            </a:r>
            <a:r>
              <a:rPr lang="nb-NO" sz="2900" dirty="0" err="1"/>
              <a:t>the</a:t>
            </a:r>
            <a:r>
              <a:rPr lang="nb-NO" sz="2900" dirty="0"/>
              <a:t> problem:</a:t>
            </a:r>
          </a:p>
          <a:p>
            <a:pPr lvl="0" indent="0">
              <a:buNone/>
            </a:pPr>
            <a:r>
              <a:rPr lang="nb-NO" sz="2900" dirty="0" err="1">
                <a:latin typeface="Courier"/>
              </a:rPr>
              <a:t>graph_measures</a:t>
            </a:r>
            <a:r>
              <a:rPr lang="nb-NO" sz="2900" dirty="0">
                <a:latin typeface="Courier"/>
              </a:rPr>
              <a:t> </a:t>
            </a:r>
            <a:r>
              <a:rPr lang="nb-NO" sz="2900" dirty="0">
                <a:solidFill>
                  <a:srgbClr val="666666"/>
                </a:solidFill>
                <a:latin typeface="Courier"/>
              </a:rPr>
              <a:t>=</a:t>
            </a:r>
            <a:r>
              <a:rPr lang="nb-NO" sz="2900" dirty="0">
                <a:latin typeface="Courier"/>
              </a:rPr>
              <a:t> (; 	</a:t>
            </a:r>
            <a:r>
              <a:rPr lang="nb-NO" sz="2900" dirty="0" err="1">
                <a:latin typeface="Courier"/>
              </a:rPr>
              <a:t>flow</a:t>
            </a:r>
            <a:r>
              <a:rPr lang="nb-NO" sz="2900" dirty="0">
                <a:solidFill>
                  <a:srgbClr val="666666"/>
                </a:solidFill>
                <a:latin typeface="Courier"/>
              </a:rPr>
              <a:t>=</a:t>
            </a:r>
            <a:r>
              <a:rPr lang="nb-NO" sz="2900" dirty="0" err="1">
                <a:latin typeface="Courier"/>
              </a:rPr>
              <a:t>ConScape.</a:t>
            </a:r>
            <a:r>
              <a:rPr lang="nb-NO" sz="2900" dirty="0" err="1">
                <a:solidFill>
                  <a:srgbClr val="06287E"/>
                </a:solidFill>
                <a:latin typeface="Courier"/>
              </a:rPr>
              <a:t>BetweennessKweighted</a:t>
            </a:r>
            <a:r>
              <a:rPr lang="nb-NO" sz="2900" dirty="0">
                <a:latin typeface="Courier"/>
              </a:rPr>
              <a:t>())</a:t>
            </a:r>
            <a:br>
              <a:rPr lang="nb-NO" sz="2900" dirty="0"/>
            </a:br>
            <a:r>
              <a:rPr lang="nb-NO" sz="2900" dirty="0" err="1">
                <a:latin typeface="Courier"/>
              </a:rPr>
              <a:t>distance_transformation</a:t>
            </a:r>
            <a:r>
              <a:rPr lang="nb-NO" sz="2900" dirty="0">
                <a:latin typeface="Courier"/>
              </a:rPr>
              <a:t> </a:t>
            </a:r>
            <a:r>
              <a:rPr lang="nb-NO" sz="2900" dirty="0">
                <a:solidFill>
                  <a:srgbClr val="666666"/>
                </a:solidFill>
                <a:latin typeface="Courier"/>
              </a:rPr>
              <a:t>=</a:t>
            </a:r>
            <a:r>
              <a:rPr lang="nb-NO" sz="2900" dirty="0">
                <a:latin typeface="Courier"/>
              </a:rPr>
              <a:t> (</a:t>
            </a:r>
            <a:r>
              <a:rPr lang="nb-NO" sz="2900" dirty="0" err="1">
                <a:latin typeface="Courier"/>
              </a:rPr>
              <a:t>expx</a:t>
            </a:r>
            <a:r>
              <a:rPr lang="nb-NO" sz="2900" dirty="0">
                <a:solidFill>
                  <a:srgbClr val="666666"/>
                </a:solidFill>
                <a:latin typeface="Courier"/>
              </a:rPr>
              <a:t>=</a:t>
            </a:r>
            <a:r>
              <a:rPr lang="nb-NO" sz="2900" dirty="0">
                <a:latin typeface="Courier"/>
              </a:rPr>
              <a:t>t </a:t>
            </a:r>
            <a:r>
              <a:rPr lang="nb-NO" sz="2900" dirty="0">
                <a:solidFill>
                  <a:srgbClr val="666666"/>
                </a:solidFill>
                <a:latin typeface="Courier"/>
              </a:rPr>
              <a:t>-&gt;</a:t>
            </a:r>
            <a:r>
              <a:rPr lang="nb-NO" sz="2900" dirty="0">
                <a:latin typeface="Courier"/>
              </a:rPr>
              <a:t> </a:t>
            </a:r>
            <a:r>
              <a:rPr lang="nb-NO" sz="2900" dirty="0" err="1">
                <a:solidFill>
                  <a:srgbClr val="06287E"/>
                </a:solidFill>
                <a:latin typeface="Courier"/>
              </a:rPr>
              <a:t>exp</a:t>
            </a:r>
            <a:r>
              <a:rPr lang="nb-NO" sz="2900" dirty="0">
                <a:latin typeface="Courier"/>
              </a:rPr>
              <a:t>(</a:t>
            </a:r>
            <a:r>
              <a:rPr lang="nb-NO" sz="2900" dirty="0">
                <a:solidFill>
                  <a:srgbClr val="666666"/>
                </a:solidFill>
                <a:latin typeface="Courier"/>
              </a:rPr>
              <a:t>-</a:t>
            </a:r>
            <a:r>
              <a:rPr lang="el-GR" sz="2900" dirty="0">
                <a:latin typeface="Courier"/>
              </a:rPr>
              <a:t>α</a:t>
            </a:r>
            <a:r>
              <a:rPr lang="el-GR" sz="2900" dirty="0">
                <a:solidFill>
                  <a:srgbClr val="666666"/>
                </a:solidFill>
                <a:latin typeface="Courier"/>
              </a:rPr>
              <a:t>*</a:t>
            </a:r>
            <a:r>
              <a:rPr lang="nb-NO" sz="2900" dirty="0">
                <a:latin typeface="Courier"/>
              </a:rPr>
              <a:t>t))</a:t>
            </a:r>
            <a:br>
              <a:rPr lang="nb-NO" sz="2900" dirty="0"/>
            </a:br>
            <a:r>
              <a:rPr lang="nb-NO" sz="2900" dirty="0" err="1">
                <a:latin typeface="Courier"/>
              </a:rPr>
              <a:t>connectivity_measure</a:t>
            </a:r>
            <a:r>
              <a:rPr lang="nb-NO" sz="2900" dirty="0">
                <a:latin typeface="Courier"/>
              </a:rPr>
              <a:t> </a:t>
            </a:r>
            <a:r>
              <a:rPr lang="nb-NO" sz="2900" dirty="0">
                <a:solidFill>
                  <a:srgbClr val="666666"/>
                </a:solidFill>
                <a:latin typeface="Courier"/>
              </a:rPr>
              <a:t>=</a:t>
            </a:r>
            <a:r>
              <a:rPr lang="nb-NO" sz="2900" dirty="0">
                <a:latin typeface="Courier"/>
              </a:rPr>
              <a:t> </a:t>
            </a:r>
            <a:r>
              <a:rPr lang="nb-NO" sz="2900" dirty="0" err="1">
                <a:latin typeface="Courier"/>
              </a:rPr>
              <a:t>ConScape.</a:t>
            </a:r>
            <a:r>
              <a:rPr lang="nb-NO" sz="2900" dirty="0" err="1">
                <a:solidFill>
                  <a:srgbClr val="06287E"/>
                </a:solidFill>
                <a:latin typeface="Courier"/>
              </a:rPr>
              <a:t>ExpectedCost</a:t>
            </a:r>
            <a:r>
              <a:rPr lang="nb-NO" sz="2900" dirty="0">
                <a:latin typeface="Courier"/>
              </a:rPr>
              <a:t>(; </a:t>
            </a:r>
            <a:r>
              <a:rPr lang="el-GR" sz="2900" dirty="0">
                <a:latin typeface="Courier"/>
              </a:rPr>
              <a:t>θ, </a:t>
            </a:r>
            <a:r>
              <a:rPr lang="nb-NO" sz="2900" dirty="0">
                <a:latin typeface="Courier"/>
              </a:rPr>
              <a:t>	</a:t>
            </a:r>
            <a:r>
              <a:rPr lang="nb-NO" sz="2900" dirty="0" err="1">
                <a:latin typeface="Courier"/>
              </a:rPr>
              <a:t>distance_transformation</a:t>
            </a:r>
            <a:r>
              <a:rPr lang="nb-NO" sz="2900" dirty="0">
                <a:latin typeface="Courier"/>
              </a:rPr>
              <a:t>)</a:t>
            </a:r>
            <a:br>
              <a:rPr lang="nb-NO" sz="2900" dirty="0"/>
            </a:br>
            <a:r>
              <a:rPr lang="nb-NO" sz="2900" dirty="0">
                <a:latin typeface="Courier"/>
              </a:rPr>
              <a:t>problem </a:t>
            </a:r>
            <a:r>
              <a:rPr lang="nb-NO" sz="2900" dirty="0">
                <a:solidFill>
                  <a:srgbClr val="666666"/>
                </a:solidFill>
                <a:latin typeface="Courier"/>
              </a:rPr>
              <a:t>=</a:t>
            </a:r>
            <a:r>
              <a:rPr lang="nb-NO" sz="2900" dirty="0">
                <a:latin typeface="Courier"/>
              </a:rPr>
              <a:t> </a:t>
            </a:r>
            <a:r>
              <a:rPr lang="nb-NO" sz="2900" dirty="0" err="1">
                <a:latin typeface="Courier"/>
              </a:rPr>
              <a:t>ConScape.</a:t>
            </a:r>
            <a:r>
              <a:rPr lang="nb-NO" sz="2900" dirty="0" err="1">
                <a:solidFill>
                  <a:srgbClr val="06287E"/>
                </a:solidFill>
                <a:latin typeface="Courier"/>
              </a:rPr>
              <a:t>Problem</a:t>
            </a:r>
            <a:r>
              <a:rPr lang="nb-NO" sz="2900" dirty="0">
                <a:latin typeface="Courier"/>
              </a:rPr>
              <a:t>(;</a:t>
            </a:r>
            <a:r>
              <a:rPr lang="nb-NO" sz="2900" dirty="0" err="1">
                <a:latin typeface="Courier"/>
              </a:rPr>
              <a:t>graph_measures</a:t>
            </a:r>
            <a:r>
              <a:rPr lang="nb-NO" sz="2900" dirty="0">
                <a:latin typeface="Courier"/>
              </a:rPr>
              <a:t>, 	</a:t>
            </a:r>
            <a:r>
              <a:rPr lang="nb-NO" sz="2900" dirty="0" err="1">
                <a:latin typeface="Courier"/>
              </a:rPr>
              <a:t>connectivity_measure</a:t>
            </a:r>
            <a:r>
              <a:rPr lang="nb-NO" sz="2900" dirty="0">
                <a:latin typeface="Courier"/>
              </a:rPr>
              <a:t>, </a:t>
            </a:r>
            <a:r>
              <a:rPr lang="nb-NO" sz="2900" dirty="0" err="1">
                <a:latin typeface="Courier"/>
              </a:rPr>
              <a:t>solver</a:t>
            </a:r>
            <a:r>
              <a:rPr lang="nb-NO" sz="2900" dirty="0">
                <a:latin typeface="Courier"/>
              </a:rPr>
              <a:t>)</a:t>
            </a:r>
          </a:p>
          <a:p>
            <a:pPr lvl="0" indent="0">
              <a:buNone/>
            </a:pPr>
            <a:endParaRPr lang="nb-NO" sz="2000" dirty="0">
              <a:latin typeface="Courier"/>
            </a:endParaRPr>
          </a:p>
          <a:p>
            <a:pPr lvl="0" indent="0">
              <a:buNone/>
            </a:pPr>
            <a:r>
              <a:rPr lang="nb-NO" sz="1900" dirty="0" err="1">
                <a:solidFill>
                  <a:schemeClr val="bg1">
                    <a:lumMod val="50000"/>
                  </a:schemeClr>
                </a:solidFill>
                <a:latin typeface="Courier"/>
              </a:rPr>
              <a:t>ConScape.Problem</a:t>
            </a:r>
            <a:r>
              <a:rPr lang="nb-NO" sz="1900" dirty="0">
                <a:solidFill>
                  <a:schemeClr val="bg1">
                    <a:lumMod val="50000"/>
                  </a:schemeClr>
                </a:solidFill>
                <a:latin typeface="Courier"/>
              </a:rPr>
              <a:t>{@NamedTuple{flow::ConScape.BetweennessKweighted}, </a:t>
            </a:r>
            <a:r>
              <a:rPr lang="nb-NO" sz="1900" dirty="0" err="1">
                <a:solidFill>
                  <a:schemeClr val="bg1">
                    <a:lumMod val="50000"/>
                  </a:schemeClr>
                </a:solidFill>
                <a:latin typeface="Courier"/>
              </a:rPr>
              <a:t>ConScape.ExpectedCost</a:t>
            </a:r>
            <a:r>
              <a:rPr lang="nb-NO" sz="1900" dirty="0">
                <a:solidFill>
                  <a:schemeClr val="bg1">
                    <a:lumMod val="50000"/>
                  </a:schemeClr>
                </a:solidFill>
                <a:latin typeface="Courier"/>
              </a:rPr>
              <a:t>{Float64, var"#19#20"}, </a:t>
            </a:r>
            <a:r>
              <a:rPr lang="nb-NO" sz="1900" dirty="0" err="1">
                <a:solidFill>
                  <a:schemeClr val="bg1">
                    <a:lumMod val="50000"/>
                  </a:schemeClr>
                </a:solidFill>
                <a:latin typeface="Courier"/>
              </a:rPr>
              <a:t>ConScape.MatrixSolver</a:t>
            </a:r>
            <a:r>
              <a:rPr lang="nb-NO" sz="1900" dirty="0">
                <a:solidFill>
                  <a:schemeClr val="bg1">
                    <a:lumMod val="50000"/>
                  </a:schemeClr>
                </a:solidFill>
                <a:latin typeface="Courier"/>
              </a:rPr>
              <a:t>, </a:t>
            </a:r>
            <a:r>
              <a:rPr lang="nb-NO" sz="1900" dirty="0" err="1">
                <a:solidFill>
                  <a:schemeClr val="bg1">
                    <a:lumMod val="50000"/>
                  </a:schemeClr>
                </a:solidFill>
                <a:latin typeface="Courier"/>
              </a:rPr>
              <a:t>Nothing</a:t>
            </a:r>
            <a:r>
              <a:rPr lang="nb-NO" sz="1900" dirty="0">
                <a:solidFill>
                  <a:schemeClr val="bg1">
                    <a:lumMod val="50000"/>
                  </a:schemeClr>
                </a:solidFill>
                <a:latin typeface="Courier"/>
              </a:rPr>
              <a:t>, </a:t>
            </a:r>
            <a:r>
              <a:rPr lang="nb-NO" sz="1900" dirty="0" err="1">
                <a:solidFill>
                  <a:schemeClr val="bg1">
                    <a:lumMod val="50000"/>
                  </a:schemeClr>
                </a:solidFill>
                <a:latin typeface="Courier"/>
              </a:rPr>
              <a:t>ConScape.MinusLog</a:t>
            </a:r>
            <a:r>
              <a:rPr lang="nb-NO" sz="1900" dirty="0">
                <a:solidFill>
                  <a:schemeClr val="bg1">
                    <a:lumMod val="50000"/>
                  </a:schemeClr>
                </a:solidFill>
                <a:latin typeface="Courier"/>
              </a:rPr>
              <a:t>}((</a:t>
            </a:r>
            <a:r>
              <a:rPr lang="nb-NO" sz="1900" dirty="0" err="1">
                <a:solidFill>
                  <a:schemeClr val="bg1">
                    <a:lumMod val="50000"/>
                  </a:schemeClr>
                </a:solidFill>
                <a:latin typeface="Courier"/>
              </a:rPr>
              <a:t>flow</a:t>
            </a:r>
            <a:r>
              <a:rPr lang="nb-NO" sz="1900" dirty="0">
                <a:solidFill>
                  <a:schemeClr val="bg1">
                    <a:lumMod val="50000"/>
                  </a:schemeClr>
                </a:solidFill>
                <a:latin typeface="Courier"/>
              </a:rPr>
              <a:t> = </a:t>
            </a:r>
            <a:r>
              <a:rPr lang="nb-NO" sz="1900" dirty="0" err="1">
                <a:solidFill>
                  <a:schemeClr val="bg1">
                    <a:lumMod val="50000"/>
                  </a:schemeClr>
                </a:solidFill>
                <a:latin typeface="Courier"/>
              </a:rPr>
              <a:t>ConScape.BetweennessKweighted</a:t>
            </a:r>
            <a:r>
              <a:rPr lang="nb-NO" sz="1900" dirty="0">
                <a:solidFill>
                  <a:schemeClr val="bg1">
                    <a:lumMod val="50000"/>
                  </a:schemeClr>
                </a:solidFill>
                <a:latin typeface="Courier"/>
              </a:rPr>
              <a:t>(),), </a:t>
            </a:r>
            <a:r>
              <a:rPr lang="nb-NO" sz="1900" dirty="0" err="1">
                <a:solidFill>
                  <a:schemeClr val="bg1">
                    <a:lumMod val="50000"/>
                  </a:schemeClr>
                </a:solidFill>
                <a:latin typeface="Courier"/>
              </a:rPr>
              <a:t>ConScape.ExpectedCost</a:t>
            </a:r>
            <a:r>
              <a:rPr lang="nb-NO" sz="1900" dirty="0">
                <a:solidFill>
                  <a:schemeClr val="bg1">
                    <a:lumMod val="50000"/>
                  </a:schemeClr>
                </a:solidFill>
                <a:latin typeface="Courier"/>
              </a:rPr>
              <a:t>{Float64, var"#19#20"}(0.1, var"#19#20"(), false), </a:t>
            </a:r>
            <a:r>
              <a:rPr lang="nb-NO" sz="1900" dirty="0" err="1">
                <a:solidFill>
                  <a:schemeClr val="bg1">
                    <a:lumMod val="50000"/>
                  </a:schemeClr>
                </a:solidFill>
                <a:latin typeface="Courier"/>
              </a:rPr>
              <a:t>ConScape.MatrixSolver</a:t>
            </a:r>
            <a:r>
              <a:rPr lang="nb-NO" sz="1900" dirty="0">
                <a:solidFill>
                  <a:schemeClr val="bg1">
                    <a:lumMod val="50000"/>
                  </a:schemeClr>
                </a:solidFill>
                <a:latin typeface="Courier"/>
              </a:rPr>
              <a:t>(true), </a:t>
            </a:r>
            <a:r>
              <a:rPr lang="nb-NO" sz="1900" dirty="0" err="1">
                <a:solidFill>
                  <a:schemeClr val="bg1">
                    <a:lumMod val="50000"/>
                  </a:schemeClr>
                </a:solidFill>
                <a:latin typeface="Courier"/>
              </a:rPr>
              <a:t>nothing</a:t>
            </a:r>
            <a:r>
              <a:rPr lang="nb-NO" sz="1900" dirty="0">
                <a:solidFill>
                  <a:schemeClr val="bg1">
                    <a:lumMod val="50000"/>
                  </a:schemeClr>
                </a:solidFill>
                <a:latin typeface="Courier"/>
              </a:rPr>
              <a:t>, </a:t>
            </a:r>
            <a:r>
              <a:rPr lang="nb-NO" sz="1900" dirty="0" err="1">
                <a:solidFill>
                  <a:schemeClr val="bg1">
                    <a:lumMod val="50000"/>
                  </a:schemeClr>
                </a:solidFill>
                <a:latin typeface="Courier"/>
              </a:rPr>
              <a:t>ConScape.MinusLog</a:t>
            </a:r>
            <a:r>
              <a:rPr lang="nb-NO" sz="1900" dirty="0">
                <a:solidFill>
                  <a:schemeClr val="bg1">
                    <a:lumMod val="50000"/>
                  </a:schemeClr>
                </a:solidFill>
                <a:latin typeface="Courier"/>
              </a:rPr>
              <a:t>(), true)</a:t>
            </a:r>
          </a:p>
        </p:txBody>
      </p:sp>
      <p:sp>
        <p:nvSpPr>
          <p:cNvPr id="2" name="Title 1">
            <a:extLst>
              <a:ext uri="{FF2B5EF4-FFF2-40B4-BE49-F238E27FC236}">
                <a16:creationId xmlns:a16="http://schemas.microsoft.com/office/drawing/2014/main" id="{1DDC1DF9-93CA-4CC2-7E0E-859B20460B34}"/>
              </a:ext>
            </a:extLst>
          </p:cNvPr>
          <p:cNvSpPr>
            <a:spLocks noGrp="1"/>
          </p:cNvSpPr>
          <p:nvPr>
            <p:ph type="title"/>
          </p:nvPr>
        </p:nvSpPr>
        <p:spPr>
          <a:xfrm>
            <a:off x="457200" y="205979"/>
            <a:ext cx="8229600" cy="857250"/>
          </a:xfrm>
        </p:spPr>
        <p:txBody>
          <a:bodyPr>
            <a:normAutofit/>
          </a:bodyPr>
          <a:lstStyle/>
          <a:p>
            <a:pPr marL="0" lvl="0" indent="0">
              <a:buNone/>
            </a:pPr>
            <a:r>
              <a:rPr lang="en-US" dirty="0"/>
              <a:t>Compute movement flow or corridors</a:t>
            </a:r>
            <a:endParaRPr dirty="0"/>
          </a:p>
        </p:txBody>
      </p:sp>
    </p:spTree>
    <p:extLst>
      <p:ext uri="{BB962C8B-B14F-4D97-AF65-F5344CB8AC3E}">
        <p14:creationId xmlns:p14="http://schemas.microsoft.com/office/powerpoint/2010/main" val="20085298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45255-E9AF-BAC8-B738-FD41A3F6BD4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4E66B52-BD55-7A2F-B89B-381F6DA0B128}"/>
              </a:ext>
            </a:extLst>
          </p:cNvPr>
          <p:cNvSpPr>
            <a:spLocks noGrp="1"/>
          </p:cNvSpPr>
          <p:nvPr>
            <p:ph idx="1"/>
          </p:nvPr>
        </p:nvSpPr>
        <p:spPr/>
        <p:txBody>
          <a:bodyPr>
            <a:normAutofit fontScale="25000" lnSpcReduction="20000"/>
          </a:bodyPr>
          <a:lstStyle/>
          <a:p>
            <a:pPr marL="0" lvl="0" indent="0">
              <a:buNone/>
            </a:pPr>
            <a:r>
              <a:rPr lang="nb-NO" sz="8000" dirty="0" err="1"/>
              <a:t>Solve</a:t>
            </a:r>
            <a:r>
              <a:rPr lang="nb-NO" sz="8000" dirty="0"/>
              <a:t> </a:t>
            </a:r>
            <a:r>
              <a:rPr lang="nb-NO" sz="8000" dirty="0" err="1"/>
              <a:t>the</a:t>
            </a:r>
            <a:r>
              <a:rPr lang="nb-NO" sz="8000" dirty="0"/>
              <a:t> problem:</a:t>
            </a:r>
          </a:p>
          <a:p>
            <a:pPr lvl="0" indent="0">
              <a:buNone/>
            </a:pPr>
            <a:r>
              <a:rPr lang="nb-NO" sz="8000" dirty="0" err="1">
                <a:latin typeface="Courier"/>
              </a:rPr>
              <a:t>flow</a:t>
            </a:r>
            <a:r>
              <a:rPr lang="nb-NO" sz="8000" dirty="0">
                <a:latin typeface="Courier"/>
              </a:rPr>
              <a:t> </a:t>
            </a:r>
            <a:r>
              <a:rPr lang="nb-NO" sz="8000" dirty="0">
                <a:solidFill>
                  <a:srgbClr val="666666"/>
                </a:solidFill>
                <a:latin typeface="Courier"/>
              </a:rPr>
              <a:t>=</a:t>
            </a:r>
            <a:r>
              <a:rPr lang="nb-NO" sz="8000" dirty="0">
                <a:latin typeface="Courier"/>
              </a:rPr>
              <a:t> </a:t>
            </a:r>
            <a:r>
              <a:rPr lang="nb-NO" sz="8000" dirty="0" err="1">
                <a:latin typeface="Courier"/>
              </a:rPr>
              <a:t>ConScape.</a:t>
            </a:r>
            <a:r>
              <a:rPr lang="nb-NO" sz="8000" dirty="0" err="1">
                <a:solidFill>
                  <a:srgbClr val="06287E"/>
                </a:solidFill>
                <a:latin typeface="Courier"/>
              </a:rPr>
              <a:t>solve</a:t>
            </a:r>
            <a:r>
              <a:rPr lang="nb-NO" sz="8000" dirty="0">
                <a:latin typeface="Courier"/>
              </a:rPr>
              <a:t>(problem, rast).</a:t>
            </a:r>
            <a:r>
              <a:rPr lang="nb-NO" sz="8000" dirty="0" err="1">
                <a:latin typeface="Courier"/>
              </a:rPr>
              <a:t>flow</a:t>
            </a:r>
            <a:endParaRPr lang="nb-NO" sz="8000" dirty="0">
              <a:latin typeface="Courier"/>
            </a:endParaRPr>
          </a:p>
          <a:p>
            <a:pPr lvl="0" indent="0">
              <a:buNone/>
            </a:pPr>
            <a:endParaRPr lang="nb-NO" sz="2000" dirty="0">
              <a:latin typeface="Courier"/>
            </a:endParaRPr>
          </a:p>
          <a:p>
            <a:pPr lvl="0" indent="0">
              <a:buNone/>
            </a:pPr>
            <a:r>
              <a:rPr lang="nb-NO" dirty="0">
                <a:solidFill>
                  <a:schemeClr val="bg1">
                    <a:lumMod val="50000"/>
                  </a:schemeClr>
                </a:solidFill>
                <a:latin typeface="Courier"/>
              </a:rPr>
              <a:t>Initialising for </a:t>
            </a:r>
            <a:r>
              <a:rPr lang="nb-NO" dirty="0" err="1">
                <a:solidFill>
                  <a:schemeClr val="bg1">
                    <a:lumMod val="50000"/>
                  </a:schemeClr>
                </a:solidFill>
                <a:latin typeface="Courier"/>
              </a:rPr>
              <a:t>ConScape.MatrixSolver</a:t>
            </a:r>
            <a:r>
              <a:rPr lang="nb-NO" dirty="0">
                <a:solidFill>
                  <a:schemeClr val="bg1">
                    <a:lumMod val="50000"/>
                  </a:schemeClr>
                </a:solidFill>
                <a:latin typeface="Courier"/>
              </a:rPr>
              <a:t>(true)
</a:t>
            </a:r>
            <a:r>
              <a:rPr lang="nb-NO" dirty="0" err="1">
                <a:solidFill>
                  <a:schemeClr val="bg1">
                    <a:lumMod val="50000"/>
                  </a:schemeClr>
                </a:solidFill>
                <a:latin typeface="Courier"/>
              </a:rPr>
              <a:t>Defining</a:t>
            </a:r>
            <a:r>
              <a:rPr lang="nb-NO" dirty="0">
                <a:solidFill>
                  <a:schemeClr val="bg1">
                    <a:lumMod val="50000"/>
                  </a:schemeClr>
                </a:solidFill>
                <a:latin typeface="Courier"/>
              </a:rPr>
              <a:t> grid for </a:t>
            </a:r>
            <a:r>
              <a:rPr lang="nb-NO" dirty="0" err="1">
                <a:solidFill>
                  <a:schemeClr val="bg1">
                    <a:lumMod val="50000"/>
                  </a:schemeClr>
                </a:solidFill>
                <a:latin typeface="Courier"/>
              </a:rPr>
              <a:t>RasterStack</a:t>
            </a:r>
            <a:r>
              <a:rPr lang="nb-NO" dirty="0">
                <a:solidFill>
                  <a:schemeClr val="bg1">
                    <a:lumMod val="50000"/>
                  </a:schemeClr>
                </a:solidFill>
                <a:latin typeface="Courier"/>
              </a:rPr>
              <a:t> </a:t>
            </a:r>
            <a:r>
              <a:rPr lang="nb-NO" dirty="0" err="1">
                <a:solidFill>
                  <a:schemeClr val="bg1">
                    <a:lumMod val="50000"/>
                  </a:schemeClr>
                </a:solidFill>
                <a:latin typeface="Courier"/>
              </a:rPr>
              <a:t>size</a:t>
            </a:r>
            <a:r>
              <a:rPr lang="nb-NO" dirty="0">
                <a:solidFill>
                  <a:schemeClr val="bg1">
                    <a:lumMod val="50000"/>
                  </a:schemeClr>
                </a:solidFill>
                <a:latin typeface="Courier"/>
              </a:rPr>
              <a:t> (434, 586)...
</a:t>
            </a:r>
            <a:r>
              <a:rPr lang="nb-NO" dirty="0" err="1">
                <a:solidFill>
                  <a:schemeClr val="bg1">
                    <a:lumMod val="50000"/>
                  </a:schemeClr>
                </a:solidFill>
                <a:latin typeface="Courier"/>
              </a:rPr>
              <a:t>Retreiving</a:t>
            </a:r>
            <a:r>
              <a:rPr lang="nb-NO" dirty="0">
                <a:solidFill>
                  <a:schemeClr val="bg1">
                    <a:lumMod val="50000"/>
                  </a:schemeClr>
                </a:solidFill>
                <a:latin typeface="Courier"/>
              </a:rPr>
              <a:t> </a:t>
            </a:r>
            <a:r>
              <a:rPr lang="nb-NO" dirty="0" err="1">
                <a:solidFill>
                  <a:schemeClr val="bg1">
                    <a:lumMod val="50000"/>
                  </a:schemeClr>
                </a:solidFill>
                <a:latin typeface="Courier"/>
              </a:rPr>
              <a:t>measures</a:t>
            </a:r>
            <a:r>
              <a:rPr lang="nb-NO" dirty="0">
                <a:solidFill>
                  <a:schemeClr val="bg1">
                    <a:lumMod val="50000"/>
                  </a:schemeClr>
                </a:solidFill>
                <a:latin typeface="Courier"/>
              </a:rPr>
              <a:t>...
</a:t>
            </a:r>
            <a:r>
              <a:rPr lang="nb-NO" dirty="0" err="1">
                <a:solidFill>
                  <a:schemeClr val="bg1">
                    <a:lumMod val="50000"/>
                  </a:schemeClr>
                </a:solidFill>
                <a:latin typeface="Courier"/>
              </a:rPr>
              <a:t>Defining</a:t>
            </a:r>
            <a:r>
              <a:rPr lang="nb-NO" dirty="0">
                <a:solidFill>
                  <a:schemeClr val="bg1">
                    <a:lumMod val="50000"/>
                  </a:schemeClr>
                </a:solidFill>
                <a:latin typeface="Courier"/>
              </a:rPr>
              <a:t> </a:t>
            </a:r>
            <a:r>
              <a:rPr lang="nb-NO" dirty="0" err="1">
                <a:solidFill>
                  <a:schemeClr val="bg1">
                    <a:lumMod val="50000"/>
                  </a:schemeClr>
                </a:solidFill>
                <a:latin typeface="Courier"/>
              </a:rPr>
              <a:t>sparse</a:t>
            </a:r>
            <a:r>
              <a:rPr lang="nb-NO" dirty="0">
                <a:solidFill>
                  <a:schemeClr val="bg1">
                    <a:lumMod val="50000"/>
                  </a:schemeClr>
                </a:solidFill>
                <a:latin typeface="Courier"/>
              </a:rPr>
              <a:t> </a:t>
            </a:r>
            <a:r>
              <a:rPr lang="nb-NO" dirty="0" err="1">
                <a:solidFill>
                  <a:schemeClr val="bg1">
                    <a:lumMod val="50000"/>
                  </a:schemeClr>
                </a:solidFill>
                <a:latin typeface="Courier"/>
              </a:rPr>
              <a:t>arrays</a:t>
            </a:r>
            <a:r>
              <a:rPr lang="nb-NO" dirty="0">
                <a:solidFill>
                  <a:schemeClr val="bg1">
                    <a:lumMod val="50000"/>
                  </a:schemeClr>
                </a:solidFill>
                <a:latin typeface="Courier"/>
              </a:rPr>
              <a:t> of </a:t>
            </a:r>
            <a:r>
              <a:rPr lang="nb-NO" dirty="0" err="1">
                <a:solidFill>
                  <a:schemeClr val="bg1">
                    <a:lumMod val="50000"/>
                  </a:schemeClr>
                </a:solidFill>
                <a:latin typeface="Courier"/>
              </a:rPr>
              <a:t>size</a:t>
            </a:r>
            <a:r>
              <a:rPr lang="nb-NO" dirty="0">
                <a:solidFill>
                  <a:schemeClr val="bg1">
                    <a:lumMod val="50000"/>
                  </a:schemeClr>
                </a:solidFill>
                <a:latin typeface="Courier"/>
              </a:rPr>
              <a:t> (128166, 128166)...
Initialising </a:t>
            </a:r>
            <a:r>
              <a:rPr lang="nb-NO" dirty="0" err="1">
                <a:solidFill>
                  <a:schemeClr val="bg1">
                    <a:lumMod val="50000"/>
                  </a:schemeClr>
                </a:solidFill>
                <a:latin typeface="Courier"/>
              </a:rPr>
              <a:t>factorizations</a:t>
            </a:r>
            <a:r>
              <a:rPr lang="nb-NO" dirty="0">
                <a:solidFill>
                  <a:schemeClr val="bg1">
                    <a:lumMod val="50000"/>
                  </a:schemeClr>
                </a:solidFill>
                <a:latin typeface="Courier"/>
              </a:rPr>
              <a:t>...
</a:t>
            </a:r>
            <a:r>
              <a:rPr lang="nb-NO" dirty="0" err="1">
                <a:solidFill>
                  <a:schemeClr val="bg1">
                    <a:lumMod val="50000"/>
                  </a:schemeClr>
                </a:solidFill>
                <a:latin typeface="Courier"/>
              </a:rPr>
              <a:t>Allocating</a:t>
            </a:r>
            <a:r>
              <a:rPr lang="nb-NO" dirty="0">
                <a:solidFill>
                  <a:schemeClr val="bg1">
                    <a:lumMod val="50000"/>
                  </a:schemeClr>
                </a:solidFill>
                <a:latin typeface="Courier"/>
              </a:rPr>
              <a:t> </a:t>
            </a:r>
            <a:r>
              <a:rPr lang="nb-NO" dirty="0" err="1">
                <a:solidFill>
                  <a:schemeClr val="bg1">
                    <a:lumMod val="50000"/>
                  </a:schemeClr>
                </a:solidFill>
                <a:latin typeface="Courier"/>
              </a:rPr>
              <a:t>workspaces</a:t>
            </a:r>
            <a:r>
              <a:rPr lang="nb-NO" dirty="0">
                <a:solidFill>
                  <a:schemeClr val="bg1">
                    <a:lumMod val="50000"/>
                  </a:schemeClr>
                </a:solidFill>
                <a:latin typeface="Courier"/>
              </a:rPr>
              <a:t>...
</a:t>
            </a:r>
            <a:r>
              <a:rPr lang="nb-NO" dirty="0" err="1">
                <a:solidFill>
                  <a:schemeClr val="bg1">
                    <a:lumMod val="50000"/>
                  </a:schemeClr>
                </a:solidFill>
                <a:latin typeface="Courier"/>
              </a:rPr>
              <a:t>Solving</a:t>
            </a:r>
            <a:r>
              <a:rPr lang="nb-NO" dirty="0">
                <a:solidFill>
                  <a:schemeClr val="bg1">
                    <a:lumMod val="50000"/>
                  </a:schemeClr>
                </a:solidFill>
                <a:latin typeface="Courier"/>
              </a:rPr>
              <a:t> Z </a:t>
            </a:r>
            <a:r>
              <a:rPr lang="nb-NO" dirty="0" err="1">
                <a:solidFill>
                  <a:schemeClr val="bg1">
                    <a:lumMod val="50000"/>
                  </a:schemeClr>
                </a:solidFill>
                <a:latin typeface="Courier"/>
              </a:rPr>
              <a:t>matrix</a:t>
            </a:r>
            <a:r>
              <a:rPr lang="nb-NO" dirty="0">
                <a:solidFill>
                  <a:schemeClr val="bg1">
                    <a:lumMod val="50000"/>
                  </a:schemeClr>
                </a:solidFill>
                <a:latin typeface="Courier"/>
              </a:rPr>
              <a:t>...
</a:t>
            </a:r>
            <a:r>
              <a:rPr lang="nb-NO" dirty="0" err="1">
                <a:solidFill>
                  <a:schemeClr val="bg1">
                    <a:lumMod val="50000"/>
                  </a:schemeClr>
                </a:solidFill>
                <a:latin typeface="Courier"/>
              </a:rPr>
              <a:t>Calculating</a:t>
            </a:r>
            <a:r>
              <a:rPr lang="nb-NO" dirty="0">
                <a:solidFill>
                  <a:schemeClr val="bg1">
                    <a:lumMod val="50000"/>
                  </a:schemeClr>
                </a:solidFill>
                <a:latin typeface="Courier"/>
              </a:rPr>
              <a:t> inverses...
</a:t>
            </a:r>
            <a:r>
              <a:rPr lang="nb-NO" dirty="0" err="1">
                <a:solidFill>
                  <a:schemeClr val="bg1">
                    <a:lumMod val="50000"/>
                  </a:schemeClr>
                </a:solidFill>
                <a:latin typeface="Courier"/>
              </a:rPr>
              <a:t>Calculating</a:t>
            </a:r>
            <a:r>
              <a:rPr lang="nb-NO" dirty="0">
                <a:solidFill>
                  <a:schemeClr val="bg1">
                    <a:lumMod val="50000"/>
                  </a:schemeClr>
                </a:solidFill>
                <a:latin typeface="Courier"/>
              </a:rPr>
              <a:t> </a:t>
            </a:r>
            <a:r>
              <a:rPr lang="nb-NO" dirty="0" err="1">
                <a:solidFill>
                  <a:schemeClr val="bg1">
                    <a:lumMod val="50000"/>
                  </a:schemeClr>
                </a:solidFill>
                <a:latin typeface="Courier"/>
              </a:rPr>
              <a:t>expected</a:t>
            </a:r>
            <a:r>
              <a:rPr lang="nb-NO" dirty="0">
                <a:solidFill>
                  <a:schemeClr val="bg1">
                    <a:lumMod val="50000"/>
                  </a:schemeClr>
                </a:solidFill>
                <a:latin typeface="Courier"/>
              </a:rPr>
              <a:t> </a:t>
            </a:r>
            <a:r>
              <a:rPr lang="nb-NO" dirty="0" err="1">
                <a:solidFill>
                  <a:schemeClr val="bg1">
                    <a:lumMod val="50000"/>
                  </a:schemeClr>
                </a:solidFill>
                <a:latin typeface="Courier"/>
              </a:rPr>
              <a:t>cost</a:t>
            </a:r>
            <a:r>
              <a:rPr lang="nb-NO" dirty="0">
                <a:solidFill>
                  <a:schemeClr val="bg1">
                    <a:lumMod val="50000"/>
                  </a:schemeClr>
                </a:solidFill>
                <a:latin typeface="Courier"/>
              </a:rPr>
              <a:t>...
</a:t>
            </a:r>
            <a:r>
              <a:rPr lang="nb-NO" dirty="0" err="1">
                <a:solidFill>
                  <a:schemeClr val="bg1">
                    <a:lumMod val="50000"/>
                  </a:schemeClr>
                </a:solidFill>
                <a:latin typeface="Courier"/>
              </a:rPr>
              <a:t>Calculating</a:t>
            </a:r>
            <a:r>
              <a:rPr lang="nb-NO" dirty="0">
                <a:solidFill>
                  <a:schemeClr val="bg1">
                    <a:lumMod val="50000"/>
                  </a:schemeClr>
                </a:solidFill>
                <a:latin typeface="Courier"/>
              </a:rPr>
              <a:t> </a:t>
            </a:r>
            <a:r>
              <a:rPr lang="nb-NO" dirty="0" err="1">
                <a:solidFill>
                  <a:schemeClr val="bg1">
                    <a:lumMod val="50000"/>
                  </a:schemeClr>
                </a:solidFill>
                <a:latin typeface="Courier"/>
              </a:rPr>
              <a:t>proximities</a:t>
            </a:r>
            <a:r>
              <a:rPr lang="nb-NO" dirty="0">
                <a:solidFill>
                  <a:schemeClr val="bg1">
                    <a:lumMod val="50000"/>
                  </a:schemeClr>
                </a:solidFill>
                <a:latin typeface="Courier"/>
              </a:rPr>
              <a:t>...
</a:t>
            </a:r>
            <a:r>
              <a:rPr lang="nb-NO" dirty="0" err="1">
                <a:solidFill>
                  <a:schemeClr val="bg1">
                    <a:lumMod val="50000"/>
                  </a:schemeClr>
                </a:solidFill>
                <a:latin typeface="Courier"/>
              </a:rPr>
              <a:t>Finished</a:t>
            </a:r>
            <a:r>
              <a:rPr lang="nb-NO" dirty="0">
                <a:solidFill>
                  <a:schemeClr val="bg1">
                    <a:lumMod val="50000"/>
                  </a:schemeClr>
                </a:solidFill>
                <a:latin typeface="Courier"/>
              </a:rPr>
              <a:t> </a:t>
            </a:r>
            <a:r>
              <a:rPr lang="nb-NO" dirty="0" err="1">
                <a:solidFill>
                  <a:schemeClr val="bg1">
                    <a:lumMod val="50000"/>
                  </a:schemeClr>
                </a:solidFill>
                <a:latin typeface="Courier"/>
              </a:rPr>
              <a:t>workspace</a:t>
            </a:r>
            <a:r>
              <a:rPr lang="nb-NO" dirty="0">
                <a:solidFill>
                  <a:schemeClr val="bg1">
                    <a:lumMod val="50000"/>
                  </a:schemeClr>
                </a:solidFill>
                <a:latin typeface="Courier"/>
              </a:rPr>
              <a:t>...</a:t>
            </a:r>
          </a:p>
          <a:p>
            <a:pPr lvl="0" indent="0">
              <a:buNone/>
            </a:pPr>
            <a:r>
              <a:rPr lang="nb-NO" dirty="0">
                <a:solidFill>
                  <a:schemeClr val="bg1">
                    <a:lumMod val="50000"/>
                  </a:schemeClr>
                </a:solidFill>
                <a:latin typeface="Courier"/>
              </a:rPr>
              <a:t>┌ 434×586 Raster{Float64, 2} </a:t>
            </a:r>
            <a:r>
              <a:rPr lang="nb-NO" dirty="0" err="1">
                <a:solidFill>
                  <a:schemeClr val="bg1">
                    <a:lumMod val="50000"/>
                  </a:schemeClr>
                </a:solidFill>
                <a:latin typeface="Courier"/>
              </a:rPr>
              <a:t>flow</a:t>
            </a:r>
            <a:r>
              <a:rPr lang="nb-NO" dirty="0">
                <a:solidFill>
                  <a:schemeClr val="bg1">
                    <a:lumMod val="50000"/>
                  </a:schemeClr>
                </a:solidFill>
                <a:latin typeface="Courier"/>
              </a:rPr>
              <a:t> ┐
├─────────────────────────────────┴────────────────────────────────────── dims ┐
  ↓ Y </a:t>
            </a:r>
            <a:r>
              <a:rPr lang="nb-NO" dirty="0" err="1">
                <a:solidFill>
                  <a:schemeClr val="bg1">
                    <a:lumMod val="50000"/>
                  </a:schemeClr>
                </a:solidFill>
                <a:latin typeface="Courier"/>
              </a:rPr>
              <a:t>Projected</a:t>
            </a:r>
            <a:r>
              <a:rPr lang="nb-NO" dirty="0">
                <a:solidFill>
                  <a:schemeClr val="bg1">
                    <a:lumMod val="50000"/>
                  </a:schemeClr>
                </a:solidFill>
                <a:latin typeface="Courier"/>
              </a:rPr>
              <a:t>{Float64} 6.98255e6:-200.0:6.89595e6 </a:t>
            </a:r>
            <a:r>
              <a:rPr lang="nb-NO" dirty="0" err="1">
                <a:solidFill>
                  <a:schemeClr val="bg1">
                    <a:lumMod val="50000"/>
                  </a:schemeClr>
                </a:solidFill>
                <a:latin typeface="Courier"/>
              </a:rPr>
              <a:t>ReverseOrdered</a:t>
            </a:r>
            <a:r>
              <a:rPr lang="nb-NO" dirty="0">
                <a:solidFill>
                  <a:schemeClr val="bg1">
                    <a:lumMod val="50000"/>
                  </a:schemeClr>
                </a:solidFill>
                <a:latin typeface="Courier"/>
              </a:rPr>
              <a:t> </a:t>
            </a:r>
            <a:r>
              <a:rPr lang="nb-NO" dirty="0" err="1">
                <a:solidFill>
                  <a:schemeClr val="bg1">
                    <a:lumMod val="50000"/>
                  </a:schemeClr>
                </a:solidFill>
                <a:latin typeface="Courier"/>
              </a:rPr>
              <a:t>Regular</a:t>
            </a:r>
            <a:r>
              <a:rPr lang="nb-NO" dirty="0">
                <a:solidFill>
                  <a:schemeClr val="bg1">
                    <a:lumMod val="50000"/>
                  </a:schemeClr>
                </a:solidFill>
                <a:latin typeface="Courier"/>
              </a:rPr>
              <a:t> </a:t>
            </a:r>
            <a:r>
              <a:rPr lang="nb-NO" dirty="0" err="1">
                <a:solidFill>
                  <a:schemeClr val="bg1">
                    <a:lumMod val="50000"/>
                  </a:schemeClr>
                </a:solidFill>
                <a:latin typeface="Courier"/>
              </a:rPr>
              <a:t>Intervals</a:t>
            </a:r>
            <a:r>
              <a:rPr lang="nb-NO" dirty="0">
                <a:solidFill>
                  <a:schemeClr val="bg1">
                    <a:lumMod val="50000"/>
                  </a:schemeClr>
                </a:solidFill>
                <a:latin typeface="Courier"/>
              </a:rPr>
              <a:t>{Start},
  → </a:t>
            </a:r>
            <a:r>
              <a:rPr lang="nb-NO" dirty="0" err="1">
                <a:solidFill>
                  <a:schemeClr val="bg1">
                    <a:lumMod val="50000"/>
                  </a:schemeClr>
                </a:solidFill>
                <a:latin typeface="Courier"/>
              </a:rPr>
              <a:t>X</a:t>
            </a:r>
            <a:r>
              <a:rPr lang="nb-NO" dirty="0">
                <a:solidFill>
                  <a:schemeClr val="bg1">
                    <a:lumMod val="50000"/>
                  </a:schemeClr>
                </a:solidFill>
                <a:latin typeface="Courier"/>
              </a:rPr>
              <a:t> </a:t>
            </a:r>
            <a:r>
              <a:rPr lang="nb-NO" dirty="0" err="1">
                <a:solidFill>
                  <a:schemeClr val="bg1">
                    <a:lumMod val="50000"/>
                  </a:schemeClr>
                </a:solidFill>
                <a:latin typeface="Courier"/>
              </a:rPr>
              <a:t>Projected</a:t>
            </a:r>
            <a:r>
              <a:rPr lang="nb-NO" dirty="0">
                <a:solidFill>
                  <a:schemeClr val="bg1">
                    <a:lumMod val="50000"/>
                  </a:schemeClr>
                </a:solidFill>
                <a:latin typeface="Courier"/>
              </a:rPr>
              <a:t>{Float64} 110250.0:200.0:227250.0 </a:t>
            </a:r>
            <a:r>
              <a:rPr lang="nb-NO" dirty="0" err="1">
                <a:solidFill>
                  <a:schemeClr val="bg1">
                    <a:lumMod val="50000"/>
                  </a:schemeClr>
                </a:solidFill>
                <a:latin typeface="Courier"/>
              </a:rPr>
              <a:t>ForwardOrdered</a:t>
            </a:r>
            <a:r>
              <a:rPr lang="nb-NO" dirty="0">
                <a:solidFill>
                  <a:schemeClr val="bg1">
                    <a:lumMod val="50000"/>
                  </a:schemeClr>
                </a:solidFill>
                <a:latin typeface="Courier"/>
              </a:rPr>
              <a:t> </a:t>
            </a:r>
            <a:r>
              <a:rPr lang="nb-NO" dirty="0" err="1">
                <a:solidFill>
                  <a:schemeClr val="bg1">
                    <a:lumMod val="50000"/>
                  </a:schemeClr>
                </a:solidFill>
                <a:latin typeface="Courier"/>
              </a:rPr>
              <a:t>Regular</a:t>
            </a:r>
            <a:r>
              <a:rPr lang="nb-NO" dirty="0">
                <a:solidFill>
                  <a:schemeClr val="bg1">
                    <a:lumMod val="50000"/>
                  </a:schemeClr>
                </a:solidFill>
                <a:latin typeface="Courier"/>
              </a:rPr>
              <a:t> </a:t>
            </a:r>
            <a:r>
              <a:rPr lang="nb-NO" dirty="0" err="1">
                <a:solidFill>
                  <a:schemeClr val="bg1">
                    <a:lumMod val="50000"/>
                  </a:schemeClr>
                </a:solidFill>
                <a:latin typeface="Courier"/>
              </a:rPr>
              <a:t>Intervals</a:t>
            </a:r>
            <a:r>
              <a:rPr lang="nb-NO" dirty="0">
                <a:solidFill>
                  <a:schemeClr val="bg1">
                    <a:lumMod val="50000"/>
                  </a:schemeClr>
                </a:solidFill>
                <a:latin typeface="Courier"/>
              </a:rPr>
              <a:t>{Start}
├────────────────────────────────────────────────────────────────────── raster ┤
  </a:t>
            </a:r>
            <a:r>
              <a:rPr lang="nb-NO" dirty="0" err="1">
                <a:solidFill>
                  <a:schemeClr val="bg1">
                    <a:lumMod val="50000"/>
                  </a:schemeClr>
                </a:solidFill>
                <a:latin typeface="Courier"/>
              </a:rPr>
              <a:t>extent</a:t>
            </a:r>
            <a:r>
              <a:rPr lang="nb-NO" dirty="0">
                <a:solidFill>
                  <a:schemeClr val="bg1">
                    <a:lumMod val="50000"/>
                  </a:schemeClr>
                </a:solidFill>
                <a:latin typeface="Courier"/>
              </a:rPr>
              <a:t>: </a:t>
            </a:r>
            <a:r>
              <a:rPr lang="nb-NO" dirty="0" err="1">
                <a:solidFill>
                  <a:schemeClr val="bg1">
                    <a:lumMod val="50000"/>
                  </a:schemeClr>
                </a:solidFill>
                <a:latin typeface="Courier"/>
              </a:rPr>
              <a:t>Extent</a:t>
            </a:r>
            <a:r>
              <a:rPr lang="nb-NO" dirty="0">
                <a:solidFill>
                  <a:schemeClr val="bg1">
                    <a:lumMod val="50000"/>
                  </a:schemeClr>
                </a:solidFill>
                <a:latin typeface="Courier"/>
              </a:rPr>
              <a:t>(Y = (6.89595e6, 6.98275e6), </a:t>
            </a:r>
            <a:r>
              <a:rPr lang="nb-NO" dirty="0" err="1">
                <a:solidFill>
                  <a:schemeClr val="bg1">
                    <a:lumMod val="50000"/>
                  </a:schemeClr>
                </a:solidFill>
                <a:latin typeface="Courier"/>
              </a:rPr>
              <a:t>X</a:t>
            </a:r>
            <a:r>
              <a:rPr lang="nb-NO" dirty="0">
                <a:solidFill>
                  <a:schemeClr val="bg1">
                    <a:lumMod val="50000"/>
                  </a:schemeClr>
                </a:solidFill>
                <a:latin typeface="Courier"/>
              </a:rPr>
              <a:t> = (110250.0, 227450.0))
  </a:t>
            </a:r>
            <a:r>
              <a:rPr lang="nb-NO" dirty="0" err="1">
                <a:solidFill>
                  <a:schemeClr val="bg1">
                    <a:lumMod val="50000"/>
                  </a:schemeClr>
                </a:solidFill>
                <a:latin typeface="Courier"/>
              </a:rPr>
              <a:t>crs</a:t>
            </a:r>
            <a:r>
              <a:rPr lang="nb-NO" dirty="0">
                <a:solidFill>
                  <a:schemeClr val="bg1">
                    <a:lumMod val="50000"/>
                  </a:schemeClr>
                </a:solidFill>
                <a:latin typeface="Courier"/>
              </a:rPr>
              <a:t>: 
└──────────────────────────────────────────────────────────────────────────────┘
 ↓ →        110250.0  110450.0  110650.0  …  226850.0  227050.0  227250.0
 6.98255e6     </a:t>
            </a:r>
            <a:r>
              <a:rPr lang="nb-NO" dirty="0" err="1">
                <a:solidFill>
                  <a:schemeClr val="bg1">
                    <a:lumMod val="50000"/>
                  </a:schemeClr>
                </a:solidFill>
                <a:latin typeface="Courier"/>
              </a:rPr>
              <a:t>NaN</a:t>
            </a:r>
            <a:r>
              <a:rPr lang="nb-NO" dirty="0">
                <a:solidFill>
                  <a:schemeClr val="bg1">
                    <a:lumMod val="50000"/>
                  </a:schemeClr>
                </a:solidFill>
                <a:latin typeface="Courier"/>
              </a:rPr>
              <a:t>       </a:t>
            </a:r>
            <a:r>
              <a:rPr lang="nb-NO" dirty="0" err="1">
                <a:solidFill>
                  <a:schemeClr val="bg1">
                    <a:lumMod val="50000"/>
                  </a:schemeClr>
                </a:solidFill>
                <a:latin typeface="Courier"/>
              </a:rPr>
              <a:t>NaN</a:t>
            </a:r>
            <a:r>
              <a:rPr lang="nb-NO" dirty="0">
                <a:solidFill>
                  <a:schemeClr val="bg1">
                    <a:lumMod val="50000"/>
                  </a:schemeClr>
                </a:solidFill>
                <a:latin typeface="Courier"/>
              </a:rPr>
              <a:t>       </a:t>
            </a:r>
            <a:r>
              <a:rPr lang="nb-NO" dirty="0" err="1">
                <a:solidFill>
                  <a:schemeClr val="bg1">
                    <a:lumMod val="50000"/>
                  </a:schemeClr>
                </a:solidFill>
                <a:latin typeface="Courier"/>
              </a:rPr>
              <a:t>NaN</a:t>
            </a:r>
            <a:r>
              <a:rPr lang="nb-NO" dirty="0">
                <a:solidFill>
                  <a:schemeClr val="bg1">
                    <a:lumMod val="50000"/>
                  </a:schemeClr>
                </a:solidFill>
                <a:latin typeface="Courier"/>
              </a:rPr>
              <a:t>          </a:t>
            </a:r>
            <a:r>
              <a:rPr lang="nb-NO" dirty="0" err="1">
                <a:solidFill>
                  <a:schemeClr val="bg1">
                    <a:lumMod val="50000"/>
                  </a:schemeClr>
                </a:solidFill>
                <a:latin typeface="Courier"/>
              </a:rPr>
              <a:t>NaN</a:t>
            </a:r>
            <a:r>
              <a:rPr lang="nb-NO" dirty="0">
                <a:solidFill>
                  <a:schemeClr val="bg1">
                    <a:lumMod val="50000"/>
                  </a:schemeClr>
                </a:solidFill>
                <a:latin typeface="Courier"/>
              </a:rPr>
              <a:t>       </a:t>
            </a:r>
            <a:r>
              <a:rPr lang="nb-NO" dirty="0" err="1">
                <a:solidFill>
                  <a:schemeClr val="bg1">
                    <a:lumMod val="50000"/>
                  </a:schemeClr>
                </a:solidFill>
                <a:latin typeface="Courier"/>
              </a:rPr>
              <a:t>NaN</a:t>
            </a:r>
            <a:r>
              <a:rPr lang="nb-NO" dirty="0">
                <a:solidFill>
                  <a:schemeClr val="bg1">
                    <a:lumMod val="50000"/>
                  </a:schemeClr>
                </a:solidFill>
                <a:latin typeface="Courier"/>
              </a:rPr>
              <a:t>       </a:t>
            </a:r>
            <a:r>
              <a:rPr lang="nb-NO" dirty="0" err="1">
                <a:solidFill>
                  <a:schemeClr val="bg1">
                    <a:lumMod val="50000"/>
                  </a:schemeClr>
                </a:solidFill>
                <a:latin typeface="Courier"/>
              </a:rPr>
              <a:t>NaN</a:t>
            </a:r>
            <a:r>
              <a:rPr lang="nb-NO" dirty="0">
                <a:solidFill>
                  <a:schemeClr val="bg1">
                    <a:lumMod val="50000"/>
                  </a:schemeClr>
                </a:solidFill>
                <a:latin typeface="Courier"/>
              </a:rPr>
              <a:t>
 6.98235e6     </a:t>
            </a:r>
            <a:r>
              <a:rPr lang="nb-NO" dirty="0" err="1">
                <a:solidFill>
                  <a:schemeClr val="bg1">
                    <a:lumMod val="50000"/>
                  </a:schemeClr>
                </a:solidFill>
                <a:latin typeface="Courier"/>
              </a:rPr>
              <a:t>NaN</a:t>
            </a:r>
            <a:r>
              <a:rPr lang="nb-NO" dirty="0">
                <a:solidFill>
                  <a:schemeClr val="bg1">
                    <a:lumMod val="50000"/>
                  </a:schemeClr>
                </a:solidFill>
                <a:latin typeface="Courier"/>
              </a:rPr>
              <a:t>       </a:t>
            </a:r>
            <a:r>
              <a:rPr lang="nb-NO" dirty="0" err="1">
                <a:solidFill>
                  <a:schemeClr val="bg1">
                    <a:lumMod val="50000"/>
                  </a:schemeClr>
                </a:solidFill>
                <a:latin typeface="Courier"/>
              </a:rPr>
              <a:t>NaN</a:t>
            </a:r>
            <a:r>
              <a:rPr lang="nb-NO" dirty="0">
                <a:solidFill>
                  <a:schemeClr val="bg1">
                    <a:lumMod val="50000"/>
                  </a:schemeClr>
                </a:solidFill>
                <a:latin typeface="Courier"/>
              </a:rPr>
              <a:t>       </a:t>
            </a:r>
            <a:r>
              <a:rPr lang="nb-NO" dirty="0" err="1">
                <a:solidFill>
                  <a:schemeClr val="bg1">
                    <a:lumMod val="50000"/>
                  </a:schemeClr>
                </a:solidFill>
                <a:latin typeface="Courier"/>
              </a:rPr>
              <a:t>NaN</a:t>
            </a:r>
            <a:r>
              <a:rPr lang="nb-NO" dirty="0">
                <a:solidFill>
                  <a:schemeClr val="bg1">
                    <a:lumMod val="50000"/>
                  </a:schemeClr>
                </a:solidFill>
                <a:latin typeface="Courier"/>
              </a:rPr>
              <a:t>          </a:t>
            </a:r>
            <a:r>
              <a:rPr lang="nb-NO" dirty="0" err="1">
                <a:solidFill>
                  <a:schemeClr val="bg1">
                    <a:lumMod val="50000"/>
                  </a:schemeClr>
                </a:solidFill>
                <a:latin typeface="Courier"/>
              </a:rPr>
              <a:t>NaN</a:t>
            </a:r>
            <a:r>
              <a:rPr lang="nb-NO" dirty="0">
                <a:solidFill>
                  <a:schemeClr val="bg1">
                    <a:lumMod val="50000"/>
                  </a:schemeClr>
                </a:solidFill>
                <a:latin typeface="Courier"/>
              </a:rPr>
              <a:t>       </a:t>
            </a:r>
            <a:r>
              <a:rPr lang="nb-NO" dirty="0" err="1">
                <a:solidFill>
                  <a:schemeClr val="bg1">
                    <a:lumMod val="50000"/>
                  </a:schemeClr>
                </a:solidFill>
                <a:latin typeface="Courier"/>
              </a:rPr>
              <a:t>NaN</a:t>
            </a:r>
            <a:r>
              <a:rPr lang="nb-NO" dirty="0">
                <a:solidFill>
                  <a:schemeClr val="bg1">
                    <a:lumMod val="50000"/>
                  </a:schemeClr>
                </a:solidFill>
                <a:latin typeface="Courier"/>
              </a:rPr>
              <a:t>       </a:t>
            </a:r>
            <a:r>
              <a:rPr lang="nb-NO" dirty="0" err="1">
                <a:solidFill>
                  <a:schemeClr val="bg1">
                    <a:lumMod val="50000"/>
                  </a:schemeClr>
                </a:solidFill>
                <a:latin typeface="Courier"/>
              </a:rPr>
              <a:t>NaN</a:t>
            </a:r>
            <a:r>
              <a:rPr lang="nb-NO" dirty="0">
                <a:solidFill>
                  <a:schemeClr val="bg1">
                    <a:lumMod val="50000"/>
                  </a:schemeClr>
                </a:solidFill>
                <a:latin typeface="Courier"/>
              </a:rPr>
              <a:t>
 6.98215e6     </a:t>
            </a:r>
            <a:r>
              <a:rPr lang="nb-NO" dirty="0" err="1">
                <a:solidFill>
                  <a:schemeClr val="bg1">
                    <a:lumMod val="50000"/>
                  </a:schemeClr>
                </a:solidFill>
                <a:latin typeface="Courier"/>
              </a:rPr>
              <a:t>NaN</a:t>
            </a:r>
            <a:r>
              <a:rPr lang="nb-NO" dirty="0">
                <a:solidFill>
                  <a:schemeClr val="bg1">
                    <a:lumMod val="50000"/>
                  </a:schemeClr>
                </a:solidFill>
                <a:latin typeface="Courier"/>
              </a:rPr>
              <a:t>       </a:t>
            </a:r>
            <a:r>
              <a:rPr lang="nb-NO" dirty="0" err="1">
                <a:solidFill>
                  <a:schemeClr val="bg1">
                    <a:lumMod val="50000"/>
                  </a:schemeClr>
                </a:solidFill>
                <a:latin typeface="Courier"/>
              </a:rPr>
              <a:t>NaN</a:t>
            </a:r>
            <a:r>
              <a:rPr lang="nb-NO" dirty="0">
                <a:solidFill>
                  <a:schemeClr val="bg1">
                    <a:lumMod val="50000"/>
                  </a:schemeClr>
                </a:solidFill>
                <a:latin typeface="Courier"/>
              </a:rPr>
              <a:t>       </a:t>
            </a:r>
            <a:r>
              <a:rPr lang="nb-NO" dirty="0" err="1">
                <a:solidFill>
                  <a:schemeClr val="bg1">
                    <a:lumMod val="50000"/>
                  </a:schemeClr>
                </a:solidFill>
                <a:latin typeface="Courier"/>
              </a:rPr>
              <a:t>NaN</a:t>
            </a:r>
            <a:r>
              <a:rPr lang="nb-NO" dirty="0">
                <a:solidFill>
                  <a:schemeClr val="bg1">
                    <a:lumMod val="50000"/>
                  </a:schemeClr>
                </a:solidFill>
                <a:latin typeface="Courier"/>
              </a:rPr>
              <a:t>          </a:t>
            </a:r>
            <a:r>
              <a:rPr lang="nb-NO" dirty="0" err="1">
                <a:solidFill>
                  <a:schemeClr val="bg1">
                    <a:lumMod val="50000"/>
                  </a:schemeClr>
                </a:solidFill>
                <a:latin typeface="Courier"/>
              </a:rPr>
              <a:t>NaN</a:t>
            </a:r>
            <a:r>
              <a:rPr lang="nb-NO" dirty="0">
                <a:solidFill>
                  <a:schemeClr val="bg1">
                    <a:lumMod val="50000"/>
                  </a:schemeClr>
                </a:solidFill>
                <a:latin typeface="Courier"/>
              </a:rPr>
              <a:t>       </a:t>
            </a:r>
            <a:r>
              <a:rPr lang="nb-NO" dirty="0" err="1">
                <a:solidFill>
                  <a:schemeClr val="bg1">
                    <a:lumMod val="50000"/>
                  </a:schemeClr>
                </a:solidFill>
                <a:latin typeface="Courier"/>
              </a:rPr>
              <a:t>NaN</a:t>
            </a:r>
            <a:r>
              <a:rPr lang="nb-NO" dirty="0">
                <a:solidFill>
                  <a:schemeClr val="bg1">
                    <a:lumMod val="50000"/>
                  </a:schemeClr>
                </a:solidFill>
                <a:latin typeface="Courier"/>
              </a:rPr>
              <a:t>       </a:t>
            </a:r>
            <a:r>
              <a:rPr lang="nb-NO" dirty="0" err="1">
                <a:solidFill>
                  <a:schemeClr val="bg1">
                    <a:lumMod val="50000"/>
                  </a:schemeClr>
                </a:solidFill>
                <a:latin typeface="Courier"/>
              </a:rPr>
              <a:t>NaN</a:t>
            </a:r>
            <a:r>
              <a:rPr lang="nb-NO" dirty="0">
                <a:solidFill>
                  <a:schemeClr val="bg1">
                    <a:lumMod val="50000"/>
                  </a:schemeClr>
                </a:solidFill>
                <a:latin typeface="Courier"/>
              </a:rPr>
              <a:t>
 6.98195e6     </a:t>
            </a:r>
            <a:r>
              <a:rPr lang="nb-NO" dirty="0" err="1">
                <a:solidFill>
                  <a:schemeClr val="bg1">
                    <a:lumMod val="50000"/>
                  </a:schemeClr>
                </a:solidFill>
                <a:latin typeface="Courier"/>
              </a:rPr>
              <a:t>NaN</a:t>
            </a:r>
            <a:r>
              <a:rPr lang="nb-NO" dirty="0">
                <a:solidFill>
                  <a:schemeClr val="bg1">
                    <a:lumMod val="50000"/>
                  </a:schemeClr>
                </a:solidFill>
                <a:latin typeface="Courier"/>
              </a:rPr>
              <a:t>       </a:t>
            </a:r>
            <a:r>
              <a:rPr lang="nb-NO" dirty="0" err="1">
                <a:solidFill>
                  <a:schemeClr val="bg1">
                    <a:lumMod val="50000"/>
                  </a:schemeClr>
                </a:solidFill>
                <a:latin typeface="Courier"/>
              </a:rPr>
              <a:t>NaN</a:t>
            </a:r>
            <a:r>
              <a:rPr lang="nb-NO" dirty="0">
                <a:solidFill>
                  <a:schemeClr val="bg1">
                    <a:lumMod val="50000"/>
                  </a:schemeClr>
                </a:solidFill>
                <a:latin typeface="Courier"/>
              </a:rPr>
              <a:t>       </a:t>
            </a:r>
            <a:r>
              <a:rPr lang="nb-NO" dirty="0" err="1">
                <a:solidFill>
                  <a:schemeClr val="bg1">
                    <a:lumMod val="50000"/>
                  </a:schemeClr>
                </a:solidFill>
                <a:latin typeface="Courier"/>
              </a:rPr>
              <a:t>NaN</a:t>
            </a:r>
            <a:r>
              <a:rPr lang="nb-NO" dirty="0">
                <a:solidFill>
                  <a:schemeClr val="bg1">
                    <a:lumMod val="50000"/>
                  </a:schemeClr>
                </a:solidFill>
                <a:latin typeface="Courier"/>
              </a:rPr>
              <a:t>          </a:t>
            </a:r>
            <a:r>
              <a:rPr lang="nb-NO" dirty="0" err="1">
                <a:solidFill>
                  <a:schemeClr val="bg1">
                    <a:lumMod val="50000"/>
                  </a:schemeClr>
                </a:solidFill>
                <a:latin typeface="Courier"/>
              </a:rPr>
              <a:t>NaN</a:t>
            </a:r>
            <a:r>
              <a:rPr lang="nb-NO" dirty="0">
                <a:solidFill>
                  <a:schemeClr val="bg1">
                    <a:lumMod val="50000"/>
                  </a:schemeClr>
                </a:solidFill>
                <a:latin typeface="Courier"/>
              </a:rPr>
              <a:t>       </a:t>
            </a:r>
            <a:r>
              <a:rPr lang="nb-NO" dirty="0" err="1">
                <a:solidFill>
                  <a:schemeClr val="bg1">
                    <a:lumMod val="50000"/>
                  </a:schemeClr>
                </a:solidFill>
                <a:latin typeface="Courier"/>
              </a:rPr>
              <a:t>NaN</a:t>
            </a:r>
            <a:r>
              <a:rPr lang="nb-NO" dirty="0">
                <a:solidFill>
                  <a:schemeClr val="bg1">
                    <a:lumMod val="50000"/>
                  </a:schemeClr>
                </a:solidFill>
                <a:latin typeface="Courier"/>
              </a:rPr>
              <a:t>       </a:t>
            </a:r>
            <a:r>
              <a:rPr lang="nb-NO" dirty="0" err="1">
                <a:solidFill>
                  <a:schemeClr val="bg1">
                    <a:lumMod val="50000"/>
                  </a:schemeClr>
                </a:solidFill>
                <a:latin typeface="Courier"/>
              </a:rPr>
              <a:t>NaN</a:t>
            </a:r>
            <a:r>
              <a:rPr lang="nb-NO" dirty="0">
                <a:solidFill>
                  <a:schemeClr val="bg1">
                    <a:lumMod val="50000"/>
                  </a:schemeClr>
                </a:solidFill>
                <a:latin typeface="Courier"/>
              </a:rPr>
              <a:t>
 6.98175e6     </a:t>
            </a:r>
            <a:r>
              <a:rPr lang="nb-NO" dirty="0" err="1">
                <a:solidFill>
                  <a:schemeClr val="bg1">
                    <a:lumMod val="50000"/>
                  </a:schemeClr>
                </a:solidFill>
                <a:latin typeface="Courier"/>
              </a:rPr>
              <a:t>NaN</a:t>
            </a:r>
            <a:r>
              <a:rPr lang="nb-NO" dirty="0">
                <a:solidFill>
                  <a:schemeClr val="bg1">
                    <a:lumMod val="50000"/>
                  </a:schemeClr>
                </a:solidFill>
                <a:latin typeface="Courier"/>
              </a:rPr>
              <a:t>       </a:t>
            </a:r>
            <a:r>
              <a:rPr lang="nb-NO" dirty="0" err="1">
                <a:solidFill>
                  <a:schemeClr val="bg1">
                    <a:lumMod val="50000"/>
                  </a:schemeClr>
                </a:solidFill>
                <a:latin typeface="Courier"/>
              </a:rPr>
              <a:t>NaN</a:t>
            </a:r>
            <a:r>
              <a:rPr lang="nb-NO" dirty="0">
                <a:solidFill>
                  <a:schemeClr val="bg1">
                    <a:lumMod val="50000"/>
                  </a:schemeClr>
                </a:solidFill>
                <a:latin typeface="Courier"/>
              </a:rPr>
              <a:t>       </a:t>
            </a:r>
            <a:r>
              <a:rPr lang="nb-NO" dirty="0" err="1">
                <a:solidFill>
                  <a:schemeClr val="bg1">
                    <a:lumMod val="50000"/>
                  </a:schemeClr>
                </a:solidFill>
                <a:latin typeface="Courier"/>
              </a:rPr>
              <a:t>NaN</a:t>
            </a:r>
            <a:r>
              <a:rPr lang="nb-NO" dirty="0">
                <a:solidFill>
                  <a:schemeClr val="bg1">
                    <a:lumMod val="50000"/>
                  </a:schemeClr>
                </a:solidFill>
                <a:latin typeface="Courier"/>
              </a:rPr>
              <a:t>    …     </a:t>
            </a:r>
            <a:r>
              <a:rPr lang="nb-NO" dirty="0" err="1">
                <a:solidFill>
                  <a:schemeClr val="bg1">
                    <a:lumMod val="50000"/>
                  </a:schemeClr>
                </a:solidFill>
                <a:latin typeface="Courier"/>
              </a:rPr>
              <a:t>NaN</a:t>
            </a:r>
            <a:r>
              <a:rPr lang="nb-NO" dirty="0">
                <a:solidFill>
                  <a:schemeClr val="bg1">
                    <a:lumMod val="50000"/>
                  </a:schemeClr>
                </a:solidFill>
                <a:latin typeface="Courier"/>
              </a:rPr>
              <a:t>       </a:t>
            </a:r>
            <a:r>
              <a:rPr lang="nb-NO" dirty="0" err="1">
                <a:solidFill>
                  <a:schemeClr val="bg1">
                    <a:lumMod val="50000"/>
                  </a:schemeClr>
                </a:solidFill>
                <a:latin typeface="Courier"/>
              </a:rPr>
              <a:t>NaN</a:t>
            </a:r>
            <a:r>
              <a:rPr lang="nb-NO" dirty="0">
                <a:solidFill>
                  <a:schemeClr val="bg1">
                    <a:lumMod val="50000"/>
                  </a:schemeClr>
                </a:solidFill>
                <a:latin typeface="Courier"/>
              </a:rPr>
              <a:t>       </a:t>
            </a:r>
            <a:r>
              <a:rPr lang="nb-NO" dirty="0" err="1">
                <a:solidFill>
                  <a:schemeClr val="bg1">
                    <a:lumMod val="50000"/>
                  </a:schemeClr>
                </a:solidFill>
                <a:latin typeface="Courier"/>
              </a:rPr>
              <a:t>NaN</a:t>
            </a:r>
            <a:r>
              <a:rPr lang="nb-NO" dirty="0">
                <a:solidFill>
                  <a:schemeClr val="bg1">
                    <a:lumMod val="50000"/>
                  </a:schemeClr>
                </a:solidFill>
                <a:latin typeface="Courier"/>
              </a:rPr>
              <a:t>
 6.98155e6     </a:t>
            </a:r>
            <a:r>
              <a:rPr lang="nb-NO" dirty="0" err="1">
                <a:solidFill>
                  <a:schemeClr val="bg1">
                    <a:lumMod val="50000"/>
                  </a:schemeClr>
                </a:solidFill>
                <a:latin typeface="Courier"/>
              </a:rPr>
              <a:t>NaN</a:t>
            </a:r>
            <a:r>
              <a:rPr lang="nb-NO" dirty="0">
                <a:solidFill>
                  <a:schemeClr val="bg1">
                    <a:lumMod val="50000"/>
                  </a:schemeClr>
                </a:solidFill>
                <a:latin typeface="Courier"/>
              </a:rPr>
              <a:t>       </a:t>
            </a:r>
            <a:r>
              <a:rPr lang="nb-NO" dirty="0" err="1">
                <a:solidFill>
                  <a:schemeClr val="bg1">
                    <a:lumMod val="50000"/>
                  </a:schemeClr>
                </a:solidFill>
                <a:latin typeface="Courier"/>
              </a:rPr>
              <a:t>NaN</a:t>
            </a:r>
            <a:r>
              <a:rPr lang="nb-NO" dirty="0">
                <a:solidFill>
                  <a:schemeClr val="bg1">
                    <a:lumMod val="50000"/>
                  </a:schemeClr>
                </a:solidFill>
                <a:latin typeface="Courier"/>
              </a:rPr>
              <a:t>       </a:t>
            </a:r>
            <a:r>
              <a:rPr lang="nb-NO" dirty="0" err="1">
                <a:solidFill>
                  <a:schemeClr val="bg1">
                    <a:lumMod val="50000"/>
                  </a:schemeClr>
                </a:solidFill>
                <a:latin typeface="Courier"/>
              </a:rPr>
              <a:t>NaN</a:t>
            </a:r>
            <a:r>
              <a:rPr lang="nb-NO" dirty="0">
                <a:solidFill>
                  <a:schemeClr val="bg1">
                    <a:lumMod val="50000"/>
                  </a:schemeClr>
                </a:solidFill>
                <a:latin typeface="Courier"/>
              </a:rPr>
              <a:t>          </a:t>
            </a:r>
            <a:r>
              <a:rPr lang="nb-NO" dirty="0" err="1">
                <a:solidFill>
                  <a:schemeClr val="bg1">
                    <a:lumMod val="50000"/>
                  </a:schemeClr>
                </a:solidFill>
                <a:latin typeface="Courier"/>
              </a:rPr>
              <a:t>NaN</a:t>
            </a:r>
            <a:r>
              <a:rPr lang="nb-NO" dirty="0">
                <a:solidFill>
                  <a:schemeClr val="bg1">
                    <a:lumMod val="50000"/>
                  </a:schemeClr>
                </a:solidFill>
                <a:latin typeface="Courier"/>
              </a:rPr>
              <a:t>       </a:t>
            </a:r>
            <a:r>
              <a:rPr lang="nb-NO" dirty="0" err="1">
                <a:solidFill>
                  <a:schemeClr val="bg1">
                    <a:lumMod val="50000"/>
                  </a:schemeClr>
                </a:solidFill>
                <a:latin typeface="Courier"/>
              </a:rPr>
              <a:t>NaN</a:t>
            </a:r>
            <a:r>
              <a:rPr lang="nb-NO" dirty="0">
                <a:solidFill>
                  <a:schemeClr val="bg1">
                    <a:lumMod val="50000"/>
                  </a:schemeClr>
                </a:solidFill>
                <a:latin typeface="Courier"/>
              </a:rPr>
              <a:t>       </a:t>
            </a:r>
            <a:r>
              <a:rPr lang="nb-NO" dirty="0" err="1">
                <a:solidFill>
                  <a:schemeClr val="bg1">
                    <a:lumMod val="50000"/>
                  </a:schemeClr>
                </a:solidFill>
                <a:latin typeface="Courier"/>
              </a:rPr>
              <a:t>NaN</a:t>
            </a:r>
            <a:r>
              <a:rPr lang="nb-NO" dirty="0">
                <a:solidFill>
                  <a:schemeClr val="bg1">
                    <a:lumMod val="50000"/>
                  </a:schemeClr>
                </a:solidFill>
                <a:latin typeface="Courier"/>
              </a:rPr>
              <a:t>
 6.98135e6     </a:t>
            </a:r>
            <a:r>
              <a:rPr lang="nb-NO" dirty="0" err="1">
                <a:solidFill>
                  <a:schemeClr val="bg1">
                    <a:lumMod val="50000"/>
                  </a:schemeClr>
                </a:solidFill>
                <a:latin typeface="Courier"/>
              </a:rPr>
              <a:t>NaN</a:t>
            </a:r>
            <a:r>
              <a:rPr lang="nb-NO" dirty="0">
                <a:solidFill>
                  <a:schemeClr val="bg1">
                    <a:lumMod val="50000"/>
                  </a:schemeClr>
                </a:solidFill>
                <a:latin typeface="Courier"/>
              </a:rPr>
              <a:t>       </a:t>
            </a:r>
            <a:r>
              <a:rPr lang="nb-NO" dirty="0" err="1">
                <a:solidFill>
                  <a:schemeClr val="bg1">
                    <a:lumMod val="50000"/>
                  </a:schemeClr>
                </a:solidFill>
                <a:latin typeface="Courier"/>
              </a:rPr>
              <a:t>NaN</a:t>
            </a:r>
            <a:r>
              <a:rPr lang="nb-NO" dirty="0">
                <a:solidFill>
                  <a:schemeClr val="bg1">
                    <a:lumMod val="50000"/>
                  </a:schemeClr>
                </a:solidFill>
                <a:latin typeface="Courier"/>
              </a:rPr>
              <a:t>       </a:t>
            </a:r>
            <a:r>
              <a:rPr lang="nb-NO" dirty="0" err="1">
                <a:solidFill>
                  <a:schemeClr val="bg1">
                    <a:lumMod val="50000"/>
                  </a:schemeClr>
                </a:solidFill>
                <a:latin typeface="Courier"/>
              </a:rPr>
              <a:t>NaN</a:t>
            </a:r>
            <a:r>
              <a:rPr lang="nb-NO" dirty="0">
                <a:solidFill>
                  <a:schemeClr val="bg1">
                    <a:lumMod val="50000"/>
                  </a:schemeClr>
                </a:solidFill>
                <a:latin typeface="Courier"/>
              </a:rPr>
              <a:t>          </a:t>
            </a:r>
            <a:r>
              <a:rPr lang="nb-NO" dirty="0" err="1">
                <a:solidFill>
                  <a:schemeClr val="bg1">
                    <a:lumMod val="50000"/>
                  </a:schemeClr>
                </a:solidFill>
                <a:latin typeface="Courier"/>
              </a:rPr>
              <a:t>NaN</a:t>
            </a:r>
            <a:r>
              <a:rPr lang="nb-NO" dirty="0">
                <a:solidFill>
                  <a:schemeClr val="bg1">
                    <a:lumMod val="50000"/>
                  </a:schemeClr>
                </a:solidFill>
                <a:latin typeface="Courier"/>
              </a:rPr>
              <a:t>       </a:t>
            </a:r>
            <a:r>
              <a:rPr lang="nb-NO" dirty="0" err="1">
                <a:solidFill>
                  <a:schemeClr val="bg1">
                    <a:lumMod val="50000"/>
                  </a:schemeClr>
                </a:solidFill>
                <a:latin typeface="Courier"/>
              </a:rPr>
              <a:t>NaN</a:t>
            </a:r>
            <a:r>
              <a:rPr lang="nb-NO" dirty="0">
                <a:solidFill>
                  <a:schemeClr val="bg1">
                    <a:lumMod val="50000"/>
                  </a:schemeClr>
                </a:solidFill>
                <a:latin typeface="Courier"/>
              </a:rPr>
              <a:t>       </a:t>
            </a:r>
            <a:r>
              <a:rPr lang="nb-NO" dirty="0" err="1">
                <a:solidFill>
                  <a:schemeClr val="bg1">
                    <a:lumMod val="50000"/>
                  </a:schemeClr>
                </a:solidFill>
                <a:latin typeface="Courier"/>
              </a:rPr>
              <a:t>NaN</a:t>
            </a:r>
            <a:r>
              <a:rPr lang="nb-NO" dirty="0">
                <a:solidFill>
                  <a:schemeClr val="bg1">
                    <a:lumMod val="50000"/>
                  </a:schemeClr>
                </a:solidFill>
                <a:latin typeface="Courier"/>
              </a:rPr>
              <a:t>
 ⋮                                        ⋱                 ⋮    
 6.89735e6     </a:t>
            </a:r>
            <a:r>
              <a:rPr lang="nb-NO" dirty="0" err="1">
                <a:solidFill>
                  <a:schemeClr val="bg1">
                    <a:lumMod val="50000"/>
                  </a:schemeClr>
                </a:solidFill>
                <a:latin typeface="Courier"/>
              </a:rPr>
              <a:t>NaN</a:t>
            </a:r>
            <a:r>
              <a:rPr lang="nb-NO" dirty="0">
                <a:solidFill>
                  <a:schemeClr val="bg1">
                    <a:lumMod val="50000"/>
                  </a:schemeClr>
                </a:solidFill>
                <a:latin typeface="Courier"/>
              </a:rPr>
              <a:t>       </a:t>
            </a:r>
            <a:r>
              <a:rPr lang="nb-NO" dirty="0" err="1">
                <a:solidFill>
                  <a:schemeClr val="bg1">
                    <a:lumMod val="50000"/>
                  </a:schemeClr>
                </a:solidFill>
                <a:latin typeface="Courier"/>
              </a:rPr>
              <a:t>NaN</a:t>
            </a:r>
            <a:r>
              <a:rPr lang="nb-NO" dirty="0">
                <a:solidFill>
                  <a:schemeClr val="bg1">
                    <a:lumMod val="50000"/>
                  </a:schemeClr>
                </a:solidFill>
                <a:latin typeface="Courier"/>
              </a:rPr>
              <a:t>       </a:t>
            </a:r>
            <a:r>
              <a:rPr lang="nb-NO" dirty="0" err="1">
                <a:solidFill>
                  <a:schemeClr val="bg1">
                    <a:lumMod val="50000"/>
                  </a:schemeClr>
                </a:solidFill>
                <a:latin typeface="Courier"/>
              </a:rPr>
              <a:t>NaN</a:t>
            </a:r>
            <a:r>
              <a:rPr lang="nb-NO" dirty="0">
                <a:solidFill>
                  <a:schemeClr val="bg1">
                    <a:lumMod val="50000"/>
                  </a:schemeClr>
                </a:solidFill>
                <a:latin typeface="Courier"/>
              </a:rPr>
              <a:t>          </a:t>
            </a:r>
            <a:r>
              <a:rPr lang="nb-NO" dirty="0" err="1">
                <a:solidFill>
                  <a:schemeClr val="bg1">
                    <a:lumMod val="50000"/>
                  </a:schemeClr>
                </a:solidFill>
                <a:latin typeface="Courier"/>
              </a:rPr>
              <a:t>NaN</a:t>
            </a:r>
            <a:r>
              <a:rPr lang="nb-NO" dirty="0">
                <a:solidFill>
                  <a:schemeClr val="bg1">
                    <a:lumMod val="50000"/>
                  </a:schemeClr>
                </a:solidFill>
                <a:latin typeface="Courier"/>
              </a:rPr>
              <a:t>       </a:t>
            </a:r>
            <a:r>
              <a:rPr lang="nb-NO" dirty="0" err="1">
                <a:solidFill>
                  <a:schemeClr val="bg1">
                    <a:lumMod val="50000"/>
                  </a:schemeClr>
                </a:solidFill>
                <a:latin typeface="Courier"/>
              </a:rPr>
              <a:t>NaN</a:t>
            </a:r>
            <a:r>
              <a:rPr lang="nb-NO" dirty="0">
                <a:solidFill>
                  <a:schemeClr val="bg1">
                    <a:lumMod val="50000"/>
                  </a:schemeClr>
                </a:solidFill>
                <a:latin typeface="Courier"/>
              </a:rPr>
              <a:t>       </a:t>
            </a:r>
            <a:r>
              <a:rPr lang="nb-NO" dirty="0" err="1">
                <a:solidFill>
                  <a:schemeClr val="bg1">
                    <a:lumMod val="50000"/>
                  </a:schemeClr>
                </a:solidFill>
                <a:latin typeface="Courier"/>
              </a:rPr>
              <a:t>NaN</a:t>
            </a:r>
            <a:r>
              <a:rPr lang="nb-NO" dirty="0">
                <a:solidFill>
                  <a:schemeClr val="bg1">
                    <a:lumMod val="50000"/>
                  </a:schemeClr>
                </a:solidFill>
                <a:latin typeface="Courier"/>
              </a:rPr>
              <a:t>
 6.89715e6     </a:t>
            </a:r>
            <a:r>
              <a:rPr lang="nb-NO" dirty="0" err="1">
                <a:solidFill>
                  <a:schemeClr val="bg1">
                    <a:lumMod val="50000"/>
                  </a:schemeClr>
                </a:solidFill>
                <a:latin typeface="Courier"/>
              </a:rPr>
              <a:t>NaN</a:t>
            </a:r>
            <a:r>
              <a:rPr lang="nb-NO" dirty="0">
                <a:solidFill>
                  <a:schemeClr val="bg1">
                    <a:lumMod val="50000"/>
                  </a:schemeClr>
                </a:solidFill>
                <a:latin typeface="Courier"/>
              </a:rPr>
              <a:t>       </a:t>
            </a:r>
            <a:r>
              <a:rPr lang="nb-NO" dirty="0" err="1">
                <a:solidFill>
                  <a:schemeClr val="bg1">
                    <a:lumMod val="50000"/>
                  </a:schemeClr>
                </a:solidFill>
                <a:latin typeface="Courier"/>
              </a:rPr>
              <a:t>NaN</a:t>
            </a:r>
            <a:r>
              <a:rPr lang="nb-NO" dirty="0">
                <a:solidFill>
                  <a:schemeClr val="bg1">
                    <a:lumMod val="50000"/>
                  </a:schemeClr>
                </a:solidFill>
                <a:latin typeface="Courier"/>
              </a:rPr>
              <a:t>       </a:t>
            </a:r>
            <a:r>
              <a:rPr lang="nb-NO" dirty="0" err="1">
                <a:solidFill>
                  <a:schemeClr val="bg1">
                    <a:lumMod val="50000"/>
                  </a:schemeClr>
                </a:solidFill>
                <a:latin typeface="Courier"/>
              </a:rPr>
              <a:t>NaN</a:t>
            </a:r>
            <a:r>
              <a:rPr lang="nb-NO" dirty="0">
                <a:solidFill>
                  <a:schemeClr val="bg1">
                    <a:lumMod val="50000"/>
                  </a:schemeClr>
                </a:solidFill>
                <a:latin typeface="Courier"/>
              </a:rPr>
              <a:t>          </a:t>
            </a:r>
            <a:r>
              <a:rPr lang="nb-NO" dirty="0" err="1">
                <a:solidFill>
                  <a:schemeClr val="bg1">
                    <a:lumMod val="50000"/>
                  </a:schemeClr>
                </a:solidFill>
                <a:latin typeface="Courier"/>
              </a:rPr>
              <a:t>NaN</a:t>
            </a:r>
            <a:r>
              <a:rPr lang="nb-NO" dirty="0">
                <a:solidFill>
                  <a:schemeClr val="bg1">
                    <a:lumMod val="50000"/>
                  </a:schemeClr>
                </a:solidFill>
                <a:latin typeface="Courier"/>
              </a:rPr>
              <a:t>       </a:t>
            </a:r>
            <a:r>
              <a:rPr lang="nb-NO" dirty="0" err="1">
                <a:solidFill>
                  <a:schemeClr val="bg1">
                    <a:lumMod val="50000"/>
                  </a:schemeClr>
                </a:solidFill>
                <a:latin typeface="Courier"/>
              </a:rPr>
              <a:t>NaN</a:t>
            </a:r>
            <a:r>
              <a:rPr lang="nb-NO" dirty="0">
                <a:solidFill>
                  <a:schemeClr val="bg1">
                    <a:lumMod val="50000"/>
                  </a:schemeClr>
                </a:solidFill>
                <a:latin typeface="Courier"/>
              </a:rPr>
              <a:t>       </a:t>
            </a:r>
            <a:r>
              <a:rPr lang="nb-NO" dirty="0" err="1">
                <a:solidFill>
                  <a:schemeClr val="bg1">
                    <a:lumMod val="50000"/>
                  </a:schemeClr>
                </a:solidFill>
                <a:latin typeface="Courier"/>
              </a:rPr>
              <a:t>NaN</a:t>
            </a:r>
            <a:r>
              <a:rPr lang="nb-NO" dirty="0">
                <a:solidFill>
                  <a:schemeClr val="bg1">
                    <a:lumMod val="50000"/>
                  </a:schemeClr>
                </a:solidFill>
                <a:latin typeface="Courier"/>
              </a:rPr>
              <a:t>
 6.89695e6     </a:t>
            </a:r>
            <a:r>
              <a:rPr lang="nb-NO" dirty="0" err="1">
                <a:solidFill>
                  <a:schemeClr val="bg1">
                    <a:lumMod val="50000"/>
                  </a:schemeClr>
                </a:solidFill>
                <a:latin typeface="Courier"/>
              </a:rPr>
              <a:t>NaN</a:t>
            </a:r>
            <a:r>
              <a:rPr lang="nb-NO" dirty="0">
                <a:solidFill>
                  <a:schemeClr val="bg1">
                    <a:lumMod val="50000"/>
                  </a:schemeClr>
                </a:solidFill>
                <a:latin typeface="Courier"/>
              </a:rPr>
              <a:t>       </a:t>
            </a:r>
            <a:r>
              <a:rPr lang="nb-NO" dirty="0" err="1">
                <a:solidFill>
                  <a:schemeClr val="bg1">
                    <a:lumMod val="50000"/>
                  </a:schemeClr>
                </a:solidFill>
                <a:latin typeface="Courier"/>
              </a:rPr>
              <a:t>NaN</a:t>
            </a:r>
            <a:r>
              <a:rPr lang="nb-NO" dirty="0">
                <a:solidFill>
                  <a:schemeClr val="bg1">
                    <a:lumMod val="50000"/>
                  </a:schemeClr>
                </a:solidFill>
                <a:latin typeface="Courier"/>
              </a:rPr>
              <a:t>       </a:t>
            </a:r>
            <a:r>
              <a:rPr lang="nb-NO" dirty="0" err="1">
                <a:solidFill>
                  <a:schemeClr val="bg1">
                    <a:lumMod val="50000"/>
                  </a:schemeClr>
                </a:solidFill>
                <a:latin typeface="Courier"/>
              </a:rPr>
              <a:t>NaN</a:t>
            </a:r>
            <a:r>
              <a:rPr lang="nb-NO" dirty="0">
                <a:solidFill>
                  <a:schemeClr val="bg1">
                    <a:lumMod val="50000"/>
                  </a:schemeClr>
                </a:solidFill>
                <a:latin typeface="Courier"/>
              </a:rPr>
              <a:t>          </a:t>
            </a:r>
            <a:r>
              <a:rPr lang="nb-NO" dirty="0" err="1">
                <a:solidFill>
                  <a:schemeClr val="bg1">
                    <a:lumMod val="50000"/>
                  </a:schemeClr>
                </a:solidFill>
                <a:latin typeface="Courier"/>
              </a:rPr>
              <a:t>NaN</a:t>
            </a:r>
            <a:r>
              <a:rPr lang="nb-NO" dirty="0">
                <a:solidFill>
                  <a:schemeClr val="bg1">
                    <a:lumMod val="50000"/>
                  </a:schemeClr>
                </a:solidFill>
                <a:latin typeface="Courier"/>
              </a:rPr>
              <a:t>       </a:t>
            </a:r>
            <a:r>
              <a:rPr lang="nb-NO" dirty="0" err="1">
                <a:solidFill>
                  <a:schemeClr val="bg1">
                    <a:lumMod val="50000"/>
                  </a:schemeClr>
                </a:solidFill>
                <a:latin typeface="Courier"/>
              </a:rPr>
              <a:t>NaN</a:t>
            </a:r>
            <a:r>
              <a:rPr lang="nb-NO" dirty="0">
                <a:solidFill>
                  <a:schemeClr val="bg1">
                    <a:lumMod val="50000"/>
                  </a:schemeClr>
                </a:solidFill>
                <a:latin typeface="Courier"/>
              </a:rPr>
              <a:t>       </a:t>
            </a:r>
            <a:r>
              <a:rPr lang="nb-NO" dirty="0" err="1">
                <a:solidFill>
                  <a:schemeClr val="bg1">
                    <a:lumMod val="50000"/>
                  </a:schemeClr>
                </a:solidFill>
                <a:latin typeface="Courier"/>
              </a:rPr>
              <a:t>NaN</a:t>
            </a:r>
            <a:r>
              <a:rPr lang="nb-NO" dirty="0">
                <a:solidFill>
                  <a:schemeClr val="bg1">
                    <a:lumMod val="50000"/>
                  </a:schemeClr>
                </a:solidFill>
                <a:latin typeface="Courier"/>
              </a:rPr>
              <a:t>
 6.89675e6     </a:t>
            </a:r>
            <a:r>
              <a:rPr lang="nb-NO" dirty="0" err="1">
                <a:solidFill>
                  <a:schemeClr val="bg1">
                    <a:lumMod val="50000"/>
                  </a:schemeClr>
                </a:solidFill>
                <a:latin typeface="Courier"/>
              </a:rPr>
              <a:t>NaN</a:t>
            </a:r>
            <a:r>
              <a:rPr lang="nb-NO" dirty="0">
                <a:solidFill>
                  <a:schemeClr val="bg1">
                    <a:lumMod val="50000"/>
                  </a:schemeClr>
                </a:solidFill>
                <a:latin typeface="Courier"/>
              </a:rPr>
              <a:t>       </a:t>
            </a:r>
            <a:r>
              <a:rPr lang="nb-NO" dirty="0" err="1">
                <a:solidFill>
                  <a:schemeClr val="bg1">
                    <a:lumMod val="50000"/>
                  </a:schemeClr>
                </a:solidFill>
                <a:latin typeface="Courier"/>
              </a:rPr>
              <a:t>NaN</a:t>
            </a:r>
            <a:r>
              <a:rPr lang="nb-NO" dirty="0">
                <a:solidFill>
                  <a:schemeClr val="bg1">
                    <a:lumMod val="50000"/>
                  </a:schemeClr>
                </a:solidFill>
                <a:latin typeface="Courier"/>
              </a:rPr>
              <a:t>       </a:t>
            </a:r>
            <a:r>
              <a:rPr lang="nb-NO" dirty="0" err="1">
                <a:solidFill>
                  <a:schemeClr val="bg1">
                    <a:lumMod val="50000"/>
                  </a:schemeClr>
                </a:solidFill>
                <a:latin typeface="Courier"/>
              </a:rPr>
              <a:t>NaN</a:t>
            </a:r>
            <a:r>
              <a:rPr lang="nb-NO" dirty="0">
                <a:solidFill>
                  <a:schemeClr val="bg1">
                    <a:lumMod val="50000"/>
                  </a:schemeClr>
                </a:solidFill>
                <a:latin typeface="Courier"/>
              </a:rPr>
              <a:t>    …     </a:t>
            </a:r>
            <a:r>
              <a:rPr lang="nb-NO" dirty="0" err="1">
                <a:solidFill>
                  <a:schemeClr val="bg1">
                    <a:lumMod val="50000"/>
                  </a:schemeClr>
                </a:solidFill>
                <a:latin typeface="Courier"/>
              </a:rPr>
              <a:t>NaN</a:t>
            </a:r>
            <a:r>
              <a:rPr lang="nb-NO" dirty="0">
                <a:solidFill>
                  <a:schemeClr val="bg1">
                    <a:lumMod val="50000"/>
                  </a:schemeClr>
                </a:solidFill>
                <a:latin typeface="Courier"/>
              </a:rPr>
              <a:t>       </a:t>
            </a:r>
            <a:r>
              <a:rPr lang="nb-NO" dirty="0" err="1">
                <a:solidFill>
                  <a:schemeClr val="bg1">
                    <a:lumMod val="50000"/>
                  </a:schemeClr>
                </a:solidFill>
                <a:latin typeface="Courier"/>
              </a:rPr>
              <a:t>NaN</a:t>
            </a:r>
            <a:r>
              <a:rPr lang="nb-NO" dirty="0">
                <a:solidFill>
                  <a:schemeClr val="bg1">
                    <a:lumMod val="50000"/>
                  </a:schemeClr>
                </a:solidFill>
                <a:latin typeface="Courier"/>
              </a:rPr>
              <a:t>       </a:t>
            </a:r>
            <a:r>
              <a:rPr lang="nb-NO" dirty="0" err="1">
                <a:solidFill>
                  <a:schemeClr val="bg1">
                    <a:lumMod val="50000"/>
                  </a:schemeClr>
                </a:solidFill>
                <a:latin typeface="Courier"/>
              </a:rPr>
              <a:t>NaN</a:t>
            </a:r>
            <a:r>
              <a:rPr lang="nb-NO" dirty="0">
                <a:solidFill>
                  <a:schemeClr val="bg1">
                    <a:lumMod val="50000"/>
                  </a:schemeClr>
                </a:solidFill>
                <a:latin typeface="Courier"/>
              </a:rPr>
              <a:t>
 6.89655e6     </a:t>
            </a:r>
            <a:r>
              <a:rPr lang="nb-NO" dirty="0" err="1">
                <a:solidFill>
                  <a:schemeClr val="bg1">
                    <a:lumMod val="50000"/>
                  </a:schemeClr>
                </a:solidFill>
                <a:latin typeface="Courier"/>
              </a:rPr>
              <a:t>NaN</a:t>
            </a:r>
            <a:r>
              <a:rPr lang="nb-NO" dirty="0">
                <a:solidFill>
                  <a:schemeClr val="bg1">
                    <a:lumMod val="50000"/>
                  </a:schemeClr>
                </a:solidFill>
                <a:latin typeface="Courier"/>
              </a:rPr>
              <a:t>       </a:t>
            </a:r>
            <a:r>
              <a:rPr lang="nb-NO" dirty="0" err="1">
                <a:solidFill>
                  <a:schemeClr val="bg1">
                    <a:lumMod val="50000"/>
                  </a:schemeClr>
                </a:solidFill>
                <a:latin typeface="Courier"/>
              </a:rPr>
              <a:t>NaN</a:t>
            </a:r>
            <a:r>
              <a:rPr lang="nb-NO" dirty="0">
                <a:solidFill>
                  <a:schemeClr val="bg1">
                    <a:lumMod val="50000"/>
                  </a:schemeClr>
                </a:solidFill>
                <a:latin typeface="Courier"/>
              </a:rPr>
              <a:t>       </a:t>
            </a:r>
            <a:r>
              <a:rPr lang="nb-NO" dirty="0" err="1">
                <a:solidFill>
                  <a:schemeClr val="bg1">
                    <a:lumMod val="50000"/>
                  </a:schemeClr>
                </a:solidFill>
                <a:latin typeface="Courier"/>
              </a:rPr>
              <a:t>NaN</a:t>
            </a:r>
            <a:r>
              <a:rPr lang="nb-NO" dirty="0">
                <a:solidFill>
                  <a:schemeClr val="bg1">
                    <a:lumMod val="50000"/>
                  </a:schemeClr>
                </a:solidFill>
                <a:latin typeface="Courier"/>
              </a:rPr>
              <a:t>          </a:t>
            </a:r>
            <a:r>
              <a:rPr lang="nb-NO" dirty="0" err="1">
                <a:solidFill>
                  <a:schemeClr val="bg1">
                    <a:lumMod val="50000"/>
                  </a:schemeClr>
                </a:solidFill>
                <a:latin typeface="Courier"/>
              </a:rPr>
              <a:t>NaN</a:t>
            </a:r>
            <a:r>
              <a:rPr lang="nb-NO" dirty="0">
                <a:solidFill>
                  <a:schemeClr val="bg1">
                    <a:lumMod val="50000"/>
                  </a:schemeClr>
                </a:solidFill>
                <a:latin typeface="Courier"/>
              </a:rPr>
              <a:t>       </a:t>
            </a:r>
            <a:r>
              <a:rPr lang="nb-NO" dirty="0" err="1">
                <a:solidFill>
                  <a:schemeClr val="bg1">
                    <a:lumMod val="50000"/>
                  </a:schemeClr>
                </a:solidFill>
                <a:latin typeface="Courier"/>
              </a:rPr>
              <a:t>NaN</a:t>
            </a:r>
            <a:r>
              <a:rPr lang="nb-NO" dirty="0">
                <a:solidFill>
                  <a:schemeClr val="bg1">
                    <a:lumMod val="50000"/>
                  </a:schemeClr>
                </a:solidFill>
                <a:latin typeface="Courier"/>
              </a:rPr>
              <a:t>       </a:t>
            </a:r>
            <a:r>
              <a:rPr lang="nb-NO" dirty="0" err="1">
                <a:solidFill>
                  <a:schemeClr val="bg1">
                    <a:lumMod val="50000"/>
                  </a:schemeClr>
                </a:solidFill>
                <a:latin typeface="Courier"/>
              </a:rPr>
              <a:t>NaN</a:t>
            </a:r>
            <a:r>
              <a:rPr lang="nb-NO" dirty="0">
                <a:solidFill>
                  <a:schemeClr val="bg1">
                    <a:lumMod val="50000"/>
                  </a:schemeClr>
                </a:solidFill>
                <a:latin typeface="Courier"/>
              </a:rPr>
              <a:t>
 6.89635e6     </a:t>
            </a:r>
            <a:r>
              <a:rPr lang="nb-NO" dirty="0" err="1">
                <a:solidFill>
                  <a:schemeClr val="bg1">
                    <a:lumMod val="50000"/>
                  </a:schemeClr>
                </a:solidFill>
                <a:latin typeface="Courier"/>
              </a:rPr>
              <a:t>NaN</a:t>
            </a:r>
            <a:r>
              <a:rPr lang="nb-NO" dirty="0">
                <a:solidFill>
                  <a:schemeClr val="bg1">
                    <a:lumMod val="50000"/>
                  </a:schemeClr>
                </a:solidFill>
                <a:latin typeface="Courier"/>
              </a:rPr>
              <a:t>       </a:t>
            </a:r>
            <a:r>
              <a:rPr lang="nb-NO" dirty="0" err="1">
                <a:solidFill>
                  <a:schemeClr val="bg1">
                    <a:lumMod val="50000"/>
                  </a:schemeClr>
                </a:solidFill>
                <a:latin typeface="Courier"/>
              </a:rPr>
              <a:t>NaN</a:t>
            </a:r>
            <a:r>
              <a:rPr lang="nb-NO" dirty="0">
                <a:solidFill>
                  <a:schemeClr val="bg1">
                    <a:lumMod val="50000"/>
                  </a:schemeClr>
                </a:solidFill>
                <a:latin typeface="Courier"/>
              </a:rPr>
              <a:t>       </a:t>
            </a:r>
            <a:r>
              <a:rPr lang="nb-NO" dirty="0" err="1">
                <a:solidFill>
                  <a:schemeClr val="bg1">
                    <a:lumMod val="50000"/>
                  </a:schemeClr>
                </a:solidFill>
                <a:latin typeface="Courier"/>
              </a:rPr>
              <a:t>NaN</a:t>
            </a:r>
            <a:r>
              <a:rPr lang="nb-NO" dirty="0">
                <a:solidFill>
                  <a:schemeClr val="bg1">
                    <a:lumMod val="50000"/>
                  </a:schemeClr>
                </a:solidFill>
                <a:latin typeface="Courier"/>
              </a:rPr>
              <a:t>          </a:t>
            </a:r>
            <a:r>
              <a:rPr lang="nb-NO" dirty="0" err="1">
                <a:solidFill>
                  <a:schemeClr val="bg1">
                    <a:lumMod val="50000"/>
                  </a:schemeClr>
                </a:solidFill>
                <a:latin typeface="Courier"/>
              </a:rPr>
              <a:t>NaN</a:t>
            </a:r>
            <a:r>
              <a:rPr lang="nb-NO" dirty="0">
                <a:solidFill>
                  <a:schemeClr val="bg1">
                    <a:lumMod val="50000"/>
                  </a:schemeClr>
                </a:solidFill>
                <a:latin typeface="Courier"/>
              </a:rPr>
              <a:t>       </a:t>
            </a:r>
            <a:r>
              <a:rPr lang="nb-NO" dirty="0" err="1">
                <a:solidFill>
                  <a:schemeClr val="bg1">
                    <a:lumMod val="50000"/>
                  </a:schemeClr>
                </a:solidFill>
                <a:latin typeface="Courier"/>
              </a:rPr>
              <a:t>NaN</a:t>
            </a:r>
            <a:r>
              <a:rPr lang="nb-NO" dirty="0">
                <a:solidFill>
                  <a:schemeClr val="bg1">
                    <a:lumMod val="50000"/>
                  </a:schemeClr>
                </a:solidFill>
                <a:latin typeface="Courier"/>
              </a:rPr>
              <a:t>       </a:t>
            </a:r>
            <a:r>
              <a:rPr lang="nb-NO" dirty="0" err="1">
                <a:solidFill>
                  <a:schemeClr val="bg1">
                    <a:lumMod val="50000"/>
                  </a:schemeClr>
                </a:solidFill>
                <a:latin typeface="Courier"/>
              </a:rPr>
              <a:t>NaN</a:t>
            </a:r>
            <a:r>
              <a:rPr lang="nb-NO" dirty="0">
                <a:solidFill>
                  <a:schemeClr val="bg1">
                    <a:lumMod val="50000"/>
                  </a:schemeClr>
                </a:solidFill>
                <a:latin typeface="Courier"/>
              </a:rPr>
              <a:t>
 6.89615e6     </a:t>
            </a:r>
            <a:r>
              <a:rPr lang="nb-NO" dirty="0" err="1">
                <a:solidFill>
                  <a:schemeClr val="bg1">
                    <a:lumMod val="50000"/>
                  </a:schemeClr>
                </a:solidFill>
                <a:latin typeface="Courier"/>
              </a:rPr>
              <a:t>NaN</a:t>
            </a:r>
            <a:r>
              <a:rPr lang="nb-NO" dirty="0">
                <a:solidFill>
                  <a:schemeClr val="bg1">
                    <a:lumMod val="50000"/>
                  </a:schemeClr>
                </a:solidFill>
                <a:latin typeface="Courier"/>
              </a:rPr>
              <a:t>       </a:t>
            </a:r>
            <a:r>
              <a:rPr lang="nb-NO" dirty="0" err="1">
                <a:solidFill>
                  <a:schemeClr val="bg1">
                    <a:lumMod val="50000"/>
                  </a:schemeClr>
                </a:solidFill>
                <a:latin typeface="Courier"/>
              </a:rPr>
              <a:t>NaN</a:t>
            </a:r>
            <a:r>
              <a:rPr lang="nb-NO" dirty="0">
                <a:solidFill>
                  <a:schemeClr val="bg1">
                    <a:lumMod val="50000"/>
                  </a:schemeClr>
                </a:solidFill>
                <a:latin typeface="Courier"/>
              </a:rPr>
              <a:t>       </a:t>
            </a:r>
            <a:r>
              <a:rPr lang="nb-NO" dirty="0" err="1">
                <a:solidFill>
                  <a:schemeClr val="bg1">
                    <a:lumMod val="50000"/>
                  </a:schemeClr>
                </a:solidFill>
                <a:latin typeface="Courier"/>
              </a:rPr>
              <a:t>NaN</a:t>
            </a:r>
            <a:r>
              <a:rPr lang="nb-NO" dirty="0">
                <a:solidFill>
                  <a:schemeClr val="bg1">
                    <a:lumMod val="50000"/>
                  </a:schemeClr>
                </a:solidFill>
                <a:latin typeface="Courier"/>
              </a:rPr>
              <a:t>          </a:t>
            </a:r>
            <a:r>
              <a:rPr lang="nb-NO" dirty="0" err="1">
                <a:solidFill>
                  <a:schemeClr val="bg1">
                    <a:lumMod val="50000"/>
                  </a:schemeClr>
                </a:solidFill>
                <a:latin typeface="Courier"/>
              </a:rPr>
              <a:t>NaN</a:t>
            </a:r>
            <a:r>
              <a:rPr lang="nb-NO" dirty="0">
                <a:solidFill>
                  <a:schemeClr val="bg1">
                    <a:lumMod val="50000"/>
                  </a:schemeClr>
                </a:solidFill>
                <a:latin typeface="Courier"/>
              </a:rPr>
              <a:t>       </a:t>
            </a:r>
            <a:r>
              <a:rPr lang="nb-NO" dirty="0" err="1">
                <a:solidFill>
                  <a:schemeClr val="bg1">
                    <a:lumMod val="50000"/>
                  </a:schemeClr>
                </a:solidFill>
                <a:latin typeface="Courier"/>
              </a:rPr>
              <a:t>NaN</a:t>
            </a:r>
            <a:r>
              <a:rPr lang="nb-NO" dirty="0">
                <a:solidFill>
                  <a:schemeClr val="bg1">
                    <a:lumMod val="50000"/>
                  </a:schemeClr>
                </a:solidFill>
                <a:latin typeface="Courier"/>
              </a:rPr>
              <a:t>       </a:t>
            </a:r>
            <a:r>
              <a:rPr lang="nb-NO" dirty="0" err="1">
                <a:solidFill>
                  <a:schemeClr val="bg1">
                    <a:lumMod val="50000"/>
                  </a:schemeClr>
                </a:solidFill>
                <a:latin typeface="Courier"/>
              </a:rPr>
              <a:t>NaN</a:t>
            </a:r>
            <a:r>
              <a:rPr lang="nb-NO" dirty="0">
                <a:solidFill>
                  <a:schemeClr val="bg1">
                    <a:lumMod val="50000"/>
                  </a:schemeClr>
                </a:solidFill>
                <a:latin typeface="Courier"/>
              </a:rPr>
              <a:t>
 6.89595e6     </a:t>
            </a:r>
            <a:r>
              <a:rPr lang="nb-NO" dirty="0" err="1">
                <a:solidFill>
                  <a:schemeClr val="bg1">
                    <a:lumMod val="50000"/>
                  </a:schemeClr>
                </a:solidFill>
                <a:latin typeface="Courier"/>
              </a:rPr>
              <a:t>NaN</a:t>
            </a:r>
            <a:r>
              <a:rPr lang="nb-NO" dirty="0">
                <a:solidFill>
                  <a:schemeClr val="bg1">
                    <a:lumMod val="50000"/>
                  </a:schemeClr>
                </a:solidFill>
                <a:latin typeface="Courier"/>
              </a:rPr>
              <a:t>       </a:t>
            </a:r>
            <a:r>
              <a:rPr lang="nb-NO" dirty="0" err="1">
                <a:solidFill>
                  <a:schemeClr val="bg1">
                    <a:lumMod val="50000"/>
                  </a:schemeClr>
                </a:solidFill>
                <a:latin typeface="Courier"/>
              </a:rPr>
              <a:t>NaN</a:t>
            </a:r>
            <a:r>
              <a:rPr lang="nb-NO" dirty="0">
                <a:solidFill>
                  <a:schemeClr val="bg1">
                    <a:lumMod val="50000"/>
                  </a:schemeClr>
                </a:solidFill>
                <a:latin typeface="Courier"/>
              </a:rPr>
              <a:t>       </a:t>
            </a:r>
            <a:r>
              <a:rPr lang="nb-NO" dirty="0" err="1">
                <a:solidFill>
                  <a:schemeClr val="bg1">
                    <a:lumMod val="50000"/>
                  </a:schemeClr>
                </a:solidFill>
                <a:latin typeface="Courier"/>
              </a:rPr>
              <a:t>NaN</a:t>
            </a:r>
            <a:r>
              <a:rPr lang="nb-NO" dirty="0">
                <a:solidFill>
                  <a:schemeClr val="bg1">
                    <a:lumMod val="50000"/>
                  </a:schemeClr>
                </a:solidFill>
                <a:latin typeface="Courier"/>
              </a:rPr>
              <a:t>          </a:t>
            </a:r>
            <a:r>
              <a:rPr lang="nb-NO" dirty="0" err="1">
                <a:solidFill>
                  <a:schemeClr val="bg1">
                    <a:lumMod val="50000"/>
                  </a:schemeClr>
                </a:solidFill>
                <a:latin typeface="Courier"/>
              </a:rPr>
              <a:t>NaN</a:t>
            </a:r>
            <a:r>
              <a:rPr lang="nb-NO" dirty="0">
                <a:solidFill>
                  <a:schemeClr val="bg1">
                    <a:lumMod val="50000"/>
                  </a:schemeClr>
                </a:solidFill>
                <a:latin typeface="Courier"/>
              </a:rPr>
              <a:t>       </a:t>
            </a:r>
            <a:r>
              <a:rPr lang="nb-NO" dirty="0" err="1">
                <a:solidFill>
                  <a:schemeClr val="bg1">
                    <a:lumMod val="50000"/>
                  </a:schemeClr>
                </a:solidFill>
                <a:latin typeface="Courier"/>
              </a:rPr>
              <a:t>NaN</a:t>
            </a:r>
            <a:r>
              <a:rPr lang="nb-NO" dirty="0">
                <a:solidFill>
                  <a:schemeClr val="bg1">
                    <a:lumMod val="50000"/>
                  </a:schemeClr>
                </a:solidFill>
                <a:latin typeface="Courier"/>
              </a:rPr>
              <a:t>       </a:t>
            </a:r>
            <a:r>
              <a:rPr lang="nb-NO" dirty="0" err="1">
                <a:solidFill>
                  <a:schemeClr val="bg1">
                    <a:lumMod val="50000"/>
                  </a:schemeClr>
                </a:solidFill>
                <a:latin typeface="Courier"/>
              </a:rPr>
              <a:t>NaN</a:t>
            </a:r>
            <a:endParaRPr lang="nb-NO" dirty="0">
              <a:solidFill>
                <a:schemeClr val="bg1">
                  <a:lumMod val="50000"/>
                </a:schemeClr>
              </a:solidFill>
              <a:latin typeface="Courier"/>
            </a:endParaRPr>
          </a:p>
        </p:txBody>
      </p:sp>
      <p:sp>
        <p:nvSpPr>
          <p:cNvPr id="2" name="Title 1">
            <a:extLst>
              <a:ext uri="{FF2B5EF4-FFF2-40B4-BE49-F238E27FC236}">
                <a16:creationId xmlns:a16="http://schemas.microsoft.com/office/drawing/2014/main" id="{900A54A4-B8C2-092D-6EB1-5EF046A78EBC}"/>
              </a:ext>
            </a:extLst>
          </p:cNvPr>
          <p:cNvSpPr>
            <a:spLocks noGrp="1"/>
          </p:cNvSpPr>
          <p:nvPr>
            <p:ph type="title"/>
          </p:nvPr>
        </p:nvSpPr>
        <p:spPr>
          <a:xfrm>
            <a:off x="457200" y="205979"/>
            <a:ext cx="8229600" cy="857250"/>
          </a:xfrm>
        </p:spPr>
        <p:txBody>
          <a:bodyPr>
            <a:normAutofit/>
          </a:bodyPr>
          <a:lstStyle/>
          <a:p>
            <a:pPr marL="0" lvl="0" indent="0">
              <a:buNone/>
            </a:pPr>
            <a:r>
              <a:rPr lang="en-US" dirty="0"/>
              <a:t>Compute movement flow or corridors</a:t>
            </a:r>
            <a:endParaRPr dirty="0"/>
          </a:p>
        </p:txBody>
      </p:sp>
    </p:spTree>
    <p:extLst>
      <p:ext uri="{BB962C8B-B14F-4D97-AF65-F5344CB8AC3E}">
        <p14:creationId xmlns:p14="http://schemas.microsoft.com/office/powerpoint/2010/main" val="381102909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3208F9-42D9-5A36-4F3A-2BE176E75EC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2D6072-0F8C-E742-EFC4-71CC54A28AC0}"/>
              </a:ext>
            </a:extLst>
          </p:cNvPr>
          <p:cNvSpPr>
            <a:spLocks noGrp="1"/>
          </p:cNvSpPr>
          <p:nvPr>
            <p:ph idx="1"/>
          </p:nvPr>
        </p:nvSpPr>
        <p:spPr/>
        <p:txBody>
          <a:bodyPr>
            <a:normAutofit/>
          </a:bodyPr>
          <a:lstStyle/>
          <a:p>
            <a:pPr marL="0" lvl="0" indent="0">
              <a:buNone/>
            </a:pPr>
            <a:r>
              <a:rPr lang="en-US" sz="2000" dirty="0"/>
              <a:t>Plot movement flows – corridors:</a:t>
            </a:r>
          </a:p>
          <a:p>
            <a:pPr lvl="0" indent="0">
              <a:buNone/>
            </a:pPr>
            <a:r>
              <a:rPr lang="en-US" sz="2000" dirty="0" err="1">
                <a:latin typeface="Courier"/>
              </a:rPr>
              <a:t>Makie.</a:t>
            </a:r>
            <a:r>
              <a:rPr lang="en-US" sz="2000" dirty="0" err="1">
                <a:solidFill>
                  <a:srgbClr val="06287E"/>
                </a:solidFill>
                <a:latin typeface="Courier"/>
              </a:rPr>
              <a:t>plot</a:t>
            </a:r>
            <a:r>
              <a:rPr lang="en-US" sz="2000" dirty="0">
                <a:latin typeface="Courier"/>
              </a:rPr>
              <a:t>(flow, colormap</a:t>
            </a:r>
            <a:r>
              <a:rPr lang="en-US" sz="2000" dirty="0">
                <a:solidFill>
                  <a:srgbClr val="666666"/>
                </a:solidFill>
                <a:latin typeface="Courier"/>
              </a:rPr>
              <a:t>=</a:t>
            </a:r>
            <a:r>
              <a:rPr lang="en-US" sz="2000" dirty="0" err="1">
                <a:solidFill>
                  <a:srgbClr val="06287E"/>
                </a:solidFill>
                <a:latin typeface="Courier"/>
              </a:rPr>
              <a:t>cgrad</a:t>
            </a:r>
            <a:r>
              <a:rPr lang="en-US" sz="2000" dirty="0">
                <a:latin typeface="Courier"/>
              </a:rPr>
              <a:t>(</a:t>
            </a:r>
            <a:r>
              <a:rPr lang="en-US" sz="2000" dirty="0">
                <a:solidFill>
                  <a:srgbClr val="666666"/>
                </a:solidFill>
                <a:latin typeface="Courier"/>
              </a:rPr>
              <a:t>:</a:t>
            </a:r>
            <a:r>
              <a:rPr lang="en-US" sz="2000" dirty="0">
                <a:latin typeface="Courier"/>
              </a:rPr>
              <a:t>magma))</a:t>
            </a:r>
          </a:p>
        </p:txBody>
      </p:sp>
      <p:sp>
        <p:nvSpPr>
          <p:cNvPr id="2" name="Title 1">
            <a:extLst>
              <a:ext uri="{FF2B5EF4-FFF2-40B4-BE49-F238E27FC236}">
                <a16:creationId xmlns:a16="http://schemas.microsoft.com/office/drawing/2014/main" id="{49EA7EAF-7892-D618-2F56-F8A773453DE3}"/>
              </a:ext>
            </a:extLst>
          </p:cNvPr>
          <p:cNvSpPr>
            <a:spLocks noGrp="1"/>
          </p:cNvSpPr>
          <p:nvPr>
            <p:ph type="title"/>
          </p:nvPr>
        </p:nvSpPr>
        <p:spPr>
          <a:xfrm>
            <a:off x="457200" y="205979"/>
            <a:ext cx="8229600" cy="857250"/>
          </a:xfrm>
        </p:spPr>
        <p:txBody>
          <a:bodyPr>
            <a:normAutofit/>
          </a:bodyPr>
          <a:lstStyle/>
          <a:p>
            <a:pPr marL="0" lvl="0" indent="0">
              <a:buNone/>
            </a:pPr>
            <a:r>
              <a:rPr lang="en-US" dirty="0"/>
              <a:t>Compute movement flow or corridors</a:t>
            </a:r>
            <a:endParaRPr dirty="0"/>
          </a:p>
        </p:txBody>
      </p:sp>
    </p:spTree>
    <p:extLst>
      <p:ext uri="{BB962C8B-B14F-4D97-AF65-F5344CB8AC3E}">
        <p14:creationId xmlns:p14="http://schemas.microsoft.com/office/powerpoint/2010/main" val="226782959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783E9-0B56-FC04-AA75-06221A7B42FB}"/>
            </a:ext>
          </a:extLst>
        </p:cNvPr>
        <p:cNvGrpSpPr/>
        <p:nvPr/>
      </p:nvGrpSpPr>
      <p:grpSpPr>
        <a:xfrm>
          <a:off x="0" y="0"/>
          <a:ext cx="0" cy="0"/>
          <a:chOff x="0" y="0"/>
          <a:chExt cx="0" cy="0"/>
        </a:xfrm>
      </p:grpSpPr>
      <p:pic>
        <p:nvPicPr>
          <p:cNvPr id="2" name="Picture 1" descr="presentation_ppt_files/figure-pptx/cell-21-output-1.png"/>
          <p:cNvPicPr>
            <a:picLocks noGrp="1" noChangeAspect="1"/>
          </p:cNvPicPr>
          <p:nvPr/>
        </p:nvPicPr>
        <p:blipFill>
          <a:blip r:embed="rId2"/>
          <a:stretch>
            <a:fillRect/>
          </a:stretch>
        </p:blipFill>
        <p:spPr bwMode="auto">
          <a:xfrm>
            <a:off x="1202531" y="673100"/>
            <a:ext cx="6362700" cy="4146550"/>
          </a:xfrm>
          <a:prstGeom prst="rect">
            <a:avLst/>
          </a:prstGeom>
          <a:noFill/>
          <a:ln w="9525">
            <a:noFill/>
            <a:headEnd/>
            <a:tailEnd/>
          </a:ln>
        </p:spPr>
      </p:pic>
    </p:spTree>
    <p:extLst>
      <p:ext uri="{BB962C8B-B14F-4D97-AF65-F5344CB8AC3E}">
        <p14:creationId xmlns:p14="http://schemas.microsoft.com/office/powerpoint/2010/main" val="142065370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7D7F55-74CB-A947-56E2-4DD39F59AE8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2C6C701-0B7B-BF1F-578E-C2A7D4CBEF8D}"/>
              </a:ext>
            </a:extLst>
          </p:cNvPr>
          <p:cNvSpPr>
            <a:spLocks noGrp="1"/>
          </p:cNvSpPr>
          <p:nvPr>
            <p:ph idx="1"/>
          </p:nvPr>
        </p:nvSpPr>
        <p:spPr/>
        <p:txBody>
          <a:bodyPr>
            <a:normAutofit/>
          </a:bodyPr>
          <a:lstStyle/>
          <a:p>
            <a:pPr marL="0" lvl="0" indent="0">
              <a:buNone/>
            </a:pPr>
            <a:r>
              <a:rPr lang="en-US" sz="2000" dirty="0"/>
              <a:t>Plot movement flows – corridors:</a:t>
            </a:r>
          </a:p>
          <a:p>
            <a:pPr lvl="0" indent="0">
              <a:buNone/>
            </a:pPr>
            <a:r>
              <a:rPr lang="en-US" sz="2000" dirty="0" err="1">
                <a:latin typeface="Courier"/>
              </a:rPr>
              <a:t>Makie.</a:t>
            </a:r>
            <a:r>
              <a:rPr lang="en-US" sz="2000" dirty="0" err="1">
                <a:solidFill>
                  <a:srgbClr val="06287E"/>
                </a:solidFill>
                <a:latin typeface="Courier"/>
              </a:rPr>
              <a:t>plot</a:t>
            </a:r>
            <a:r>
              <a:rPr lang="en-US" sz="2000" dirty="0">
                <a:latin typeface="Courier"/>
              </a:rPr>
              <a:t>((flow).^(1/1.75),</a:t>
            </a:r>
          </a:p>
          <a:p>
            <a:pPr lvl="0" indent="0">
              <a:buNone/>
            </a:pPr>
            <a:r>
              <a:rPr lang="en-US" sz="2000" dirty="0">
                <a:latin typeface="Courier"/>
              </a:rPr>
              <a:t>						colormap</a:t>
            </a:r>
            <a:r>
              <a:rPr lang="en-US" sz="2000" dirty="0">
                <a:solidFill>
                  <a:srgbClr val="666666"/>
                </a:solidFill>
                <a:latin typeface="Courier"/>
              </a:rPr>
              <a:t>=</a:t>
            </a:r>
            <a:r>
              <a:rPr lang="en-US" sz="2000" dirty="0" err="1">
                <a:solidFill>
                  <a:srgbClr val="06287E"/>
                </a:solidFill>
                <a:latin typeface="Courier"/>
              </a:rPr>
              <a:t>cgrad</a:t>
            </a:r>
            <a:r>
              <a:rPr lang="en-US" sz="2000" dirty="0">
                <a:latin typeface="Courier"/>
              </a:rPr>
              <a:t>(</a:t>
            </a:r>
            <a:r>
              <a:rPr lang="en-US" sz="2000" dirty="0">
                <a:solidFill>
                  <a:srgbClr val="666666"/>
                </a:solidFill>
                <a:latin typeface="Courier"/>
              </a:rPr>
              <a:t>:</a:t>
            </a:r>
            <a:r>
              <a:rPr lang="en-US" sz="2000" dirty="0">
                <a:latin typeface="Courier"/>
              </a:rPr>
              <a:t>magma))</a:t>
            </a:r>
          </a:p>
        </p:txBody>
      </p:sp>
      <p:sp>
        <p:nvSpPr>
          <p:cNvPr id="2" name="Title 1">
            <a:extLst>
              <a:ext uri="{FF2B5EF4-FFF2-40B4-BE49-F238E27FC236}">
                <a16:creationId xmlns:a16="http://schemas.microsoft.com/office/drawing/2014/main" id="{311B21A6-3DA5-C392-6B74-7FFE434FDDF4}"/>
              </a:ext>
            </a:extLst>
          </p:cNvPr>
          <p:cNvSpPr>
            <a:spLocks noGrp="1"/>
          </p:cNvSpPr>
          <p:nvPr>
            <p:ph type="title"/>
          </p:nvPr>
        </p:nvSpPr>
        <p:spPr>
          <a:xfrm>
            <a:off x="457200" y="205979"/>
            <a:ext cx="8229600" cy="857250"/>
          </a:xfrm>
        </p:spPr>
        <p:txBody>
          <a:bodyPr>
            <a:normAutofit/>
          </a:bodyPr>
          <a:lstStyle/>
          <a:p>
            <a:pPr marL="0" lvl="0" indent="0">
              <a:buNone/>
            </a:pPr>
            <a:r>
              <a:rPr lang="en-US" dirty="0"/>
              <a:t>Compute movement flow or corridors</a:t>
            </a:r>
            <a:endParaRPr dirty="0"/>
          </a:p>
        </p:txBody>
      </p:sp>
    </p:spTree>
    <p:extLst>
      <p:ext uri="{BB962C8B-B14F-4D97-AF65-F5344CB8AC3E}">
        <p14:creationId xmlns:p14="http://schemas.microsoft.com/office/powerpoint/2010/main" val="268504856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1803FD-AF97-DAEB-FEC0-154CF28E4CAC}"/>
            </a:ext>
          </a:extLst>
        </p:cNvPr>
        <p:cNvGrpSpPr/>
        <p:nvPr/>
      </p:nvGrpSpPr>
      <p:grpSpPr>
        <a:xfrm>
          <a:off x="0" y="0"/>
          <a:ext cx="0" cy="0"/>
          <a:chOff x="0" y="0"/>
          <a:chExt cx="0" cy="0"/>
        </a:xfrm>
      </p:grpSpPr>
      <p:pic>
        <p:nvPicPr>
          <p:cNvPr id="2" name="Picture 1" descr="presentation_ppt_files/figure-pptx/cell-22-output-1.png">
            <a:extLst>
              <a:ext uri="{FF2B5EF4-FFF2-40B4-BE49-F238E27FC236}">
                <a16:creationId xmlns:a16="http://schemas.microsoft.com/office/drawing/2014/main" id="{EC15C76A-73AE-BE68-C8D5-6FD4818C1A14}"/>
              </a:ext>
            </a:extLst>
          </p:cNvPr>
          <p:cNvPicPr>
            <a:picLocks noGrp="1" noChangeAspect="1"/>
          </p:cNvPicPr>
          <p:nvPr/>
        </p:nvPicPr>
        <p:blipFill>
          <a:blip r:embed="rId2"/>
          <a:stretch>
            <a:fillRect/>
          </a:stretch>
        </p:blipFill>
        <p:spPr bwMode="auto">
          <a:xfrm>
            <a:off x="1204113" y="673892"/>
            <a:ext cx="6361118" cy="4151318"/>
          </a:xfrm>
          <a:prstGeom prst="rect">
            <a:avLst/>
          </a:prstGeom>
          <a:noFill/>
          <a:ln w="9525">
            <a:noFill/>
            <a:headEnd/>
            <a:tailEnd/>
          </a:ln>
        </p:spPr>
      </p:pic>
    </p:spTree>
    <p:extLst>
      <p:ext uri="{BB962C8B-B14F-4D97-AF65-F5344CB8AC3E}">
        <p14:creationId xmlns:p14="http://schemas.microsoft.com/office/powerpoint/2010/main" val="66679629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42002-7B10-41A2-5CD8-4B22503778D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345759-571B-D85B-FE8A-618EDF0260FD}"/>
              </a:ext>
            </a:extLst>
          </p:cNvPr>
          <p:cNvSpPr>
            <a:spLocks noGrp="1"/>
          </p:cNvSpPr>
          <p:nvPr>
            <p:ph idx="1"/>
          </p:nvPr>
        </p:nvSpPr>
        <p:spPr/>
        <p:txBody>
          <a:bodyPr>
            <a:normAutofit/>
          </a:bodyPr>
          <a:lstStyle/>
          <a:p>
            <a:pPr marL="0" lvl="0" indent="0">
              <a:buNone/>
            </a:pPr>
            <a:r>
              <a:rPr lang="en-US" sz="2000" dirty="0"/>
              <a:t>Sum all values of the landscape into a single metric:</a:t>
            </a:r>
          </a:p>
          <a:p>
            <a:pPr lvl="0" indent="0">
              <a:buNone/>
            </a:pPr>
            <a:r>
              <a:rPr lang="en-US" sz="2000" dirty="0">
                <a:latin typeface="Courier"/>
              </a:rPr>
              <a:t>sum(x -&gt; </a:t>
            </a:r>
            <a:r>
              <a:rPr lang="en-US" sz="2000" dirty="0" err="1">
                <a:latin typeface="Courier"/>
              </a:rPr>
              <a:t>isnan</a:t>
            </a:r>
            <a:r>
              <a:rPr lang="en-US" sz="2000" dirty="0">
                <a:latin typeface="Courier"/>
              </a:rPr>
              <a:t>(x) ? 0.0 : x, </a:t>
            </a:r>
            <a:r>
              <a:rPr lang="en-US" sz="2000" dirty="0" err="1">
                <a:latin typeface="Courier"/>
              </a:rPr>
              <a:t>func</a:t>
            </a:r>
            <a:r>
              <a:rPr lang="en-US" sz="2000" dirty="0">
                <a:latin typeface="Courier"/>
              </a:rPr>
              <a:t>)</a:t>
            </a:r>
          </a:p>
          <a:p>
            <a:pPr lvl="0" indent="0">
              <a:buNone/>
            </a:pPr>
            <a:endParaRPr lang="en-US" sz="2000" dirty="0">
              <a:solidFill>
                <a:schemeClr val="bg1">
                  <a:lumMod val="65000"/>
                </a:schemeClr>
              </a:solidFill>
              <a:latin typeface="Courier"/>
            </a:endParaRPr>
          </a:p>
          <a:p>
            <a:pPr lvl="0" indent="0">
              <a:buNone/>
            </a:pPr>
            <a:r>
              <a:rPr lang="en-US" sz="2000" dirty="0">
                <a:solidFill>
                  <a:schemeClr val="bg1">
                    <a:lumMod val="65000"/>
                  </a:schemeClr>
                </a:solidFill>
                <a:latin typeface="Courier"/>
              </a:rPr>
              <a:t>2.739192366546321e8</a:t>
            </a:r>
          </a:p>
          <a:p>
            <a:pPr lvl="0" indent="0">
              <a:buNone/>
            </a:pPr>
            <a:br>
              <a:rPr lang="en-US" sz="2000" dirty="0">
                <a:latin typeface="Courier"/>
              </a:rPr>
            </a:br>
            <a:endParaRPr lang="en-US" sz="2000" dirty="0">
              <a:latin typeface="Courier"/>
            </a:endParaRPr>
          </a:p>
        </p:txBody>
      </p:sp>
      <p:sp>
        <p:nvSpPr>
          <p:cNvPr id="2" name="Title 1">
            <a:extLst>
              <a:ext uri="{FF2B5EF4-FFF2-40B4-BE49-F238E27FC236}">
                <a16:creationId xmlns:a16="http://schemas.microsoft.com/office/drawing/2014/main" id="{8EFD4867-A938-1758-7342-6CB2827148DE}"/>
              </a:ext>
            </a:extLst>
          </p:cNvPr>
          <p:cNvSpPr>
            <a:spLocks noGrp="1"/>
          </p:cNvSpPr>
          <p:nvPr>
            <p:ph type="title"/>
          </p:nvPr>
        </p:nvSpPr>
        <p:spPr>
          <a:xfrm>
            <a:off x="457200" y="205979"/>
            <a:ext cx="8229600" cy="857250"/>
          </a:xfrm>
        </p:spPr>
        <p:txBody>
          <a:bodyPr>
            <a:normAutofit/>
          </a:bodyPr>
          <a:lstStyle/>
          <a:p>
            <a:pPr marL="0" lvl="0" indent="0">
              <a:buNone/>
            </a:pPr>
            <a:r>
              <a:rPr lang="en-US" dirty="0"/>
              <a:t>Compute landscape functional habitat</a:t>
            </a:r>
            <a:endParaRPr dirty="0"/>
          </a:p>
        </p:txBody>
      </p:sp>
    </p:spTree>
    <p:extLst>
      <p:ext uri="{BB962C8B-B14F-4D97-AF65-F5344CB8AC3E}">
        <p14:creationId xmlns:p14="http://schemas.microsoft.com/office/powerpoint/2010/main" val="578301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6F74CF-062C-D8D9-3989-2987ECE607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BCC26C-11C4-4B42-154D-846F6E4FC16B}"/>
              </a:ext>
            </a:extLst>
          </p:cNvPr>
          <p:cNvSpPr>
            <a:spLocks noGrp="1"/>
          </p:cNvSpPr>
          <p:nvPr>
            <p:ph type="title"/>
          </p:nvPr>
        </p:nvSpPr>
        <p:spPr>
          <a:xfrm>
            <a:off x="457200" y="205979"/>
            <a:ext cx="8229600" cy="857250"/>
          </a:xfrm>
        </p:spPr>
        <p:txBody>
          <a:bodyPr>
            <a:normAutofit/>
          </a:bodyPr>
          <a:lstStyle/>
          <a:p>
            <a:pPr marL="0" lvl="0" indent="0">
              <a:buNone/>
            </a:pPr>
            <a:r>
              <a:rPr lang="en-US" dirty="0"/>
              <a:t>Further information</a:t>
            </a:r>
            <a:endParaRPr dirty="0"/>
          </a:p>
        </p:txBody>
      </p:sp>
      <p:pic>
        <p:nvPicPr>
          <p:cNvPr id="3" name="Picture 1" descr="figs/paper_ecography.png"/>
          <p:cNvPicPr>
            <a:picLocks noGrp="1" noChangeAspect="1"/>
          </p:cNvPicPr>
          <p:nvPr/>
        </p:nvPicPr>
        <p:blipFill>
          <a:blip r:embed="rId2"/>
          <a:stretch>
            <a:fillRect/>
          </a:stretch>
        </p:blipFill>
        <p:spPr bwMode="auto">
          <a:xfrm>
            <a:off x="1346200" y="2317750"/>
            <a:ext cx="5105400" cy="1816100"/>
          </a:xfrm>
          <a:prstGeom prst="rect">
            <a:avLst/>
          </a:prstGeom>
          <a:noFill/>
          <a:ln w="9525">
            <a:noFill/>
            <a:headEnd/>
            <a:tailEnd/>
          </a:ln>
        </p:spPr>
      </p:pic>
      <p:sp>
        <p:nvSpPr>
          <p:cNvPr id="5" name="Text Placeholder 3">
            <a:extLst>
              <a:ext uri="{FF2B5EF4-FFF2-40B4-BE49-F238E27FC236}">
                <a16:creationId xmlns:a16="http://schemas.microsoft.com/office/drawing/2014/main" id="{7206D97D-36FE-1A78-64B8-89B38C719C4A}"/>
              </a:ext>
            </a:extLst>
          </p:cNvPr>
          <p:cNvSpPr txBox="1">
            <a:spLocks/>
          </p:cNvSpPr>
          <p:nvPr/>
        </p:nvSpPr>
        <p:spPr>
          <a:xfrm>
            <a:off x="1263650" y="1520826"/>
            <a:ext cx="5187950" cy="3518297"/>
          </a:xfrm>
          <a:prstGeom prst="rect">
            <a:avLst/>
          </a:prstGeom>
        </p:spPr>
        <p:txBody>
          <a:bodyPr/>
          <a:lstStyle>
            <a:lvl1pPr marL="342900" indent="-342900" algn="l" defTabSz="342900" rtl="0" eaLnBrk="1" latinLnBrk="0" hangingPunct="1">
              <a:spcBef>
                <a:spcPct val="20000"/>
              </a:spcBef>
              <a:buFont typeface="Arial"/>
              <a:buChar char="•"/>
              <a:defRPr sz="2400" kern="1200">
                <a:solidFill>
                  <a:schemeClr val="tx1"/>
                </a:solidFill>
                <a:latin typeface="+mn-lt"/>
                <a:ea typeface="+mn-ea"/>
                <a:cs typeface="+mn-cs"/>
              </a:defRPr>
            </a:lvl1pPr>
            <a:lvl2pPr marL="685800" indent="-342900" algn="l" defTabSz="342900" rtl="0" eaLnBrk="1" latinLnBrk="0" hangingPunct="1">
              <a:spcBef>
                <a:spcPct val="20000"/>
              </a:spcBef>
              <a:buFont typeface="Arial"/>
              <a:buChar char="–"/>
              <a:defRPr sz="2100" kern="1200">
                <a:solidFill>
                  <a:schemeClr val="tx1"/>
                </a:solidFill>
                <a:latin typeface="+mn-lt"/>
                <a:ea typeface="+mn-ea"/>
                <a:cs typeface="+mn-cs"/>
              </a:defRPr>
            </a:lvl2pPr>
            <a:lvl3pPr marL="1028700" indent="-34290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371600" indent="-34290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714500" indent="-342900" algn="l" defTabSz="342900" rtl="0" eaLnBrk="1" latinLnBrk="0" hangingPunct="1">
              <a:spcBef>
                <a:spcPct val="20000"/>
              </a:spcBef>
              <a:buFont typeface="Arial"/>
              <a:buChar char="»"/>
              <a:defRPr sz="1500" kern="1200">
                <a:solidFill>
                  <a:schemeClr val="tx1"/>
                </a:solidFill>
                <a:latin typeface="+mn-lt"/>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spcBef>
                <a:spcPts val="3000"/>
              </a:spcBef>
              <a:buFont typeface="Arial"/>
              <a:buNone/>
            </a:pPr>
            <a:r>
              <a:rPr lang="nb-NO" i="1" dirty="0"/>
              <a:t>Network </a:t>
            </a:r>
            <a:r>
              <a:rPr lang="nb-NO" i="1" dirty="0" err="1"/>
              <a:t>parametrization</a:t>
            </a:r>
            <a:endParaRPr lang="nb-NO" i="1" dirty="0"/>
          </a:p>
        </p:txBody>
      </p:sp>
    </p:spTree>
    <p:extLst>
      <p:ext uri="{BB962C8B-B14F-4D97-AF65-F5344CB8AC3E}">
        <p14:creationId xmlns:p14="http://schemas.microsoft.com/office/powerpoint/2010/main" val="309192757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B74016-D9BD-B810-DAED-2851C2867183}"/>
            </a:ext>
          </a:extLst>
        </p:cNvPr>
        <p:cNvGrpSpPr/>
        <p:nvPr/>
      </p:nvGrpSpPr>
      <p:grpSpPr>
        <a:xfrm>
          <a:off x="0" y="0"/>
          <a:ext cx="0" cy="0"/>
          <a:chOff x="0" y="0"/>
          <a:chExt cx="0" cy="0"/>
        </a:xfrm>
      </p:grpSpPr>
      <p:pic>
        <p:nvPicPr>
          <p:cNvPr id="4" name="Picture 3" descr="figs/paper_ecology.png"/>
          <p:cNvPicPr>
            <a:picLocks noGrp="1" noChangeAspect="1"/>
          </p:cNvPicPr>
          <p:nvPr/>
        </p:nvPicPr>
        <p:blipFill>
          <a:blip r:embed="rId2"/>
          <a:stretch>
            <a:fillRect/>
          </a:stretch>
        </p:blipFill>
        <p:spPr bwMode="auto">
          <a:xfrm>
            <a:off x="1346200" y="2317750"/>
            <a:ext cx="5105400" cy="2070100"/>
          </a:xfrm>
          <a:prstGeom prst="rect">
            <a:avLst/>
          </a:prstGeom>
          <a:noFill/>
          <a:ln w="9525">
            <a:noFill/>
            <a:headEnd/>
            <a:tailEnd/>
          </a:ln>
        </p:spPr>
      </p:pic>
      <p:sp>
        <p:nvSpPr>
          <p:cNvPr id="2" name="Title 1">
            <a:extLst>
              <a:ext uri="{FF2B5EF4-FFF2-40B4-BE49-F238E27FC236}">
                <a16:creationId xmlns:a16="http://schemas.microsoft.com/office/drawing/2014/main" id="{CC8E9CA5-8F71-8D1A-B5EC-EB6FBB5ED584}"/>
              </a:ext>
            </a:extLst>
          </p:cNvPr>
          <p:cNvSpPr>
            <a:spLocks noGrp="1"/>
          </p:cNvSpPr>
          <p:nvPr>
            <p:ph type="title"/>
          </p:nvPr>
        </p:nvSpPr>
        <p:spPr>
          <a:xfrm>
            <a:off x="457200" y="205979"/>
            <a:ext cx="8229600" cy="857250"/>
          </a:xfrm>
        </p:spPr>
        <p:txBody>
          <a:bodyPr>
            <a:normAutofit/>
          </a:bodyPr>
          <a:lstStyle/>
          <a:p>
            <a:pPr marL="0" lvl="0" indent="0">
              <a:buNone/>
            </a:pPr>
            <a:r>
              <a:rPr lang="en-US" dirty="0"/>
              <a:t>Further information</a:t>
            </a:r>
            <a:endParaRPr dirty="0"/>
          </a:p>
        </p:txBody>
      </p:sp>
      <p:sp>
        <p:nvSpPr>
          <p:cNvPr id="5" name="Text Placeholder 3">
            <a:extLst>
              <a:ext uri="{FF2B5EF4-FFF2-40B4-BE49-F238E27FC236}">
                <a16:creationId xmlns:a16="http://schemas.microsoft.com/office/drawing/2014/main" id="{1DD0EAC8-4E49-01E3-E0DA-F6BC0E116166}"/>
              </a:ext>
            </a:extLst>
          </p:cNvPr>
          <p:cNvSpPr txBox="1">
            <a:spLocks/>
          </p:cNvSpPr>
          <p:nvPr/>
        </p:nvSpPr>
        <p:spPr>
          <a:xfrm>
            <a:off x="1263650" y="1520826"/>
            <a:ext cx="5187950" cy="3518297"/>
          </a:xfrm>
          <a:prstGeom prst="rect">
            <a:avLst/>
          </a:prstGeom>
        </p:spPr>
        <p:txBody>
          <a:bodyPr/>
          <a:lstStyle>
            <a:lvl1pPr marL="342900" indent="-342900" algn="l" defTabSz="342900" rtl="0" eaLnBrk="1" latinLnBrk="0" hangingPunct="1">
              <a:spcBef>
                <a:spcPct val="20000"/>
              </a:spcBef>
              <a:buFont typeface="Arial"/>
              <a:buChar char="•"/>
              <a:defRPr sz="2400" kern="1200">
                <a:solidFill>
                  <a:schemeClr val="tx1"/>
                </a:solidFill>
                <a:latin typeface="+mn-lt"/>
                <a:ea typeface="+mn-ea"/>
                <a:cs typeface="+mn-cs"/>
              </a:defRPr>
            </a:lvl1pPr>
            <a:lvl2pPr marL="685800" indent="-342900" algn="l" defTabSz="342900" rtl="0" eaLnBrk="1" latinLnBrk="0" hangingPunct="1">
              <a:spcBef>
                <a:spcPct val="20000"/>
              </a:spcBef>
              <a:buFont typeface="Arial"/>
              <a:buChar char="–"/>
              <a:defRPr sz="2100" kern="1200">
                <a:solidFill>
                  <a:schemeClr val="tx1"/>
                </a:solidFill>
                <a:latin typeface="+mn-lt"/>
                <a:ea typeface="+mn-ea"/>
                <a:cs typeface="+mn-cs"/>
              </a:defRPr>
            </a:lvl2pPr>
            <a:lvl3pPr marL="1028700" indent="-34290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371600" indent="-34290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714500" indent="-342900" algn="l" defTabSz="342900" rtl="0" eaLnBrk="1" latinLnBrk="0" hangingPunct="1">
              <a:spcBef>
                <a:spcPct val="20000"/>
              </a:spcBef>
              <a:buFont typeface="Arial"/>
              <a:buChar char="»"/>
              <a:defRPr sz="1500" kern="1200">
                <a:solidFill>
                  <a:schemeClr val="tx1"/>
                </a:solidFill>
                <a:latin typeface="+mn-lt"/>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spcBef>
                <a:spcPts val="3000"/>
              </a:spcBef>
              <a:buFont typeface="Arial"/>
              <a:buNone/>
            </a:pPr>
            <a:r>
              <a:rPr lang="nb-NO" i="1" dirty="0" err="1"/>
              <a:t>Concepts</a:t>
            </a:r>
            <a:r>
              <a:rPr lang="nb-NO" i="1" dirty="0"/>
              <a:t>: </a:t>
            </a:r>
            <a:r>
              <a:rPr lang="nb-NO" i="1" dirty="0" err="1"/>
              <a:t>functional</a:t>
            </a:r>
            <a:r>
              <a:rPr lang="nb-NO" i="1" dirty="0"/>
              <a:t> habitat</a:t>
            </a:r>
          </a:p>
        </p:txBody>
      </p:sp>
    </p:spTree>
    <p:extLst>
      <p:ext uri="{BB962C8B-B14F-4D97-AF65-F5344CB8AC3E}">
        <p14:creationId xmlns:p14="http://schemas.microsoft.com/office/powerpoint/2010/main" val="222235481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EB68B-4BA4-D458-E04E-F84B3EB5D741}"/>
            </a:ext>
          </a:extLst>
        </p:cNvPr>
        <p:cNvGrpSpPr/>
        <p:nvPr/>
      </p:nvGrpSpPr>
      <p:grpSpPr>
        <a:xfrm>
          <a:off x="0" y="0"/>
          <a:ext cx="0" cy="0"/>
          <a:chOff x="0" y="0"/>
          <a:chExt cx="0" cy="0"/>
        </a:xfrm>
      </p:grpSpPr>
      <p:pic>
        <p:nvPicPr>
          <p:cNvPr id="3" name="Picture 2" descr="figs/paper_MEE.png"/>
          <p:cNvPicPr>
            <a:picLocks noGrp="1" noChangeAspect="1"/>
          </p:cNvPicPr>
          <p:nvPr/>
        </p:nvPicPr>
        <p:blipFill>
          <a:blip r:embed="rId2"/>
          <a:stretch>
            <a:fillRect/>
          </a:stretch>
        </p:blipFill>
        <p:spPr bwMode="auto">
          <a:xfrm>
            <a:off x="1346200" y="2317750"/>
            <a:ext cx="5105400" cy="2324100"/>
          </a:xfrm>
          <a:prstGeom prst="rect">
            <a:avLst/>
          </a:prstGeom>
          <a:noFill/>
          <a:ln w="9525">
            <a:noFill/>
            <a:headEnd/>
            <a:tailEnd/>
          </a:ln>
        </p:spPr>
      </p:pic>
      <p:sp>
        <p:nvSpPr>
          <p:cNvPr id="2" name="Title 1">
            <a:extLst>
              <a:ext uri="{FF2B5EF4-FFF2-40B4-BE49-F238E27FC236}">
                <a16:creationId xmlns:a16="http://schemas.microsoft.com/office/drawing/2014/main" id="{A8FE5E26-F0F3-45F8-2EBA-BE50C7C094F6}"/>
              </a:ext>
            </a:extLst>
          </p:cNvPr>
          <p:cNvSpPr>
            <a:spLocks noGrp="1"/>
          </p:cNvSpPr>
          <p:nvPr>
            <p:ph type="title"/>
          </p:nvPr>
        </p:nvSpPr>
        <p:spPr>
          <a:xfrm>
            <a:off x="457200" y="205979"/>
            <a:ext cx="8229600" cy="857250"/>
          </a:xfrm>
        </p:spPr>
        <p:txBody>
          <a:bodyPr>
            <a:normAutofit/>
          </a:bodyPr>
          <a:lstStyle/>
          <a:p>
            <a:pPr marL="0" lvl="0" indent="0">
              <a:buNone/>
            </a:pPr>
            <a:r>
              <a:rPr lang="en-US" dirty="0"/>
              <a:t>Further information</a:t>
            </a:r>
            <a:endParaRPr dirty="0"/>
          </a:p>
        </p:txBody>
      </p:sp>
      <p:sp>
        <p:nvSpPr>
          <p:cNvPr id="5" name="Text Placeholder 3">
            <a:extLst>
              <a:ext uri="{FF2B5EF4-FFF2-40B4-BE49-F238E27FC236}">
                <a16:creationId xmlns:a16="http://schemas.microsoft.com/office/drawing/2014/main" id="{3C163BB9-2F9F-6C2E-2CCD-09D2C2F8D3B1}"/>
              </a:ext>
            </a:extLst>
          </p:cNvPr>
          <p:cNvSpPr txBox="1">
            <a:spLocks/>
          </p:cNvSpPr>
          <p:nvPr/>
        </p:nvSpPr>
        <p:spPr>
          <a:xfrm>
            <a:off x="1263650" y="1520826"/>
            <a:ext cx="5187950" cy="3518297"/>
          </a:xfrm>
          <a:prstGeom prst="rect">
            <a:avLst/>
          </a:prstGeom>
        </p:spPr>
        <p:txBody>
          <a:bodyPr/>
          <a:lstStyle>
            <a:lvl1pPr marL="342900" indent="-342900" algn="l" defTabSz="342900" rtl="0" eaLnBrk="1" latinLnBrk="0" hangingPunct="1">
              <a:spcBef>
                <a:spcPct val="20000"/>
              </a:spcBef>
              <a:buFont typeface="Arial"/>
              <a:buChar char="•"/>
              <a:defRPr sz="2400" kern="1200">
                <a:solidFill>
                  <a:schemeClr val="tx1"/>
                </a:solidFill>
                <a:latin typeface="+mn-lt"/>
                <a:ea typeface="+mn-ea"/>
                <a:cs typeface="+mn-cs"/>
              </a:defRPr>
            </a:lvl1pPr>
            <a:lvl2pPr marL="685800" indent="-342900" algn="l" defTabSz="342900" rtl="0" eaLnBrk="1" latinLnBrk="0" hangingPunct="1">
              <a:spcBef>
                <a:spcPct val="20000"/>
              </a:spcBef>
              <a:buFont typeface="Arial"/>
              <a:buChar char="–"/>
              <a:defRPr sz="2100" kern="1200">
                <a:solidFill>
                  <a:schemeClr val="tx1"/>
                </a:solidFill>
                <a:latin typeface="+mn-lt"/>
                <a:ea typeface="+mn-ea"/>
                <a:cs typeface="+mn-cs"/>
              </a:defRPr>
            </a:lvl2pPr>
            <a:lvl3pPr marL="1028700" indent="-34290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371600" indent="-34290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714500" indent="-342900" algn="l" defTabSz="342900" rtl="0" eaLnBrk="1" latinLnBrk="0" hangingPunct="1">
              <a:spcBef>
                <a:spcPct val="20000"/>
              </a:spcBef>
              <a:buFont typeface="Arial"/>
              <a:buChar char="»"/>
              <a:defRPr sz="1500" kern="1200">
                <a:solidFill>
                  <a:schemeClr val="tx1"/>
                </a:solidFill>
                <a:latin typeface="+mn-lt"/>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spcBef>
                <a:spcPts val="3000"/>
              </a:spcBef>
              <a:buFont typeface="Arial"/>
              <a:buNone/>
            </a:pPr>
            <a:r>
              <a:rPr lang="nb-NO" i="1" dirty="0" err="1"/>
              <a:t>Computation</a:t>
            </a:r>
            <a:endParaRPr lang="nb-NO" i="1" dirty="0"/>
          </a:p>
        </p:txBody>
      </p:sp>
    </p:spTree>
    <p:extLst>
      <p:ext uri="{BB962C8B-B14F-4D97-AF65-F5344CB8AC3E}">
        <p14:creationId xmlns:p14="http://schemas.microsoft.com/office/powerpoint/2010/main" val="400448077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CF846B-5C41-8173-7520-322E77E01CDC}"/>
            </a:ext>
          </a:extLst>
        </p:cNvPr>
        <p:cNvGrpSpPr/>
        <p:nvPr/>
      </p:nvGrpSpPr>
      <p:grpSpPr>
        <a:xfrm>
          <a:off x="0" y="0"/>
          <a:ext cx="0" cy="0"/>
          <a:chOff x="0" y="0"/>
          <a:chExt cx="0" cy="0"/>
        </a:xfrm>
      </p:grpSpPr>
      <p:pic>
        <p:nvPicPr>
          <p:cNvPr id="4" name="Picture 3" descr="figs/paper_scenarios.png"/>
          <p:cNvPicPr>
            <a:picLocks noGrp="1" noChangeAspect="1"/>
          </p:cNvPicPr>
          <p:nvPr/>
        </p:nvPicPr>
        <p:blipFill>
          <a:blip r:embed="rId2"/>
          <a:stretch>
            <a:fillRect/>
          </a:stretch>
        </p:blipFill>
        <p:spPr bwMode="auto">
          <a:xfrm>
            <a:off x="1346200" y="2101850"/>
            <a:ext cx="5105400" cy="1917700"/>
          </a:xfrm>
          <a:prstGeom prst="rect">
            <a:avLst/>
          </a:prstGeom>
          <a:noFill/>
          <a:ln w="9525">
            <a:noFill/>
            <a:headEnd/>
            <a:tailEnd/>
          </a:ln>
        </p:spPr>
      </p:pic>
      <p:sp>
        <p:nvSpPr>
          <p:cNvPr id="2" name="Title 1">
            <a:extLst>
              <a:ext uri="{FF2B5EF4-FFF2-40B4-BE49-F238E27FC236}">
                <a16:creationId xmlns:a16="http://schemas.microsoft.com/office/drawing/2014/main" id="{D07F3B4A-41C8-24D5-8BAC-6D5F5361E216}"/>
              </a:ext>
            </a:extLst>
          </p:cNvPr>
          <p:cNvSpPr>
            <a:spLocks noGrp="1"/>
          </p:cNvSpPr>
          <p:nvPr>
            <p:ph type="title"/>
          </p:nvPr>
        </p:nvSpPr>
        <p:spPr>
          <a:xfrm>
            <a:off x="457200" y="205979"/>
            <a:ext cx="8229600" cy="857250"/>
          </a:xfrm>
        </p:spPr>
        <p:txBody>
          <a:bodyPr>
            <a:normAutofit/>
          </a:bodyPr>
          <a:lstStyle/>
          <a:p>
            <a:pPr marL="0" lvl="0" indent="0">
              <a:buNone/>
            </a:pPr>
            <a:r>
              <a:rPr lang="en-US" dirty="0"/>
              <a:t>Further information</a:t>
            </a:r>
            <a:endParaRPr dirty="0"/>
          </a:p>
        </p:txBody>
      </p:sp>
      <p:sp>
        <p:nvSpPr>
          <p:cNvPr id="5" name="Text Placeholder 3">
            <a:extLst>
              <a:ext uri="{FF2B5EF4-FFF2-40B4-BE49-F238E27FC236}">
                <a16:creationId xmlns:a16="http://schemas.microsoft.com/office/drawing/2014/main" id="{25D4C804-D93D-24DA-4BD9-2603B4D0C2B4}"/>
              </a:ext>
            </a:extLst>
          </p:cNvPr>
          <p:cNvSpPr txBox="1">
            <a:spLocks/>
          </p:cNvSpPr>
          <p:nvPr/>
        </p:nvSpPr>
        <p:spPr>
          <a:xfrm>
            <a:off x="1263650" y="1520826"/>
            <a:ext cx="5187950" cy="3518297"/>
          </a:xfrm>
          <a:prstGeom prst="rect">
            <a:avLst/>
          </a:prstGeom>
        </p:spPr>
        <p:txBody>
          <a:bodyPr/>
          <a:lstStyle>
            <a:lvl1pPr marL="342900" indent="-342900" algn="l" defTabSz="342900" rtl="0" eaLnBrk="1" latinLnBrk="0" hangingPunct="1">
              <a:spcBef>
                <a:spcPct val="20000"/>
              </a:spcBef>
              <a:buFont typeface="Arial"/>
              <a:buChar char="•"/>
              <a:defRPr sz="2400" kern="1200">
                <a:solidFill>
                  <a:schemeClr val="tx1"/>
                </a:solidFill>
                <a:latin typeface="+mn-lt"/>
                <a:ea typeface="+mn-ea"/>
                <a:cs typeface="+mn-cs"/>
              </a:defRPr>
            </a:lvl1pPr>
            <a:lvl2pPr marL="685800" indent="-342900" algn="l" defTabSz="342900" rtl="0" eaLnBrk="1" latinLnBrk="0" hangingPunct="1">
              <a:spcBef>
                <a:spcPct val="20000"/>
              </a:spcBef>
              <a:buFont typeface="Arial"/>
              <a:buChar char="–"/>
              <a:defRPr sz="2100" kern="1200">
                <a:solidFill>
                  <a:schemeClr val="tx1"/>
                </a:solidFill>
                <a:latin typeface="+mn-lt"/>
                <a:ea typeface="+mn-ea"/>
                <a:cs typeface="+mn-cs"/>
              </a:defRPr>
            </a:lvl2pPr>
            <a:lvl3pPr marL="1028700" indent="-34290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371600" indent="-34290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714500" indent="-342900" algn="l" defTabSz="342900" rtl="0" eaLnBrk="1" latinLnBrk="0" hangingPunct="1">
              <a:spcBef>
                <a:spcPct val="20000"/>
              </a:spcBef>
              <a:buFont typeface="Arial"/>
              <a:buChar char="»"/>
              <a:defRPr sz="1500" kern="1200">
                <a:solidFill>
                  <a:schemeClr val="tx1"/>
                </a:solidFill>
                <a:latin typeface="+mn-lt"/>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spcBef>
                <a:spcPts val="3000"/>
              </a:spcBef>
              <a:buFont typeface="Arial"/>
              <a:buNone/>
            </a:pPr>
            <a:r>
              <a:rPr lang="nb-NO" i="1" dirty="0"/>
              <a:t>Scenario </a:t>
            </a:r>
            <a:r>
              <a:rPr lang="nb-NO" i="1" dirty="0" err="1"/>
              <a:t>analysis</a:t>
            </a:r>
            <a:endParaRPr lang="nb-NO" i="1" dirty="0"/>
          </a:p>
        </p:txBody>
      </p:sp>
    </p:spTree>
    <p:extLst>
      <p:ext uri="{BB962C8B-B14F-4D97-AF65-F5344CB8AC3E}">
        <p14:creationId xmlns:p14="http://schemas.microsoft.com/office/powerpoint/2010/main" val="324889512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A8D57A-4A93-C6B4-3B2E-BEFD785E625E}"/>
            </a:ext>
          </a:extLst>
        </p:cNvPr>
        <p:cNvGrpSpPr/>
        <p:nvPr/>
      </p:nvGrpSpPr>
      <p:grpSpPr>
        <a:xfrm>
          <a:off x="0" y="0"/>
          <a:ext cx="0" cy="0"/>
          <a:chOff x="0" y="0"/>
          <a:chExt cx="0" cy="0"/>
        </a:xfrm>
      </p:grpSpPr>
      <p:pic>
        <p:nvPicPr>
          <p:cNvPr id="3" name="Picture 2" descr="figs/paper_sensitivity.PNG"/>
          <p:cNvPicPr>
            <a:picLocks noGrp="1" noChangeAspect="1"/>
          </p:cNvPicPr>
          <p:nvPr/>
        </p:nvPicPr>
        <p:blipFill>
          <a:blip r:embed="rId2"/>
          <a:stretch>
            <a:fillRect/>
          </a:stretch>
        </p:blipFill>
        <p:spPr bwMode="auto">
          <a:xfrm>
            <a:off x="1346200" y="2191147"/>
            <a:ext cx="5105400" cy="2286000"/>
          </a:xfrm>
          <a:prstGeom prst="rect">
            <a:avLst/>
          </a:prstGeom>
          <a:noFill/>
          <a:ln w="9525">
            <a:noFill/>
            <a:headEnd/>
            <a:tailEnd/>
          </a:ln>
        </p:spPr>
      </p:pic>
      <p:sp>
        <p:nvSpPr>
          <p:cNvPr id="2" name="Title 1">
            <a:extLst>
              <a:ext uri="{FF2B5EF4-FFF2-40B4-BE49-F238E27FC236}">
                <a16:creationId xmlns:a16="http://schemas.microsoft.com/office/drawing/2014/main" id="{707AB2C5-31A7-2F45-95B0-3C1F5E234155}"/>
              </a:ext>
            </a:extLst>
          </p:cNvPr>
          <p:cNvSpPr>
            <a:spLocks noGrp="1"/>
          </p:cNvSpPr>
          <p:nvPr>
            <p:ph type="title"/>
          </p:nvPr>
        </p:nvSpPr>
        <p:spPr>
          <a:xfrm>
            <a:off x="457200" y="205979"/>
            <a:ext cx="8229600" cy="857250"/>
          </a:xfrm>
        </p:spPr>
        <p:txBody>
          <a:bodyPr>
            <a:normAutofit/>
          </a:bodyPr>
          <a:lstStyle/>
          <a:p>
            <a:pPr marL="0" lvl="0" indent="0">
              <a:buNone/>
            </a:pPr>
            <a:r>
              <a:rPr lang="en-US" dirty="0"/>
              <a:t>Further information</a:t>
            </a:r>
            <a:endParaRPr dirty="0"/>
          </a:p>
        </p:txBody>
      </p:sp>
      <p:sp>
        <p:nvSpPr>
          <p:cNvPr id="5" name="Text Placeholder 3">
            <a:extLst>
              <a:ext uri="{FF2B5EF4-FFF2-40B4-BE49-F238E27FC236}">
                <a16:creationId xmlns:a16="http://schemas.microsoft.com/office/drawing/2014/main" id="{8CAD578E-08EB-7A6E-989F-7C2D741845B3}"/>
              </a:ext>
            </a:extLst>
          </p:cNvPr>
          <p:cNvSpPr txBox="1">
            <a:spLocks/>
          </p:cNvSpPr>
          <p:nvPr/>
        </p:nvSpPr>
        <p:spPr>
          <a:xfrm>
            <a:off x="1263650" y="1520826"/>
            <a:ext cx="5187950" cy="3518297"/>
          </a:xfrm>
          <a:prstGeom prst="rect">
            <a:avLst/>
          </a:prstGeom>
        </p:spPr>
        <p:txBody>
          <a:bodyPr/>
          <a:lstStyle>
            <a:lvl1pPr marL="342900" indent="-342900" algn="l" defTabSz="342900" rtl="0" eaLnBrk="1" latinLnBrk="0" hangingPunct="1">
              <a:spcBef>
                <a:spcPct val="20000"/>
              </a:spcBef>
              <a:buFont typeface="Arial"/>
              <a:buChar char="•"/>
              <a:defRPr sz="2400" kern="1200">
                <a:solidFill>
                  <a:schemeClr val="tx1"/>
                </a:solidFill>
                <a:latin typeface="+mn-lt"/>
                <a:ea typeface="+mn-ea"/>
                <a:cs typeface="+mn-cs"/>
              </a:defRPr>
            </a:lvl1pPr>
            <a:lvl2pPr marL="685800" indent="-342900" algn="l" defTabSz="342900" rtl="0" eaLnBrk="1" latinLnBrk="0" hangingPunct="1">
              <a:spcBef>
                <a:spcPct val="20000"/>
              </a:spcBef>
              <a:buFont typeface="Arial"/>
              <a:buChar char="–"/>
              <a:defRPr sz="2100" kern="1200">
                <a:solidFill>
                  <a:schemeClr val="tx1"/>
                </a:solidFill>
                <a:latin typeface="+mn-lt"/>
                <a:ea typeface="+mn-ea"/>
                <a:cs typeface="+mn-cs"/>
              </a:defRPr>
            </a:lvl2pPr>
            <a:lvl3pPr marL="1028700" indent="-34290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371600" indent="-34290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714500" indent="-342900" algn="l" defTabSz="342900" rtl="0" eaLnBrk="1" latinLnBrk="0" hangingPunct="1">
              <a:spcBef>
                <a:spcPct val="20000"/>
              </a:spcBef>
              <a:buFont typeface="Arial"/>
              <a:buChar char="»"/>
              <a:defRPr sz="1500" kern="1200">
                <a:solidFill>
                  <a:schemeClr val="tx1"/>
                </a:solidFill>
                <a:latin typeface="+mn-lt"/>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spcBef>
                <a:spcPts val="3000"/>
              </a:spcBef>
              <a:buFont typeface="Arial"/>
              <a:buNone/>
            </a:pPr>
            <a:r>
              <a:rPr lang="nb-NO" i="1" dirty="0" err="1"/>
              <a:t>Sensitivity</a:t>
            </a:r>
            <a:r>
              <a:rPr lang="nb-NO" i="1" dirty="0"/>
              <a:t> </a:t>
            </a:r>
            <a:r>
              <a:rPr lang="nb-NO" i="1" dirty="0" err="1"/>
              <a:t>analysis</a:t>
            </a:r>
            <a:endParaRPr lang="nb-NO" i="1" dirty="0"/>
          </a:p>
        </p:txBody>
      </p:sp>
    </p:spTree>
    <p:extLst>
      <p:ext uri="{BB962C8B-B14F-4D97-AF65-F5344CB8AC3E}">
        <p14:creationId xmlns:p14="http://schemas.microsoft.com/office/powerpoint/2010/main" val="172658393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2025649"/>
            <a:ext cx="4038600" cy="2568973"/>
          </a:xfrm>
        </p:spPr>
        <p:txBody>
          <a:bodyPr/>
          <a:lstStyle/>
          <a:p>
            <a:pPr marL="0" lvl="0" indent="0">
              <a:buNone/>
            </a:pPr>
            <a:r>
              <a:rPr dirty="0"/>
              <a:t>Thanks to</a:t>
            </a:r>
            <a:r>
              <a:rPr lang="nb-NO" dirty="0"/>
              <a:t>:</a:t>
            </a:r>
          </a:p>
          <a:p>
            <a:pPr marL="342900" lvl="1" indent="0">
              <a:buNone/>
            </a:pPr>
            <a:r>
              <a:rPr sz="2400" dirty="0"/>
              <a:t>I. Kivimäki, M. Saerens, </a:t>
            </a:r>
            <a:endParaRPr lang="nb-NO" sz="2400" dirty="0"/>
          </a:p>
          <a:p>
            <a:pPr marL="342900" lvl="1" indent="0">
              <a:buNone/>
            </a:pPr>
            <a:r>
              <a:rPr lang="nb-NO" sz="2400" dirty="0"/>
              <a:t>R. Schouten, </a:t>
            </a:r>
            <a:r>
              <a:rPr sz="2400" dirty="0"/>
              <a:t>A. Noack, </a:t>
            </a:r>
            <a:endParaRPr lang="nb-NO" sz="2400" dirty="0"/>
          </a:p>
          <a:p>
            <a:pPr marL="342900" lvl="1" indent="0">
              <a:buNone/>
            </a:pPr>
            <a:r>
              <a:rPr sz="2400" dirty="0"/>
              <a:t>V. Boussange, M. Panzacchi</a:t>
            </a:r>
          </a:p>
        </p:txBody>
      </p:sp>
      <p:pic>
        <p:nvPicPr>
          <p:cNvPr id="2" name="Picture 1" descr="figs/stickerConScape.png"/>
          <p:cNvPicPr>
            <a:picLocks noGrp="1" noChangeAspect="1"/>
          </p:cNvPicPr>
          <p:nvPr/>
        </p:nvPicPr>
        <p:blipFill>
          <a:blip r:embed="rId2"/>
          <a:stretch>
            <a:fillRect/>
          </a:stretch>
        </p:blipFill>
        <p:spPr bwMode="auto">
          <a:xfrm>
            <a:off x="6053666" y="394546"/>
            <a:ext cx="2933700" cy="3390900"/>
          </a:xfrm>
          <a:prstGeom prst="rect">
            <a:avLst/>
          </a:prstGeom>
          <a:noFill/>
          <a:ln w="9525">
            <a:noFill/>
            <a:headEnd/>
            <a:tailEnd/>
          </a:ln>
        </p:spPr>
      </p:pic>
      <p:sp>
        <p:nvSpPr>
          <p:cNvPr id="4" name="Title 1">
            <a:extLst>
              <a:ext uri="{FF2B5EF4-FFF2-40B4-BE49-F238E27FC236}">
                <a16:creationId xmlns:a16="http://schemas.microsoft.com/office/drawing/2014/main" id="{6CD89FBB-7478-B5B9-3AFD-335D42C79CEB}"/>
              </a:ext>
            </a:extLst>
          </p:cNvPr>
          <p:cNvSpPr>
            <a:spLocks noGrp="1"/>
          </p:cNvSpPr>
          <p:nvPr>
            <p:ph type="title"/>
          </p:nvPr>
        </p:nvSpPr>
        <p:spPr>
          <a:xfrm>
            <a:off x="457200" y="205979"/>
            <a:ext cx="8229600" cy="857250"/>
          </a:xfrm>
        </p:spPr>
        <p:txBody>
          <a:bodyPr>
            <a:normAutofit/>
          </a:bodyPr>
          <a:lstStyle/>
          <a:p>
            <a:pPr marL="0" lvl="0" indent="0">
              <a:buNone/>
            </a:pPr>
            <a:r>
              <a:rPr lang="en-US" dirty="0"/>
              <a:t>https://conscape.org/</a:t>
            </a:r>
            <a:endParaRPr dirty="0"/>
          </a:p>
        </p:txBody>
      </p:sp>
      <p:pic>
        <p:nvPicPr>
          <p:cNvPr id="6" name="Picture 5" descr="A purple and yellow lightning&#10;&#10;Description automatically generated">
            <a:extLst>
              <a:ext uri="{FF2B5EF4-FFF2-40B4-BE49-F238E27FC236}">
                <a16:creationId xmlns:a16="http://schemas.microsoft.com/office/drawing/2014/main" id="{2BB732D0-6BE8-AEA5-4C16-92C6FF537AE5}"/>
              </a:ext>
            </a:extLst>
          </p:cNvPr>
          <p:cNvPicPr>
            <a:picLocks noChangeAspect="1"/>
          </p:cNvPicPr>
          <p:nvPr/>
        </p:nvPicPr>
        <p:blipFill>
          <a:blip r:embed="rId3"/>
          <a:stretch>
            <a:fillRect/>
          </a:stretch>
        </p:blipFill>
        <p:spPr>
          <a:xfrm>
            <a:off x="5453074" y="3176693"/>
            <a:ext cx="1645380" cy="190584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121</TotalTime>
  <Words>2845</Words>
  <Application>Microsoft Office PowerPoint</Application>
  <PresentationFormat>On-screen Show (16:9)</PresentationFormat>
  <Paragraphs>242</Paragraphs>
  <Slides>63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63</vt:i4>
      </vt:variant>
    </vt:vector>
  </HeadingPairs>
  <TitlesOfParts>
    <vt:vector size="69" baseType="lpstr">
      <vt:lpstr>Arial</vt:lpstr>
      <vt:lpstr>Calibri</vt:lpstr>
      <vt:lpstr>Calibri Light</vt:lpstr>
      <vt:lpstr>Courier</vt:lpstr>
      <vt:lpstr>MV Boli</vt:lpstr>
      <vt:lpstr>Office Theme</vt:lpstr>
      <vt:lpstr>Landscape Connectivity Modelling  with ConScape</vt:lpstr>
      <vt:lpstr>Motivation &amp; Origin</vt:lpstr>
      <vt:lpstr>PowerPoint Presentation</vt:lpstr>
      <vt:lpstr>PowerPoint Presentation</vt:lpstr>
      <vt:lpstr>PowerPoint Presentation</vt:lpstr>
      <vt:lpstr>PowerPoint Presentation</vt:lpstr>
      <vt:lpstr>PowerPoint Presentation</vt:lpstr>
      <vt:lpstr>Why ConScape?</vt:lpstr>
      <vt:lpstr>Why ConScape?</vt:lpstr>
      <vt:lpstr>Why Julia?</vt:lpstr>
      <vt:lpstr>Key concepts</vt:lpstr>
      <vt:lpstr>The landscape as a network</vt:lpstr>
      <vt:lpstr>Continous landscapes</vt:lpstr>
      <vt:lpstr>PowerPoint Presentation</vt:lpstr>
      <vt:lpstr>PowerPoint Presentation</vt:lpstr>
      <vt:lpstr>PowerPoint Presentation</vt:lpstr>
      <vt:lpstr>PowerPoint Presentation</vt:lpstr>
      <vt:lpstr>In summary</vt:lpstr>
      <vt:lpstr>In summary</vt:lpstr>
      <vt:lpstr>In summary</vt:lpstr>
      <vt:lpstr>Demonstration</vt:lpstr>
      <vt:lpstr>PowerPoint Presentation</vt:lpstr>
      <vt:lpstr>First: habitat quality and permeability</vt:lpstr>
      <vt:lpstr>PowerPoint Presentation</vt:lpstr>
      <vt:lpstr>PowerPoint Presentation</vt:lpstr>
      <vt:lpstr>PowerPoint Presentation</vt:lpstr>
      <vt:lpstr>PowerPoint Presentation</vt:lpstr>
      <vt:lpstr>PowerPoint Presentation</vt:lpstr>
      <vt:lpstr>PowerPoint Presentation</vt:lpstr>
      <vt:lpstr>Second: determine path parameters</vt:lpstr>
      <vt:lpstr>The effect of path randomness – theta</vt:lpstr>
      <vt:lpstr>The effect of path randomness – theta</vt:lpstr>
      <vt:lpstr>The effect of path randomness – theta</vt:lpstr>
      <vt:lpstr>The effect of path randomness – theta</vt:lpstr>
      <vt:lpstr>The effect of path randomness – theta</vt:lpstr>
      <vt:lpstr>The effect of path randomness – theta</vt:lpstr>
      <vt:lpstr>The effect of distance decay – alpha</vt:lpstr>
      <vt:lpstr>The effect of distance decay – alpha</vt:lpstr>
      <vt:lpstr>PowerPoint Presentation</vt:lpstr>
      <vt:lpstr>The effect of distance decay – alpha</vt:lpstr>
      <vt:lpstr>The effect of distance decay – alpha</vt:lpstr>
      <vt:lpstr>PowerPoint Presentation</vt:lpstr>
      <vt:lpstr>PowerPoint Presentation</vt:lpstr>
      <vt:lpstr>Third: compute graph measures</vt:lpstr>
      <vt:lpstr>Third: compute graph measures</vt:lpstr>
      <vt:lpstr>Third: compute graph measures</vt:lpstr>
      <vt:lpstr>Compute functional habitat</vt:lpstr>
      <vt:lpstr>Compute functional habitat</vt:lpstr>
      <vt:lpstr>Compute functional habitat</vt:lpstr>
      <vt:lpstr>PowerPoint Presentation</vt:lpstr>
      <vt:lpstr>Compute movement flow or corridors</vt:lpstr>
      <vt:lpstr>Compute movement flow or corridors</vt:lpstr>
      <vt:lpstr>Compute movement flow or corridors</vt:lpstr>
      <vt:lpstr>PowerPoint Presentation</vt:lpstr>
      <vt:lpstr>Compute movement flow or corridors</vt:lpstr>
      <vt:lpstr>PowerPoint Presentation</vt:lpstr>
      <vt:lpstr>Compute landscape functional habitat</vt:lpstr>
      <vt:lpstr>Further information</vt:lpstr>
      <vt:lpstr>Further information</vt:lpstr>
      <vt:lpstr>Further information</vt:lpstr>
      <vt:lpstr>Further information</vt:lpstr>
      <vt:lpstr>Further information</vt:lpstr>
      <vt:lpstr>https://conscape.org/</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Landscape Connectivity Modelling with ConScape</dc:title>
  <dc:creator>Bram Van Moorter; Raf Schouten</dc:creator>
  <cp:keywords/>
  <cp:lastModifiedBy>Bram Van Moorter</cp:lastModifiedBy>
  <cp:revision>11</cp:revision>
  <dcterms:created xsi:type="dcterms:W3CDTF">2025-02-10T18:29:38Z</dcterms:created>
  <dcterms:modified xsi:type="dcterms:W3CDTF">2025-02-11T19:15:26Z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header-includes">
    <vt:lpwstr/>
  </property>
  <property fmtid="{D5CDD505-2E9C-101B-9397-08002B2CF9AE}" pid="6" name="include-after">
    <vt:lpwstr/>
  </property>
  <property fmtid="{D5CDD505-2E9C-101B-9397-08002B2CF9AE}" pid="7" name="include-before">
    <vt:lpwstr/>
  </property>
  <property fmtid="{D5CDD505-2E9C-101B-9397-08002B2CF9AE}" pid="8" name="labels">
    <vt:lpwstr/>
  </property>
  <property fmtid="{D5CDD505-2E9C-101B-9397-08002B2CF9AE}" pid="9" name="toc-title">
    <vt:lpwstr>Table of contents</vt:lpwstr>
  </property>
</Properties>
</file>